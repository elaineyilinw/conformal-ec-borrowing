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58368" y="658368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correction: avoid “PS filtering” in our internal-control estimand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75720" y="25603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4EA2"/>
                </a:solidFill>
              </a:rPr>
              <a:t>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49808" y="132588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</a:rPr>
              <a:t>Our estimand is the internal/RCT-population control mean; external controls are borrowed only to improve precision.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874520" y="1773936"/>
            <a:ext cx="8412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2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μ₀,R = E{Y(0) | S = R};     τR = E{Y(1) − Y(0) | S = R}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658368" y="2194560"/>
            <a:ext cx="3337560" cy="3703320"/>
          </a:xfrm>
          <a:prstGeom prst="roundRect">
            <a:avLst>
              <a:gd name="adj" fmla="val 2192"/>
            </a:avLst>
          </a:prstGeom>
          <a:solidFill>
            <a:srgbClr val="F7F7F7"/>
          </a:solidFill>
          <a:ln w="12700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4672" y="2359152"/>
            <a:ext cx="3054096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Where PS trimming comes from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841248" y="2807208"/>
            <a:ext cx="2980944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classic treatment-propensity-score setting, e(X)=P(A=1|X). Trimming units with e(X) near 0 or 1 creates a population where treated and control outcomes are both supported.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e(X): few treated. Large e(X): few controls. Either side can inflate variance or require extrapolation.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343400" y="2194560"/>
            <a:ext cx="3337560" cy="3703320"/>
          </a:xfrm>
          <a:prstGeom prst="roundRect">
            <a:avLst>
              <a:gd name="adj" fmla="val 2192"/>
            </a:avLst>
          </a:prstGeom>
          <a:solidFill>
            <a:srgbClr val="EEF5FF"/>
          </a:solidFill>
          <a:ln w="12700">
            <a:solidFill>
              <a:srgbClr val="B6D1F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489704" y="2359152"/>
            <a:ext cx="3054096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PS matching most often implies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4526280" y="2807208"/>
            <a:ext cx="2980944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matching means matching subjects on estimated propensity scores; unmatched subjects are then excluded from the matched analysis.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filtering can occur as a consequence of matching, but matching/weighting is the main covariate-adjustment idea.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8028432" y="2194560"/>
            <a:ext cx="3337560" cy="3703320"/>
          </a:xfrm>
          <a:prstGeom prst="roundRect">
            <a:avLst>
              <a:gd name="adj" fmla="val 2192"/>
            </a:avLst>
          </a:prstGeom>
          <a:solidFill>
            <a:srgbClr val="F1FAF2"/>
          </a:solidFill>
          <a:ln w="12700">
            <a:solidFill>
              <a:srgbClr val="B5DDB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174736" y="2359152"/>
            <a:ext cx="3054096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F8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our setup actually needs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8211312" y="2807208"/>
            <a:ext cx="2980944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internal-control target, the relevant support condition is one-way: supp(XR) ⊆ supp(XE).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External-only regions get near-zero weight or remain unmatched, which is not a problem.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RCT profiles lack external support, do not trim RCT subjects; borrowing simply fails there, otherwise the internal-control estimand changes.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1417320" y="6089904"/>
            <a:ext cx="9372600" cy="310896"/>
          </a:xfrm>
          <a:prstGeom prst="roundRect">
            <a:avLst>
              <a:gd name="adj" fmla="val 20588"/>
            </a:avLst>
          </a:prstGeom>
          <a:solidFill>
            <a:srgbClr val="FCECEC"/>
          </a:solidFill>
          <a:ln w="12700">
            <a:solidFill>
              <a:srgbClr val="FCECE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45920" y="6153912"/>
            <a:ext cx="89154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B51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Correction: the benchmark should be baseline-X matching/weighting, not PS filtering.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658368" y="6565392"/>
            <a:ext cx="10881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777777"/>
                </a:solidFill>
              </a:rPr>
              <a:t>Private note for mentor discussion: symmetric PS trimming belongs to a different estimand unless explicitly redefining the target population.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58368" y="658368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formal slide: baseline-covariate adjustment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75720" y="25603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4EA2"/>
                </a:solidFill>
              </a:rPr>
              <a:t>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</a:rPr>
              <a:t>Replace “Propensity-score based filtering” with: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1810512"/>
            <a:ext cx="5440680" cy="438912"/>
          </a:xfrm>
          <a:prstGeom prst="roundRect">
            <a:avLst>
              <a:gd name="adj" fmla="val 16667"/>
            </a:avLst>
          </a:prstGeom>
          <a:solidFill>
            <a:srgbClr val="D9EAFB"/>
          </a:solidFill>
          <a:ln w="12700">
            <a:solidFill>
              <a:srgbClr val="D9EAF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920240"/>
            <a:ext cx="510235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Propensity-score-based baseline covariate adjustment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27889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➢  </a:t>
            </a:r>
            <a:pPr indent="0" marL="0">
              <a:buNone/>
            </a:pPr>
            <a:r>
              <a:rPr lang="en-US" sz="16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matching/weighting aligns external controls to the internal/RCT population on measured baseline covariates X.</a:t>
            </a:r>
            <a:endParaRPr lang="en-US" sz="1630" dirty="0"/>
          </a:p>
        </p:txBody>
      </p:sp>
      <p:sp>
        <p:nvSpPr>
          <p:cNvPr id="11" name="Text 9"/>
          <p:cNvSpPr/>
          <p:nvPr/>
        </p:nvSpPr>
        <p:spPr>
          <a:xfrm>
            <a:off x="804672" y="34930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➢  </a:t>
            </a:r>
            <a:pPr indent="0" marL="0">
              <a:buNone/>
            </a:pPr>
            <a:r>
              <a:rPr lang="en-US" sz="16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supports covariate balance for borrowing; trimming is only an optional practical step when empirical overlap is poor or weights are extreme.</a:t>
            </a:r>
            <a:endParaRPr lang="en-US" sz="1630" dirty="0"/>
          </a:p>
        </p:txBody>
      </p:sp>
      <p:sp>
        <p:nvSpPr>
          <p:cNvPr id="12" name="Text 10"/>
          <p:cNvSpPr/>
          <p:nvPr/>
        </p:nvSpPr>
        <p:spPr>
          <a:xfrm>
            <a:off x="804672" y="435254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➢  </a:t>
            </a:r>
            <a:pPr indent="0" marL="0">
              <a:buNone/>
            </a:pPr>
            <a:r>
              <a:rPr lang="en-US" sz="16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X adjustment does not assess whether the conditional control-outcome process is compatible across sources.</a:t>
            </a:r>
            <a:endParaRPr lang="en-US" sz="1630" dirty="0"/>
          </a:p>
        </p:txBody>
      </p:sp>
      <p:sp>
        <p:nvSpPr>
          <p:cNvPr id="13" name="Text 11"/>
          <p:cNvSpPr/>
          <p:nvPr/>
        </p:nvSpPr>
        <p:spPr>
          <a:xfrm>
            <a:off x="804672" y="504748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➢  </a:t>
            </a:r>
            <a:pPr indent="0" marL="0">
              <a:buNone/>
            </a:pPr>
            <a:r>
              <a:rPr lang="en-US" sz="16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Baseline-only methods do not directly use longitudinal outcomes to evaluate compatibility.</a:t>
            </a:r>
            <a:endParaRPr lang="en-US" sz="1630" dirty="0"/>
          </a:p>
        </p:txBody>
      </p:sp>
      <p:sp>
        <p:nvSpPr>
          <p:cNvPr id="14" name="Shape 12"/>
          <p:cNvSpPr/>
          <p:nvPr/>
        </p:nvSpPr>
        <p:spPr>
          <a:xfrm>
            <a:off x="1097280" y="5833872"/>
            <a:ext cx="9966960" cy="438912"/>
          </a:xfrm>
          <a:prstGeom prst="roundRect">
            <a:avLst>
              <a:gd name="adj" fmla="val 16667"/>
            </a:avLst>
          </a:prstGeom>
          <a:solidFill>
            <a:srgbClr val="F1FAF2"/>
          </a:solidFill>
          <a:ln w="12700">
            <a:solidFill>
              <a:srgbClr val="F1FA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98448" y="5943600"/>
            <a:ext cx="95554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message: X-balance is useful but not sufficient for longitudinal outcome-process compatibility.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6565392"/>
            <a:ext cx="10881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777777"/>
                </a:solidFill>
              </a:rPr>
              <a:t>This revision keeps the original scientific contrast but removes the misleading implication that PS filtering is the standard step.</a:t>
            </a:r>
            <a:endParaRPr lang="en-US" sz="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58368" y="658368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illustration option A: weighting, not keep/drop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75720" y="25603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4EA2"/>
                </a:solidFill>
              </a:rPr>
              <a:t>3A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4251960" cy="329184"/>
          </a:xfrm>
          <a:prstGeom prst="roundRect">
            <a:avLst>
              <a:gd name="adj" fmla="val 22222"/>
            </a:avLst>
          </a:prstGeom>
          <a:solidFill>
            <a:srgbClr val="D9EAFB"/>
          </a:solidFill>
          <a:ln w="12700">
            <a:solidFill>
              <a:srgbClr val="D9EAF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86384" y="1408176"/>
            <a:ext cx="41422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Baseline X alignment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1371600"/>
            <a:ext cx="3840480" cy="329184"/>
          </a:xfrm>
          <a:prstGeom prst="roundRect">
            <a:avLst>
              <a:gd name="adj" fmla="val 22222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58584" y="1408176"/>
            <a:ext cx="373075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8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Longitudinal Y compatibility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06640" y="2304288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01000" y="2304288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2304288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89720" y="2304288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88352" y="2633472"/>
            <a:ext cx="475488" cy="347472"/>
          </a:xfrm>
          <a:prstGeom prst="chevron">
            <a:avLst/>
          </a:prstGeom>
          <a:solidFill>
            <a:srgbClr val="073D8B"/>
          </a:solidFill>
          <a:ln w="5080">
            <a:solidFill>
              <a:srgbClr val="073D8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946136" y="2633472"/>
            <a:ext cx="475488" cy="347472"/>
          </a:xfrm>
          <a:prstGeom prst="chevron">
            <a:avLst/>
          </a:prstGeom>
          <a:solidFill>
            <a:srgbClr val="073D8B"/>
          </a:solidFill>
          <a:ln w="5080">
            <a:solidFill>
              <a:srgbClr val="073D8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503920" y="2633472"/>
            <a:ext cx="475488" cy="347472"/>
          </a:xfrm>
          <a:prstGeom prst="chevron">
            <a:avLst/>
          </a:prstGeom>
          <a:solidFill>
            <a:srgbClr val="073D8B"/>
          </a:solidFill>
          <a:ln w="5080">
            <a:solidFill>
              <a:srgbClr val="073D8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061704" y="2633472"/>
            <a:ext cx="475488" cy="347472"/>
          </a:xfrm>
          <a:prstGeom prst="chevron">
            <a:avLst/>
          </a:prstGeom>
          <a:solidFill>
            <a:srgbClr val="073D8B"/>
          </a:solidFill>
          <a:ln w="5080">
            <a:solidFill>
              <a:srgbClr val="073D8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747504" y="2715768"/>
            <a:ext cx="9144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control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388352" y="3374136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946136" y="3374136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503920" y="3374136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061704" y="3374136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747504" y="3456432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</a:t>
            </a:r>
            <a:pPr algn="l" indent="0" marL="0">
              <a:buNone/>
            </a:pPr>
            <a:r>
              <a:rPr lang="en-US" sz="950" b="1" dirty="0">
                <a:solidFill>
                  <a:srgbClr val="2F8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✓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88352" y="4114800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946136" y="4114800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503920" y="4114800"/>
            <a:ext cx="475488" cy="347472"/>
          </a:xfrm>
          <a:prstGeom prst="chevron">
            <a:avLst/>
          </a:prstGeom>
          <a:solidFill>
            <a:srgbClr val="B51E23"/>
          </a:solidFill>
          <a:ln w="5080">
            <a:solidFill>
              <a:srgbClr val="B51E23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061704" y="4114800"/>
            <a:ext cx="475488" cy="347472"/>
          </a:xfrm>
          <a:prstGeom prst="chevron">
            <a:avLst/>
          </a:prstGeom>
          <a:solidFill>
            <a:srgbClr val="B51E23"/>
          </a:solidFill>
          <a:ln w="5080">
            <a:solidFill>
              <a:srgbClr val="B51E2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747504" y="4197096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</a:t>
            </a:r>
            <a:pPr algn="l" indent="0" marL="0">
              <a:buNone/>
            </a:pPr>
            <a:r>
              <a:rPr lang="en-US" sz="950" b="1" dirty="0">
                <a:solidFill>
                  <a:srgbClr val="B51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✗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70064" y="4791456"/>
            <a:ext cx="33101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Y over the 4 visits: keep the compatible course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713232" y="2029968"/>
            <a:ext cx="1645920" cy="3273552"/>
          </a:xfrm>
          <a:prstGeom prst="roundRect">
            <a:avLst>
              <a:gd name="adj" fmla="val 3333"/>
            </a:avLst>
          </a:prstGeom>
          <a:solidFill>
            <a:srgbClr val="F7F7F7"/>
          </a:solidFill>
          <a:ln w="12700">
            <a:solidFill>
              <a:srgbClr val="D5D5D5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77824" y="2212848"/>
            <a:ext cx="130759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controls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adjustment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960120" y="2862072"/>
            <a:ext cx="146304" cy="146304"/>
          </a:xfrm>
          <a:prstGeom prst="ellipse">
            <a:avLst/>
          </a:prstGeom>
          <a:solidFill>
            <a:srgbClr val="D1D5DB"/>
          </a:solidFill>
          <a:ln w="762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371600" y="2761488"/>
            <a:ext cx="182880" cy="182880"/>
          </a:xfrm>
          <a:prstGeom prst="ellipse">
            <a:avLst/>
          </a:prstGeom>
          <a:solidFill>
            <a:srgbClr val="9CA3AF"/>
          </a:solidFill>
          <a:ln w="7620">
            <a:solidFill>
              <a:srgbClr val="9CA3AF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856232" y="2971800"/>
            <a:ext cx="164592" cy="164592"/>
          </a:xfrm>
          <a:prstGeom prst="ellipse">
            <a:avLst/>
          </a:prstGeom>
          <a:solidFill>
            <a:srgbClr val="D1D5DB"/>
          </a:solidFill>
          <a:ln w="762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7280" y="3419856"/>
            <a:ext cx="155448" cy="155448"/>
          </a:xfrm>
          <a:prstGeom prst="ellipse">
            <a:avLst/>
          </a:prstGeom>
          <a:solidFill>
            <a:srgbClr val="9CA3AF"/>
          </a:solidFill>
          <a:ln w="7620">
            <a:solidFill>
              <a:srgbClr val="9CA3A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618488" y="3520440"/>
            <a:ext cx="182880" cy="182880"/>
          </a:xfrm>
          <a:prstGeom prst="ellipse">
            <a:avLst/>
          </a:prstGeom>
          <a:solidFill>
            <a:srgbClr val="D1D5DB"/>
          </a:solidFill>
          <a:ln w="762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048256" y="3730752"/>
            <a:ext cx="137160" cy="137160"/>
          </a:xfrm>
          <a:prstGeom prst="ellipse">
            <a:avLst/>
          </a:prstGeom>
          <a:solidFill>
            <a:srgbClr val="9CA3AF"/>
          </a:solidFill>
          <a:ln w="7620">
            <a:solidFill>
              <a:srgbClr val="9CA3AF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261872" y="4114800"/>
            <a:ext cx="128016" cy="128016"/>
          </a:xfrm>
          <a:prstGeom prst="ellipse">
            <a:avLst/>
          </a:prstGeom>
          <a:solidFill>
            <a:srgbClr val="D1D5DB"/>
          </a:solidFill>
          <a:ln w="762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737360" y="4224528"/>
            <a:ext cx="155448" cy="155448"/>
          </a:xfrm>
          <a:prstGeom prst="ellipse">
            <a:avLst/>
          </a:prstGeom>
          <a:solidFill>
            <a:srgbClr val="9CA3AF"/>
          </a:solidFill>
          <a:ln w="7620">
            <a:solidFill>
              <a:srgbClr val="9CA3AF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60120" y="4572000"/>
            <a:ext cx="182880" cy="182880"/>
          </a:xfrm>
          <a:prstGeom prst="ellipse">
            <a:avLst/>
          </a:prstGeom>
          <a:solidFill>
            <a:srgbClr val="D1D5DB"/>
          </a:solidFill>
          <a:ln w="762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2029968" y="4681728"/>
            <a:ext cx="155448" cy="155448"/>
          </a:xfrm>
          <a:prstGeom prst="ellipse">
            <a:avLst/>
          </a:prstGeom>
          <a:solidFill>
            <a:srgbClr val="9CA3AF"/>
          </a:solidFill>
          <a:ln w="7620">
            <a:solidFill>
              <a:srgbClr val="9CA3AF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2596896" y="3639312"/>
            <a:ext cx="676656" cy="0"/>
          </a:xfrm>
          <a:prstGeom prst="line">
            <a:avLst/>
          </a:prstGeom>
          <a:noFill/>
          <a:ln w="17780">
            <a:solidFill>
              <a:srgbClr val="0B4EA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3429000" y="2267712"/>
            <a:ext cx="1261872" cy="279806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970">
            <a:solidFill>
              <a:srgbClr val="0B4EA2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602736" y="2651760"/>
            <a:ext cx="91440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PS</a:t>
            </a:r>
            <a:endParaRPr lang="en-US" sz="1060" dirty="0"/>
          </a:p>
        </p:txBody>
      </p:sp>
      <p:sp>
        <p:nvSpPr>
          <p:cNvPr id="46" name="Text 44"/>
          <p:cNvSpPr/>
          <p:nvPr/>
        </p:nvSpPr>
        <p:spPr>
          <a:xfrm>
            <a:off x="3511296" y="3474720"/>
            <a:ext cx="1078992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assign</a:t>
            </a:r>
            <a:endParaRPr lang="en-US" sz="1010" dirty="0"/>
          </a:p>
          <a:p>
            <a:pPr algn="ctr" indent="0" marL="0">
              <a:buNone/>
            </a:pPr>
            <a:r>
              <a:rPr lang="en-US" sz="101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larger/smaller</a:t>
            </a:r>
            <a:endParaRPr lang="en-US" sz="1010" dirty="0"/>
          </a:p>
          <a:p>
            <a:pPr algn="ctr" indent="0" marL="0">
              <a:buNone/>
            </a:pPr>
            <a:r>
              <a:rPr lang="en-US" sz="101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010" dirty="0"/>
          </a:p>
        </p:txBody>
      </p:sp>
      <p:sp>
        <p:nvSpPr>
          <p:cNvPr id="47" name="Shape 45"/>
          <p:cNvSpPr/>
          <p:nvPr/>
        </p:nvSpPr>
        <p:spPr>
          <a:xfrm>
            <a:off x="4864608" y="3639312"/>
            <a:ext cx="603504" cy="0"/>
          </a:xfrm>
          <a:prstGeom prst="line">
            <a:avLst/>
          </a:prstGeom>
          <a:noFill/>
          <a:ln w="17780">
            <a:solidFill>
              <a:srgbClr val="0B4EA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5623560" y="2029968"/>
            <a:ext cx="1143000" cy="3273552"/>
          </a:xfrm>
          <a:prstGeom prst="roundRect">
            <a:avLst>
              <a:gd name="adj" fmla="val 4800"/>
            </a:avLst>
          </a:prstGeom>
          <a:solidFill>
            <a:srgbClr val="F1F8FF"/>
          </a:solidFill>
          <a:ln w="12700">
            <a:solidFill>
              <a:srgbClr val="B6D1F3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715000" y="2231136"/>
            <a:ext cx="9601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controls</a:t>
            </a:r>
            <a:endParaRPr lang="en-US" sz="1030" dirty="0"/>
          </a:p>
        </p:txBody>
      </p:sp>
      <p:sp>
        <p:nvSpPr>
          <p:cNvPr id="50" name="Shape 48"/>
          <p:cNvSpPr/>
          <p:nvPr/>
        </p:nvSpPr>
        <p:spPr>
          <a:xfrm>
            <a:off x="5879592" y="3063240"/>
            <a:ext cx="310896" cy="310896"/>
          </a:xfrm>
          <a:prstGeom prst="ellipse">
            <a:avLst/>
          </a:prstGeom>
          <a:solidFill>
            <a:srgbClr val="2FA8E1"/>
          </a:solidFill>
          <a:ln w="762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6345936" y="3246120"/>
            <a:ext cx="219456" cy="219456"/>
          </a:xfrm>
          <a:prstGeom prst="ellipse">
            <a:avLst/>
          </a:prstGeom>
          <a:solidFill>
            <a:srgbClr val="2FA8E1"/>
          </a:solidFill>
          <a:ln w="762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5989320" y="3886200"/>
            <a:ext cx="182880" cy="182880"/>
          </a:xfrm>
          <a:prstGeom prst="ellipse">
            <a:avLst/>
          </a:prstGeom>
          <a:solidFill>
            <a:srgbClr val="2FA8E1"/>
          </a:solidFill>
          <a:ln w="762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6382512" y="4343400"/>
            <a:ext cx="91440" cy="91440"/>
          </a:xfrm>
          <a:prstGeom prst="ellipse">
            <a:avLst/>
          </a:prstGeom>
          <a:solidFill>
            <a:srgbClr val="CBD5E1"/>
          </a:solidFill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760720" y="4818888"/>
            <a:ext cx="868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approximates</a:t>
            </a:r>
            <a:endParaRPr lang="en-US" sz="880" dirty="0"/>
          </a:p>
          <a:p>
            <a:pPr algn="ctr" indent="0" marL="0">
              <a:buNone/>
            </a:pPr>
            <a:r>
              <a:rPr lang="en-US" sz="88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RCT X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1097280" y="5852160"/>
            <a:ext cx="9966960" cy="393192"/>
          </a:xfrm>
          <a:prstGeom prst="roundRect">
            <a:avLst>
              <a:gd name="adj" fmla="val 18605"/>
            </a:avLst>
          </a:prstGeom>
          <a:solidFill>
            <a:srgbClr val="FFF8D6"/>
          </a:solidFill>
          <a:ln w="12700">
            <a:solidFill>
              <a:srgbClr val="FFF8D6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1325880" y="5961888"/>
            <a:ext cx="95097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 message: PS adjusts baseline-X distribution; it is not inherently a binary filter.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58368" y="6565392"/>
            <a:ext cx="10881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777777"/>
                </a:solidFill>
              </a:rPr>
              <a:t>Part 2 is intentionally kept identical to the original photo: four visits, keep row, and drop row with two blue + two red visits.</a:t>
            </a:r>
            <a:endParaRPr lang="en-US" sz="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58368" y="658368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illustration option B: matching 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75720" y="25603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4EA2"/>
                </a:solidFill>
              </a:rPr>
              <a:t>3B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4251960" cy="329184"/>
          </a:xfrm>
          <a:prstGeom prst="roundRect">
            <a:avLst>
              <a:gd name="adj" fmla="val 22222"/>
            </a:avLst>
          </a:prstGeom>
          <a:solidFill>
            <a:srgbClr val="D9EAFB"/>
          </a:solidFill>
          <a:ln w="12700">
            <a:solidFill>
              <a:srgbClr val="D9EAF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86384" y="1408176"/>
            <a:ext cx="41422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Baseline X matching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1371600"/>
            <a:ext cx="3840480" cy="329184"/>
          </a:xfrm>
          <a:prstGeom prst="roundRect">
            <a:avLst>
              <a:gd name="adj" fmla="val 22222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58584" y="1408176"/>
            <a:ext cx="373075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8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Longitudinal Y compatibility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06640" y="2304288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01000" y="2304288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2304288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89720" y="2304288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88352" y="2633472"/>
            <a:ext cx="475488" cy="347472"/>
          </a:xfrm>
          <a:prstGeom prst="chevron">
            <a:avLst/>
          </a:prstGeom>
          <a:solidFill>
            <a:srgbClr val="073D8B"/>
          </a:solidFill>
          <a:ln w="5080">
            <a:solidFill>
              <a:srgbClr val="073D8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946136" y="2633472"/>
            <a:ext cx="475488" cy="347472"/>
          </a:xfrm>
          <a:prstGeom prst="chevron">
            <a:avLst/>
          </a:prstGeom>
          <a:solidFill>
            <a:srgbClr val="073D8B"/>
          </a:solidFill>
          <a:ln w="5080">
            <a:solidFill>
              <a:srgbClr val="073D8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503920" y="2633472"/>
            <a:ext cx="475488" cy="347472"/>
          </a:xfrm>
          <a:prstGeom prst="chevron">
            <a:avLst/>
          </a:prstGeom>
          <a:solidFill>
            <a:srgbClr val="073D8B"/>
          </a:solidFill>
          <a:ln w="5080">
            <a:solidFill>
              <a:srgbClr val="073D8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061704" y="2633472"/>
            <a:ext cx="475488" cy="347472"/>
          </a:xfrm>
          <a:prstGeom prst="chevron">
            <a:avLst/>
          </a:prstGeom>
          <a:solidFill>
            <a:srgbClr val="073D8B"/>
          </a:solidFill>
          <a:ln w="5080">
            <a:solidFill>
              <a:srgbClr val="073D8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747504" y="2715768"/>
            <a:ext cx="9144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control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388352" y="3374136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946136" y="3374136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503920" y="3374136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061704" y="3374136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747504" y="3456432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</a:t>
            </a:r>
            <a:pPr algn="l" indent="0" marL="0">
              <a:buNone/>
            </a:pPr>
            <a:r>
              <a:rPr lang="en-US" sz="950" b="1" dirty="0">
                <a:solidFill>
                  <a:srgbClr val="2F8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✓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88352" y="4114800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946136" y="4114800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503920" y="4114800"/>
            <a:ext cx="475488" cy="347472"/>
          </a:xfrm>
          <a:prstGeom prst="chevron">
            <a:avLst/>
          </a:prstGeom>
          <a:solidFill>
            <a:srgbClr val="B51E23"/>
          </a:solidFill>
          <a:ln w="5080">
            <a:solidFill>
              <a:srgbClr val="B51E23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061704" y="4114800"/>
            <a:ext cx="475488" cy="347472"/>
          </a:xfrm>
          <a:prstGeom prst="chevron">
            <a:avLst/>
          </a:prstGeom>
          <a:solidFill>
            <a:srgbClr val="B51E23"/>
          </a:solidFill>
          <a:ln w="5080">
            <a:solidFill>
              <a:srgbClr val="B51E2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747504" y="4197096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</a:t>
            </a:r>
            <a:pPr algn="l" indent="0" marL="0">
              <a:buNone/>
            </a:pPr>
            <a:r>
              <a:rPr lang="en-US" sz="950" b="1" dirty="0">
                <a:solidFill>
                  <a:srgbClr val="B51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✗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70064" y="4791456"/>
            <a:ext cx="33101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Y over the 4 visits: keep the compatible course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777240" y="2011680"/>
            <a:ext cx="1874520" cy="3246120"/>
          </a:xfrm>
          <a:prstGeom prst="roundRect">
            <a:avLst>
              <a:gd name="adj" fmla="val 2927"/>
            </a:avLst>
          </a:prstGeom>
          <a:solidFill>
            <a:srgbClr val="F1FAF2"/>
          </a:solidFill>
          <a:ln w="12700">
            <a:solidFill>
              <a:srgbClr val="B5DDB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05840" y="2212848"/>
            <a:ext cx="142646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Internal/RCT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F8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template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143000" y="2926080"/>
            <a:ext cx="201168" cy="201168"/>
          </a:xfrm>
          <a:prstGeom prst="ellipse">
            <a:avLst/>
          </a:prstGeom>
          <a:solidFill>
            <a:srgbClr val="2F8F46"/>
          </a:solidFill>
          <a:ln w="7620">
            <a:solidFill>
              <a:srgbClr val="2F8F46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691640" y="3246120"/>
            <a:ext cx="201168" cy="201168"/>
          </a:xfrm>
          <a:prstGeom prst="ellipse">
            <a:avLst/>
          </a:prstGeom>
          <a:solidFill>
            <a:srgbClr val="2F8F46"/>
          </a:solidFill>
          <a:ln w="7620">
            <a:solidFill>
              <a:srgbClr val="2F8F46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325880" y="3822192"/>
            <a:ext cx="201168" cy="201168"/>
          </a:xfrm>
          <a:prstGeom prst="ellipse">
            <a:avLst/>
          </a:prstGeom>
          <a:solidFill>
            <a:srgbClr val="2F8F46"/>
          </a:solidFill>
          <a:ln w="7620">
            <a:solidFill>
              <a:srgbClr val="2F8F46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874520" y="4297680"/>
            <a:ext cx="201168" cy="201168"/>
          </a:xfrm>
          <a:prstGeom prst="ellipse">
            <a:avLst/>
          </a:prstGeom>
          <a:solidFill>
            <a:srgbClr val="2F8F46"/>
          </a:solidFill>
          <a:ln w="7620">
            <a:solidFill>
              <a:srgbClr val="2F8F46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3977640" y="2011680"/>
            <a:ext cx="2103120" cy="3246120"/>
          </a:xfrm>
          <a:prstGeom prst="roundRect">
            <a:avLst>
              <a:gd name="adj" fmla="val 2609"/>
            </a:avLst>
          </a:prstGeom>
          <a:solidFill>
            <a:srgbClr val="F7F7F7"/>
          </a:solidFill>
          <a:ln w="12700">
            <a:solidFill>
              <a:srgbClr val="D5D5D5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343400" y="2212848"/>
            <a:ext cx="13716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pool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70832" y="2880360"/>
            <a:ext cx="182880" cy="182880"/>
          </a:xfrm>
          <a:prstGeom prst="ellipse">
            <a:avLst/>
          </a:prstGeom>
          <a:solidFill>
            <a:srgbClr val="2FA8E1"/>
          </a:solidFill>
          <a:ln w="762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5074920" y="2971800"/>
            <a:ext cx="182880" cy="182880"/>
          </a:xfrm>
          <a:prstGeom prst="ellipse">
            <a:avLst/>
          </a:prstGeom>
          <a:solidFill>
            <a:srgbClr val="2FA8E1"/>
          </a:solidFill>
          <a:ln w="762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526280" y="3584448"/>
            <a:ext cx="182880" cy="182880"/>
          </a:xfrm>
          <a:prstGeom prst="ellipse">
            <a:avLst/>
          </a:prstGeom>
          <a:solidFill>
            <a:srgbClr val="2FA8E1"/>
          </a:solidFill>
          <a:ln w="762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394960" y="3703320"/>
            <a:ext cx="182880" cy="182880"/>
          </a:xfrm>
          <a:prstGeom prst="ellipse">
            <a:avLst/>
          </a:prstGeom>
          <a:solidFill>
            <a:srgbClr val="2FA8E1"/>
          </a:solidFill>
          <a:ln w="762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800600" y="4160520"/>
            <a:ext cx="182880" cy="182880"/>
          </a:xfrm>
          <a:prstGeom prst="ellipse">
            <a:avLst/>
          </a:prstGeom>
          <a:solidFill>
            <a:srgbClr val="2FA8E1"/>
          </a:solidFill>
          <a:ln w="762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5577840" y="4389120"/>
            <a:ext cx="109728" cy="109728"/>
          </a:xfrm>
          <a:prstGeom prst="ellipse">
            <a:avLst/>
          </a:prstGeom>
          <a:solidFill>
            <a:srgbClr val="D1D5DB"/>
          </a:solidFill>
          <a:ln w="762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4206240" y="4645152"/>
            <a:ext cx="109728" cy="109728"/>
          </a:xfrm>
          <a:prstGeom prst="ellipse">
            <a:avLst/>
          </a:prstGeom>
          <a:solidFill>
            <a:srgbClr val="D1D5DB"/>
          </a:solidFill>
          <a:ln w="762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2834640" y="3611880"/>
            <a:ext cx="914400" cy="0"/>
          </a:xfrm>
          <a:prstGeom prst="line">
            <a:avLst/>
          </a:prstGeom>
          <a:noFill/>
          <a:ln w="17145">
            <a:solidFill>
              <a:srgbClr val="0B4EA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2788920" y="3127248"/>
            <a:ext cx="106070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nearest-neighbor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</a:t>
            </a:r>
            <a:endParaRPr lang="en-US" sz="860" dirty="0"/>
          </a:p>
        </p:txBody>
      </p:sp>
      <p:sp>
        <p:nvSpPr>
          <p:cNvPr id="48" name="Text 46"/>
          <p:cNvSpPr/>
          <p:nvPr/>
        </p:nvSpPr>
        <p:spPr>
          <a:xfrm>
            <a:off x="5376672" y="4754880"/>
            <a:ext cx="65836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EC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used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097280" y="5852160"/>
            <a:ext cx="9966960" cy="393192"/>
          </a:xfrm>
          <a:prstGeom prst="roundRect">
            <a:avLst>
              <a:gd name="adj" fmla="val 18605"/>
            </a:avLst>
          </a:prstGeom>
          <a:solidFill>
            <a:srgbClr val="FFF8D6"/>
          </a:solidFill>
          <a:ln w="12700">
            <a:solidFill>
              <a:srgbClr val="FFF8D6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325880" y="5961888"/>
            <a:ext cx="95097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 message: in matching, “filtering” is only the unmatched-donor consequence.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58368" y="6565392"/>
            <a:ext cx="10881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777777"/>
                </a:solidFill>
              </a:rPr>
              <a:t>Use this if the audience expects propensity-score matching: RCT target stays fixed; unmatched external controls do not enter.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58368" y="658368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illustration option C: one-way support for an internal target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75720" y="25603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4EA2"/>
                </a:solidFill>
              </a:rPr>
              <a:t>3C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4251960" cy="329184"/>
          </a:xfrm>
          <a:prstGeom prst="roundRect">
            <a:avLst>
              <a:gd name="adj" fmla="val 22222"/>
            </a:avLst>
          </a:prstGeom>
          <a:solidFill>
            <a:srgbClr val="D9EAFB"/>
          </a:solidFill>
          <a:ln w="12700">
            <a:solidFill>
              <a:srgbClr val="D9EAF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86384" y="1408176"/>
            <a:ext cx="41422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Baseline X support for internal target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1371600"/>
            <a:ext cx="3840480" cy="329184"/>
          </a:xfrm>
          <a:prstGeom prst="roundRect">
            <a:avLst>
              <a:gd name="adj" fmla="val 22222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58584" y="1408176"/>
            <a:ext cx="373075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8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Longitudinal Y compatibility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06640" y="2304288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01000" y="2304288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2304288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89720" y="2304288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88352" y="2633472"/>
            <a:ext cx="475488" cy="347472"/>
          </a:xfrm>
          <a:prstGeom prst="chevron">
            <a:avLst/>
          </a:prstGeom>
          <a:solidFill>
            <a:srgbClr val="073D8B"/>
          </a:solidFill>
          <a:ln w="5080">
            <a:solidFill>
              <a:srgbClr val="073D8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946136" y="2633472"/>
            <a:ext cx="475488" cy="347472"/>
          </a:xfrm>
          <a:prstGeom prst="chevron">
            <a:avLst/>
          </a:prstGeom>
          <a:solidFill>
            <a:srgbClr val="073D8B"/>
          </a:solidFill>
          <a:ln w="5080">
            <a:solidFill>
              <a:srgbClr val="073D8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503920" y="2633472"/>
            <a:ext cx="475488" cy="347472"/>
          </a:xfrm>
          <a:prstGeom prst="chevron">
            <a:avLst/>
          </a:prstGeom>
          <a:solidFill>
            <a:srgbClr val="073D8B"/>
          </a:solidFill>
          <a:ln w="5080">
            <a:solidFill>
              <a:srgbClr val="073D8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061704" y="2633472"/>
            <a:ext cx="475488" cy="347472"/>
          </a:xfrm>
          <a:prstGeom prst="chevron">
            <a:avLst/>
          </a:prstGeom>
          <a:solidFill>
            <a:srgbClr val="073D8B"/>
          </a:solidFill>
          <a:ln w="5080">
            <a:solidFill>
              <a:srgbClr val="073D8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747504" y="2715768"/>
            <a:ext cx="9144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control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388352" y="3374136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946136" y="3374136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503920" y="3374136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061704" y="3374136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747504" y="3456432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</a:t>
            </a:r>
            <a:pPr algn="l" indent="0" marL="0">
              <a:buNone/>
            </a:pPr>
            <a:r>
              <a:rPr lang="en-US" sz="950" b="1" dirty="0">
                <a:solidFill>
                  <a:srgbClr val="2F8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✓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88352" y="4114800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946136" y="4114800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503920" y="4114800"/>
            <a:ext cx="475488" cy="347472"/>
          </a:xfrm>
          <a:prstGeom prst="chevron">
            <a:avLst/>
          </a:prstGeom>
          <a:solidFill>
            <a:srgbClr val="B51E23"/>
          </a:solidFill>
          <a:ln w="5080">
            <a:solidFill>
              <a:srgbClr val="B51E23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061704" y="4114800"/>
            <a:ext cx="475488" cy="347472"/>
          </a:xfrm>
          <a:prstGeom prst="chevron">
            <a:avLst/>
          </a:prstGeom>
          <a:solidFill>
            <a:srgbClr val="B51E23"/>
          </a:solidFill>
          <a:ln w="5080">
            <a:solidFill>
              <a:srgbClr val="B51E2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747504" y="4197096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</a:t>
            </a:r>
            <a:pPr algn="l" indent="0" marL="0">
              <a:buNone/>
            </a:pPr>
            <a:r>
              <a:rPr lang="en-US" sz="950" b="1" dirty="0">
                <a:solidFill>
                  <a:srgbClr val="B51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✗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70064" y="4791456"/>
            <a:ext cx="33101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Y over the 4 visits: keep the compatible course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50976" y="2322576"/>
            <a:ext cx="4434840" cy="2423160"/>
          </a:xfrm>
          <a:prstGeom prst="ellipse">
            <a:avLst/>
          </a:prstGeom>
          <a:solidFill>
            <a:srgbClr val="F7D7DB">
              <a:alpha val="90000"/>
            </a:srgbClr>
          </a:solidFill>
          <a:ln w="12700">
            <a:solidFill>
              <a:srgbClr val="DFA9B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554480" y="2688336"/>
            <a:ext cx="2514600" cy="1700784"/>
          </a:xfrm>
          <a:prstGeom prst="ellipse">
            <a:avLst/>
          </a:prstGeom>
          <a:solidFill>
            <a:srgbClr val="CFEAD3"/>
          </a:solidFill>
          <a:ln w="15240">
            <a:solidFill>
              <a:srgbClr val="8DC89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611880" y="2029968"/>
            <a:ext cx="1783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B51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control X support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1325880" y="4828032"/>
            <a:ext cx="23774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F8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Internal/RCT X target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3429000" y="5047488"/>
            <a:ext cx="21488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9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external-only area → weight ≈ 0 / unmatched</a:t>
            </a:r>
            <a:endParaRPr lang="en-US" sz="890" dirty="0"/>
          </a:p>
        </p:txBody>
      </p:sp>
      <p:sp>
        <p:nvSpPr>
          <p:cNvPr id="36" name="Text 34"/>
          <p:cNvSpPr/>
          <p:nvPr/>
        </p:nvSpPr>
        <p:spPr>
          <a:xfrm>
            <a:off x="1097280" y="5349240"/>
            <a:ext cx="4526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 condition: supp(XR) ⊆ supp(XE)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1097280" y="5852160"/>
            <a:ext cx="9966960" cy="393192"/>
          </a:xfrm>
          <a:prstGeom prst="roundRect">
            <a:avLst>
              <a:gd name="adj" fmla="val 18605"/>
            </a:avLst>
          </a:prstGeom>
          <a:solidFill>
            <a:srgbClr val="FFF8D6"/>
          </a:solidFill>
          <a:ln w="12700">
            <a:solidFill>
              <a:srgbClr val="FFF8D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325880" y="5961888"/>
            <a:ext cx="95097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 message: external support can be larger; the target remains the internal/RCT population.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" y="6565392"/>
            <a:ext cx="10881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777777"/>
                </a:solidFill>
              </a:rPr>
              <a:t>This is closest to your original support idea, but replaces “trim” with near-zero weights / unmatched donors.</a:t>
            </a:r>
            <a:endParaRPr lang="en-US" sz="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58368" y="658368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illustration option D: two-stage borrowing gate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75720" y="25603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4EA2"/>
                </a:solidFill>
              </a:rPr>
              <a:t>3D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4251960" cy="329184"/>
          </a:xfrm>
          <a:prstGeom prst="roundRect">
            <a:avLst>
              <a:gd name="adj" fmla="val 22222"/>
            </a:avLst>
          </a:prstGeom>
          <a:solidFill>
            <a:srgbClr val="D9EAFB"/>
          </a:solidFill>
          <a:ln w="12700">
            <a:solidFill>
              <a:srgbClr val="D9EAF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86384" y="1408176"/>
            <a:ext cx="41422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Baseline X alignment gate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1371600"/>
            <a:ext cx="3840480" cy="329184"/>
          </a:xfrm>
          <a:prstGeom prst="roundRect">
            <a:avLst>
              <a:gd name="adj" fmla="val 22222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58584" y="1408176"/>
            <a:ext cx="373075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8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Longitudinal Y compatibility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06640" y="2304288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01000" y="2304288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2304288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89720" y="2304288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88352" y="2633472"/>
            <a:ext cx="475488" cy="347472"/>
          </a:xfrm>
          <a:prstGeom prst="chevron">
            <a:avLst/>
          </a:prstGeom>
          <a:solidFill>
            <a:srgbClr val="073D8B"/>
          </a:solidFill>
          <a:ln w="5080">
            <a:solidFill>
              <a:srgbClr val="073D8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946136" y="2633472"/>
            <a:ext cx="475488" cy="347472"/>
          </a:xfrm>
          <a:prstGeom prst="chevron">
            <a:avLst/>
          </a:prstGeom>
          <a:solidFill>
            <a:srgbClr val="073D8B"/>
          </a:solidFill>
          <a:ln w="5080">
            <a:solidFill>
              <a:srgbClr val="073D8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503920" y="2633472"/>
            <a:ext cx="475488" cy="347472"/>
          </a:xfrm>
          <a:prstGeom prst="chevron">
            <a:avLst/>
          </a:prstGeom>
          <a:solidFill>
            <a:srgbClr val="073D8B"/>
          </a:solidFill>
          <a:ln w="5080">
            <a:solidFill>
              <a:srgbClr val="073D8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061704" y="2633472"/>
            <a:ext cx="475488" cy="347472"/>
          </a:xfrm>
          <a:prstGeom prst="chevron">
            <a:avLst/>
          </a:prstGeom>
          <a:solidFill>
            <a:srgbClr val="073D8B"/>
          </a:solidFill>
          <a:ln w="5080">
            <a:solidFill>
              <a:srgbClr val="073D8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747504" y="2715768"/>
            <a:ext cx="9144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control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388352" y="3374136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946136" y="3374136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503920" y="3374136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061704" y="3374136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747504" y="3456432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</a:t>
            </a:r>
            <a:pPr algn="l" indent="0" marL="0">
              <a:buNone/>
            </a:pPr>
            <a:r>
              <a:rPr lang="en-US" sz="950" b="1" dirty="0">
                <a:solidFill>
                  <a:srgbClr val="2F8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✓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88352" y="4114800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946136" y="4114800"/>
            <a:ext cx="475488" cy="347472"/>
          </a:xfrm>
          <a:prstGeom prst="chevron">
            <a:avLst/>
          </a:prstGeom>
          <a:solidFill>
            <a:srgbClr val="2FA8E1"/>
          </a:solidFill>
          <a:ln w="508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503920" y="4114800"/>
            <a:ext cx="475488" cy="347472"/>
          </a:xfrm>
          <a:prstGeom prst="chevron">
            <a:avLst/>
          </a:prstGeom>
          <a:solidFill>
            <a:srgbClr val="B51E23"/>
          </a:solidFill>
          <a:ln w="5080">
            <a:solidFill>
              <a:srgbClr val="B51E23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061704" y="4114800"/>
            <a:ext cx="475488" cy="347472"/>
          </a:xfrm>
          <a:prstGeom prst="chevron">
            <a:avLst/>
          </a:prstGeom>
          <a:solidFill>
            <a:srgbClr val="B51E23"/>
          </a:solidFill>
          <a:ln w="5080">
            <a:solidFill>
              <a:srgbClr val="B51E2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747504" y="4197096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</a:t>
            </a:r>
            <a:pPr algn="l" indent="0" marL="0">
              <a:buNone/>
            </a:pPr>
            <a:r>
              <a:rPr lang="en-US" sz="950" b="1" dirty="0">
                <a:solidFill>
                  <a:srgbClr val="B51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✗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70064" y="4791456"/>
            <a:ext cx="33101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Y over the 4 visits: keep the compatible course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749808" y="2048256"/>
            <a:ext cx="1600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donor pool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914400" y="2670048"/>
            <a:ext cx="155448" cy="155448"/>
          </a:xfrm>
          <a:prstGeom prst="ellipse">
            <a:avLst/>
          </a:prstGeom>
          <a:solidFill>
            <a:srgbClr val="D1D5DB"/>
          </a:solidFill>
          <a:ln w="762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389888" y="2788920"/>
            <a:ext cx="155448" cy="155448"/>
          </a:xfrm>
          <a:prstGeom prst="ellipse">
            <a:avLst/>
          </a:prstGeom>
          <a:solidFill>
            <a:srgbClr val="2FA8E1"/>
          </a:solidFill>
          <a:ln w="762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847088" y="2651760"/>
            <a:ext cx="155448" cy="155448"/>
          </a:xfrm>
          <a:prstGeom prst="ellipse">
            <a:avLst/>
          </a:prstGeom>
          <a:solidFill>
            <a:srgbClr val="D1D5DB"/>
          </a:solidFill>
          <a:ln w="762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133856" y="3337560"/>
            <a:ext cx="155448" cy="155448"/>
          </a:xfrm>
          <a:prstGeom prst="ellipse">
            <a:avLst/>
          </a:prstGeom>
          <a:solidFill>
            <a:srgbClr val="2FA8E1"/>
          </a:solidFill>
          <a:ln w="762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664208" y="3529584"/>
            <a:ext cx="155448" cy="155448"/>
          </a:xfrm>
          <a:prstGeom prst="ellipse">
            <a:avLst/>
          </a:prstGeom>
          <a:solidFill>
            <a:srgbClr val="2FA8E1"/>
          </a:solidFill>
          <a:ln w="762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084832" y="3255264"/>
            <a:ext cx="155448" cy="155448"/>
          </a:xfrm>
          <a:prstGeom prst="ellipse">
            <a:avLst/>
          </a:prstGeom>
          <a:solidFill>
            <a:srgbClr val="D1D5DB"/>
          </a:solidFill>
          <a:ln w="762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05840" y="4114800"/>
            <a:ext cx="155448" cy="155448"/>
          </a:xfrm>
          <a:prstGeom prst="ellipse">
            <a:avLst/>
          </a:prstGeom>
          <a:solidFill>
            <a:srgbClr val="D1D5DB"/>
          </a:solidFill>
          <a:ln w="762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554480" y="4224528"/>
            <a:ext cx="155448" cy="155448"/>
          </a:xfrm>
          <a:prstGeom prst="ellipse">
            <a:avLst/>
          </a:prstGeom>
          <a:solidFill>
            <a:srgbClr val="2FA8E1"/>
          </a:solidFill>
          <a:ln w="762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993392" y="4005072"/>
            <a:ext cx="155448" cy="155448"/>
          </a:xfrm>
          <a:prstGeom prst="ellipse">
            <a:avLst/>
          </a:prstGeom>
          <a:solidFill>
            <a:srgbClr val="2FA8E1"/>
          </a:solidFill>
          <a:ln w="762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2514600" y="2468880"/>
            <a:ext cx="1188720" cy="960120"/>
          </a:xfrm>
          <a:prstGeom prst="line">
            <a:avLst/>
          </a:prstGeom>
          <a:noFill/>
          <a:ln w="13970">
            <a:solidFill>
              <a:srgbClr val="0B4EA2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2514600" y="4480560"/>
            <a:ext cx="1188720" cy="-960120"/>
          </a:xfrm>
          <a:prstGeom prst="line">
            <a:avLst/>
          </a:prstGeom>
          <a:noFill/>
          <a:ln w="13970">
            <a:solidFill>
              <a:srgbClr val="0B4EA2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670048" y="2148840"/>
            <a:ext cx="9601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X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adjustment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3822192" y="3474720"/>
            <a:ext cx="585216" cy="0"/>
          </a:xfrm>
          <a:prstGeom prst="line">
            <a:avLst/>
          </a:prstGeom>
          <a:noFill/>
          <a:ln w="16510">
            <a:solidFill>
              <a:srgbClr val="0B4EA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4572000" y="2423160"/>
            <a:ext cx="1508760" cy="2103120"/>
          </a:xfrm>
          <a:prstGeom prst="roundRect">
            <a:avLst>
              <a:gd name="adj" fmla="val 3636"/>
            </a:avLst>
          </a:prstGeom>
          <a:solidFill>
            <a:srgbClr val="F1F8FF"/>
          </a:solidFill>
          <a:ln w="12700">
            <a:solidFill>
              <a:srgbClr val="B6D1F3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754880" y="2670048"/>
            <a:ext cx="112471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RCT-aligned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controls</a:t>
            </a:r>
            <a:endParaRPr lang="en-US" sz="1030" dirty="0"/>
          </a:p>
        </p:txBody>
      </p:sp>
      <p:sp>
        <p:nvSpPr>
          <p:cNvPr id="47" name="Shape 45"/>
          <p:cNvSpPr/>
          <p:nvPr/>
        </p:nvSpPr>
        <p:spPr>
          <a:xfrm>
            <a:off x="4864608" y="3456432"/>
            <a:ext cx="246888" cy="246888"/>
          </a:xfrm>
          <a:prstGeom prst="ellipse">
            <a:avLst/>
          </a:prstGeom>
          <a:solidFill>
            <a:srgbClr val="2FA8E1"/>
          </a:solidFill>
          <a:ln w="762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5358384" y="3310128"/>
            <a:ext cx="201168" cy="201168"/>
          </a:xfrm>
          <a:prstGeom prst="ellipse">
            <a:avLst/>
          </a:prstGeom>
          <a:solidFill>
            <a:srgbClr val="2FA8E1"/>
          </a:solidFill>
          <a:ln w="762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5669280" y="3703320"/>
            <a:ext cx="128016" cy="128016"/>
          </a:xfrm>
          <a:prstGeom prst="ellipse">
            <a:avLst/>
          </a:prstGeom>
          <a:solidFill>
            <a:srgbClr val="2FA8E1"/>
          </a:solidFill>
          <a:ln w="7620">
            <a:solidFill>
              <a:srgbClr val="2FA8E1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5074920" y="3977640"/>
            <a:ext cx="109728" cy="109728"/>
          </a:xfrm>
          <a:prstGeom prst="ellipse">
            <a:avLst/>
          </a:prstGeom>
          <a:solidFill>
            <a:srgbClr val="CBD5E1"/>
          </a:solidFill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663440" y="4297680"/>
            <a:ext cx="13258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to longitudinal</a:t>
            </a:r>
            <a:endParaRPr lang="en-US" sz="840" dirty="0"/>
          </a:p>
          <a:p>
            <a:pPr algn="ctr" indent="0" marL="0">
              <a:buNone/>
            </a:pPr>
            <a:r>
              <a:rPr lang="en-US" sz="84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 check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1097280" y="5852160"/>
            <a:ext cx="9966960" cy="393192"/>
          </a:xfrm>
          <a:prstGeom prst="roundRect">
            <a:avLst>
              <a:gd name="adj" fmla="val 18605"/>
            </a:avLst>
          </a:prstGeom>
          <a:solidFill>
            <a:srgbClr val="FFF8D6"/>
          </a:solidFill>
          <a:ln w="12700">
            <a:solidFill>
              <a:srgbClr val="FFF8D6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325880" y="5961888"/>
            <a:ext cx="95097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D message: first align on baseline X, then our method decides longitudinal compatibility.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58368" y="6565392"/>
            <a:ext cx="10881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777777"/>
                </a:solidFill>
              </a:rPr>
              <a:t>This option makes the method pipeline very explicit without using plots or complicated distributions.</a:t>
            </a:r>
            <a:endParaRPr lang="en-US" sz="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58368" y="658368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competitor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75720" y="25603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4EA2"/>
                </a:solidFill>
              </a:rPr>
              <a:t>4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914400" y="2240280"/>
            <a:ext cx="10332720" cy="1508760"/>
          </a:xfrm>
          <a:prstGeom prst="roundRect">
            <a:avLst>
              <a:gd name="adj" fmla="val 4848"/>
            </a:avLst>
          </a:prstGeom>
          <a:solidFill>
            <a:srgbClr val="D9EAFB"/>
          </a:solidFill>
          <a:ln w="12700">
            <a:solidFill>
              <a:srgbClr val="D9EAF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34440" y="254203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4EA2"/>
                </a:solidFill>
              </a:rPr>
              <a:t>Our main competitor should be the Synthetic Control Method (SCM).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234440" y="301752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4EA2"/>
                </a:solidFill>
              </a:rPr>
              <a:t>It also uses longitudinal control information to construct an external counterfactual.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" y="6565392"/>
            <a:ext cx="10881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777777"/>
                </a:solidFill>
              </a:rPr>
              <a:t>Suggested one-line positioning slide.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Correction: PS filtering vs covariate adjustment</dc:title>
  <dc:subject>Correction slides on propensity-score filtering and baseline covariate alignment</dc:subject>
  <dc:creator>OpenAI</dc:creator>
  <cp:lastModifiedBy>OpenAI</cp:lastModifiedBy>
  <cp:revision>1</cp:revision>
  <dcterms:created xsi:type="dcterms:W3CDTF">2026-07-21T15:35:29Z</dcterms:created>
  <dcterms:modified xsi:type="dcterms:W3CDTF">2026-07-21T15:35:29Z</dcterms:modified>
</cp:coreProperties>
</file>
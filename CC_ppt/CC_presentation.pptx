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54864"/>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54480"/>
            <a:ext cx="10362895" cy="2377440"/>
          </a:xfrm>
          <a:prstGeom prst="rect">
            <a:avLst/>
          </a:prstGeom>
          <a:noFill/>
        </p:spPr>
        <p:txBody>
          <a:bodyPr wrap="square" anchor="t">
            <a:spAutoFit/>
          </a:bodyPr>
          <a:lstStyle/>
          <a:p>
            <a:pPr>
              <a:spcAft>
                <a:spcPts val="600"/>
              </a:spcAft>
            </a:pPr>
            <a:r>
              <a:rPr sz="3400" b="1" i="0">
                <a:solidFill>
                  <a:srgbClr val="FFFFFF"/>
                </a:solidFill>
                <a:latin typeface="Arial"/>
              </a:rPr>
              <a:t>Safe Borrowing of External Controls</a:t>
            </a:r>
          </a:p>
          <a:p>
            <a:r>
              <a:rPr sz="2200" b="0" i="0">
                <a:solidFill>
                  <a:srgbClr val="8FB0DE"/>
                </a:solidFill>
                <a:latin typeface="Arial"/>
              </a:rPr>
              <a:t>via Covariate-Shift-Adjusted Longitudinal Residual-Rank Screening</a:t>
            </a:r>
          </a:p>
        </p:txBody>
      </p:sp>
      <p:sp>
        <p:nvSpPr>
          <p:cNvPr id="5" name="TextBox 4"/>
          <p:cNvSpPr txBox="1"/>
          <p:nvPr/>
        </p:nvSpPr>
        <p:spPr>
          <a:xfrm>
            <a:off x="914400" y="4343400"/>
            <a:ext cx="10362895" cy="1828800"/>
          </a:xfrm>
          <a:prstGeom prst="rect">
            <a:avLst/>
          </a:prstGeom>
          <a:noFill/>
        </p:spPr>
        <p:txBody>
          <a:bodyPr wrap="square" anchor="t">
            <a:spAutoFit/>
          </a:bodyPr>
          <a:lstStyle/>
          <a:p/>
          <a:p>
            <a:pPr>
              <a:spcAft>
                <a:spcPts val="400"/>
              </a:spcAft>
            </a:pPr>
            <a:r>
              <a:rPr sz="1600" b="0" i="0">
                <a:solidFill>
                  <a:srgbClr val="C9D4E4"/>
                </a:solidFill>
                <a:latin typeface="Arial"/>
              </a:rPr>
              <a:t>A conformal screen for hybrid controlled trials</a:t>
            </a:r>
          </a:p>
          <a:p>
            <a:pPr>
              <a:spcAft>
                <a:spcPts val="400"/>
              </a:spcAft>
            </a:pPr>
            <a:r>
              <a:rPr sz="1400" b="0" i="1">
                <a:solidFill>
                  <a:srgbClr val="9AA7BC"/>
                </a:solidFill>
                <a:latin typeface="Arial"/>
              </a:rPr>
              <a:t>Keep the compatible external controls · drop the incompatible ones · borrow safely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61488"/>
            <a:ext cx="12191695" cy="45720"/>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148840"/>
            <a:ext cx="10180015" cy="2011680"/>
          </a:xfrm>
          <a:prstGeom prst="rect">
            <a:avLst/>
          </a:prstGeom>
          <a:noFill/>
        </p:spPr>
        <p:txBody>
          <a:bodyPr wrap="square" anchor="t">
            <a:spAutoFit/>
          </a:bodyPr>
          <a:lstStyle/>
          <a:p>
            <a:pPr>
              <a:spcAft>
                <a:spcPts val="600"/>
              </a:spcAft>
            </a:pPr>
            <a:r>
              <a:rPr sz="1700" b="1" i="0">
                <a:solidFill>
                  <a:srgbClr val="2F7DC8"/>
                </a:solidFill>
                <a:latin typeface="Arial"/>
              </a:rPr>
              <a:t>PART I</a:t>
            </a:r>
          </a:p>
          <a:p>
            <a:r>
              <a:rPr sz="4000" b="1" i="0">
                <a:solidFill>
                  <a:srgbClr val="FFFFFF"/>
                </a:solidFill>
                <a:latin typeface="Arial"/>
              </a:rPr>
              <a:t>The Problem &amp; Background</a:t>
            </a:r>
          </a:p>
          <a:p>
            <a:pPr>
              <a:spcBef>
                <a:spcPts val="800"/>
              </a:spcBef>
            </a:pPr>
            <a:r>
              <a:rPr sz="1600" b="0" i="1">
                <a:solidFill>
                  <a:srgbClr val="C9D4E4"/>
                </a:solidFill>
                <a:latin typeface="Arial"/>
              </a:rPr>
              <a:t>Why borrow external controls, and when is it dangerous?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5855" cy="932688"/>
          </a:xfrm>
          <a:prstGeom prst="rect">
            <a:avLst/>
          </a:prstGeom>
          <a:noFill/>
        </p:spPr>
        <p:txBody>
          <a:bodyPr wrap="square" anchor="t">
            <a:spAutoFit/>
          </a:bodyPr>
          <a:lstStyle/>
          <a:p>
            <a:pPr>
              <a:spcAft>
                <a:spcPts val="200"/>
              </a:spcAft>
            </a:pPr>
            <a:r>
              <a:rPr sz="1250" b="1" i="0">
                <a:solidFill>
                  <a:srgbClr val="2F7DC8"/>
                </a:solidFill>
                <a:latin typeface="Arial"/>
              </a:rPr>
              <a:t>SCIENTIFIC MOTIVATION</a:t>
            </a:r>
          </a:p>
          <a:p>
            <a:r>
              <a:rPr sz="2700" b="1" i="0">
                <a:solidFill>
                  <a:srgbClr val="1F2A44"/>
                </a:solidFill>
                <a:latin typeface="Arial"/>
              </a:rPr>
              <a:t>Hybrid trials: borrowing external controls</a:t>
            </a:r>
          </a:p>
        </p:txBody>
      </p:sp>
      <p:sp>
        <p:nvSpPr>
          <p:cNvPr id="4" name="Rectangle 3"/>
          <p:cNvSpPr/>
          <p:nvPr/>
        </p:nvSpPr>
        <p:spPr>
          <a:xfrm>
            <a:off x="521207" y="1225296"/>
            <a:ext cx="2103120" cy="41148"/>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17320"/>
            <a:ext cx="5989320" cy="5029200"/>
          </a:xfrm>
          <a:prstGeom prst="rect">
            <a:avLst/>
          </a:prstGeom>
          <a:noFill/>
        </p:spPr>
        <p:txBody>
          <a:bodyPr wrap="square" anchor="t">
            <a:spAutoFit/>
          </a:bodyPr>
          <a:lstStyle/>
          <a:p>
            <a:pPr>
              <a:spcBef>
                <a:spcPts val="400"/>
              </a:spcBef>
              <a:spcAft>
                <a:spcPts val="900"/>
              </a:spcAft>
            </a:pPr>
            <a:r>
              <a:rPr sz="1600" b="1" i="0">
                <a:solidFill>
                  <a:srgbClr val="2F7DC8"/>
                </a:solidFill>
                <a:latin typeface="Arial"/>
              </a:rPr>
              <a:t>The setting</a:t>
            </a:r>
          </a:p>
          <a:p>
            <a:pPr>
              <a:spcAft>
                <a:spcPts val="800"/>
              </a:spcAft>
            </a:pPr>
            <a:r>
              <a:rPr sz="1450" b="1" i="0">
                <a:solidFill>
                  <a:srgbClr val="2F7DC8"/>
                </a:solidFill>
                <a:latin typeface="Arial"/>
              </a:rPr>
              <a:t>▪  </a:t>
            </a:r>
            <a:r>
              <a:rPr sz="1450" b="0" i="0">
                <a:solidFill>
                  <a:srgbClr val="333740"/>
                </a:solidFill>
                <a:latin typeface="Arial"/>
              </a:rPr>
              <a:t>A randomized trial (RCT) gives unbiased treatment-effect estimates — but its control arm is often small, so precision and power are limited.</a:t>
            </a:r>
          </a:p>
          <a:p>
            <a:pPr>
              <a:spcAft>
                <a:spcPts val="800"/>
              </a:spcAft>
            </a:pPr>
            <a:r>
              <a:rPr sz="1450" b="1" i="0">
                <a:solidFill>
                  <a:srgbClr val="2F7DC8"/>
                </a:solidFill>
                <a:latin typeface="Arial"/>
              </a:rPr>
              <a:t>▪  </a:t>
            </a:r>
            <a:r>
              <a:rPr sz="1450" b="0" i="0">
                <a:solidFill>
                  <a:srgbClr val="333740"/>
                </a:solidFill>
                <a:latin typeface="Arial"/>
              </a:rPr>
              <a:t>Registries, historical trial arms, and electronic health records offer many external controls (ECs) that could sharpen the control comparison.</a:t>
            </a:r>
          </a:p>
          <a:p>
            <a:pPr>
              <a:spcBef>
                <a:spcPts val="400"/>
              </a:spcBef>
              <a:spcAft>
                <a:spcPts val="900"/>
              </a:spcAft>
            </a:pPr>
            <a:r>
              <a:rPr sz="1600" b="1" i="0">
                <a:solidFill>
                  <a:srgbClr val="2F7DC8"/>
                </a:solidFill>
                <a:latin typeface="Arial"/>
              </a:rPr>
              <a:t>The danger</a:t>
            </a:r>
          </a:p>
          <a:p>
            <a:pPr>
              <a:spcAft>
                <a:spcPts val="800"/>
              </a:spcAft>
            </a:pPr>
            <a:r>
              <a:rPr sz="1450" b="1" i="0">
                <a:solidFill>
                  <a:srgbClr val="2F7DC8"/>
                </a:solidFill>
                <a:latin typeface="Arial"/>
              </a:rPr>
              <a:t>▪  </a:t>
            </a:r>
            <a:r>
              <a:rPr sz="1450" b="0" i="0">
                <a:solidFill>
                  <a:srgbClr val="333740"/>
                </a:solidFill>
                <a:latin typeface="Arial"/>
              </a:rPr>
              <a:t>Borrowing ALL of them is risky: if a hidden subset is incompatible (their control-outcome law really differs), the borrowed control mean is biased and confidence-interval coverage collapses.</a:t>
            </a:r>
          </a:p>
          <a:p>
            <a:pPr>
              <a:spcAft>
                <a:spcPts val="800"/>
              </a:spcAft>
            </a:pPr>
            <a:r>
              <a:rPr sz="1450" b="1" i="0">
                <a:solidFill>
                  <a:srgbClr val="2F7DC8"/>
                </a:solidFill>
                <a:latin typeface="Arial"/>
              </a:rPr>
              <a:t>▪  </a:t>
            </a:r>
            <a:r>
              <a:rPr sz="1450" b="0" i="0">
                <a:solidFill>
                  <a:srgbClr val="333740"/>
                </a:solidFill>
                <a:latin typeface="Arial"/>
              </a:rPr>
              <a:t>RCT-only is always valid but discards the external information — precision left on the table.</a:t>
            </a:r>
          </a:p>
          <a:p>
            <a:pPr>
              <a:spcAft>
                <a:spcPts val="800"/>
              </a:spcAft>
            </a:pPr>
            <a:r>
              <a:rPr sz="1450" b="1" i="0">
                <a:solidFill>
                  <a:srgbClr val="1F2A44"/>
                </a:solidFill>
                <a:latin typeface="Arial"/>
              </a:rPr>
              <a:t>Goal: screen the external controls for outcome compatibility — keep the compatible ones, drop the rest — then borrow. “Screen, then borrow.”</a:t>
            </a:r>
          </a:p>
        </p:txBody>
      </p:sp>
      <p:pic>
        <p:nvPicPr>
          <p:cNvPr id="6" name="Picture 5" descr="fig_design.png"/>
          <p:cNvPicPr>
            <a:picLocks noChangeAspect="1"/>
          </p:cNvPicPr>
          <p:nvPr/>
        </p:nvPicPr>
        <p:blipFill>
          <a:blip r:embed="rId2"/>
          <a:stretch>
            <a:fillRect/>
          </a:stretch>
        </p:blipFill>
        <p:spPr>
          <a:xfrm>
            <a:off x="6629400" y="2409211"/>
            <a:ext cx="5120640" cy="2771096"/>
          </a:xfrm>
          <a:prstGeom prst="rect">
            <a:avLst/>
          </a:prstGeom>
        </p:spPr>
      </p:pic>
      <p:sp>
        <p:nvSpPr>
          <p:cNvPr id="7" name="TextBox 6"/>
          <p:cNvSpPr txBox="1"/>
          <p:nvPr/>
        </p:nvSpPr>
        <p:spPr>
          <a:xfrm>
            <a:off x="11094415" y="6455664"/>
            <a:ext cx="914400" cy="320040"/>
          </a:xfrm>
          <a:prstGeom prst="rect">
            <a:avLst/>
          </a:prstGeom>
          <a:noFill/>
        </p:spPr>
        <p:txBody>
          <a:bodyPr wrap="square" anchor="t">
            <a:spAutoFit/>
          </a:bodyPr>
          <a:lstStyle/>
          <a:p>
            <a:pPr algn="r"/>
            <a:r>
              <a:rPr sz="1100" b="0" i="0">
                <a:solidFill>
                  <a:srgbClr val="6B7280"/>
                </a:solidFill>
                <a:latin typeface="Arial"/>
              </a:rPr>
              <a:t>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5855" cy="932688"/>
          </a:xfrm>
          <a:prstGeom prst="rect">
            <a:avLst/>
          </a:prstGeom>
          <a:noFill/>
        </p:spPr>
        <p:txBody>
          <a:bodyPr wrap="square" anchor="t">
            <a:spAutoFit/>
          </a:bodyPr>
          <a:lstStyle/>
          <a:p>
            <a:pPr>
              <a:spcAft>
                <a:spcPts val="200"/>
              </a:spcAft>
            </a:pPr>
            <a:r>
              <a:rPr sz="1250" b="1" i="0">
                <a:solidFill>
                  <a:srgbClr val="2F7DC8"/>
                </a:solidFill>
                <a:latin typeface="Arial"/>
              </a:rPr>
              <a:t>SCIENTIFIC MOTIVATION</a:t>
            </a:r>
          </a:p>
          <a:p>
            <a:r>
              <a:rPr sz="2700" b="1" i="0">
                <a:solidFill>
                  <a:srgbClr val="1F2A44"/>
                </a:solidFill>
                <a:latin typeface="Arial"/>
              </a:rPr>
              <a:t>Why longitudinal outcomes matter</a:t>
            </a:r>
          </a:p>
        </p:txBody>
      </p:sp>
      <p:sp>
        <p:nvSpPr>
          <p:cNvPr id="4" name="Rectangle 3"/>
          <p:cNvSpPr/>
          <p:nvPr/>
        </p:nvSpPr>
        <p:spPr>
          <a:xfrm>
            <a:off x="521207" y="1225296"/>
            <a:ext cx="2103120" cy="41148"/>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0"/>
            <a:ext cx="5943600" cy="4937760"/>
          </a:xfrm>
          <a:prstGeom prst="rect">
            <a:avLst/>
          </a:prstGeom>
          <a:noFill/>
        </p:spPr>
        <p:txBody>
          <a:bodyPr wrap="square" anchor="t">
            <a:spAutoFit/>
          </a:bodyPr>
          <a:lstStyle/>
          <a:p>
            <a:pPr>
              <a:spcAft>
                <a:spcPts val="800"/>
              </a:spcAft>
            </a:pPr>
            <a:r>
              <a:rPr sz="1400" b="1" i="0">
                <a:solidFill>
                  <a:srgbClr val="2F7DC8"/>
                </a:solidFill>
                <a:latin typeface="Arial"/>
              </a:rPr>
              <a:t>▪  </a:t>
            </a:r>
            <a:r>
              <a:rPr sz="1400" b="0" i="0">
                <a:solidFill>
                  <a:srgbClr val="333740"/>
                </a:solidFill>
                <a:latin typeface="Arial"/>
              </a:rPr>
              <a:t>Outcomes are trajectories over visits, not a single number. The estimand is a prespecified linear contrast of the trajectory (formula at right):</a:t>
            </a:r>
          </a:p>
          <a:p>
            <a:pPr lvl="1">
              <a:spcAft>
                <a:spcPts val="600"/>
              </a:spcAft>
            </a:pPr>
            <a:r>
              <a:rPr sz="1300" b="0" i="0">
                <a:solidFill>
                  <a:srgbClr val="6B7280"/>
                </a:solidFill>
                <a:latin typeface="Arial"/>
              </a:rPr>
              <a:t>–  </a:t>
            </a:r>
            <a:r>
              <a:rPr sz="1300" b="0" i="0">
                <a:solidFill>
                  <a:srgbClr val="333740"/>
                </a:solidFill>
                <a:latin typeface="Arial"/>
              </a:rPr>
              <a:t>examples of the contrast c: final visit · final-minus-baseline · visit average · slope · area-under-the-curve.</a:t>
            </a:r>
          </a:p>
          <a:p>
            <a:pPr>
              <a:spcAft>
                <a:spcPts val="800"/>
              </a:spcAft>
            </a:pPr>
            <a:r>
              <a:rPr sz="1400" b="1" i="0">
                <a:solidFill>
                  <a:srgbClr val="2F7DC8"/>
                </a:solidFill>
                <a:latin typeface="Arial"/>
              </a:rPr>
              <a:t>▪  </a:t>
            </a:r>
            <a:r>
              <a:rPr sz="1400" b="0" i="0">
                <a:solidFill>
                  <a:srgbClr val="333740"/>
                </a:solidFill>
                <a:latin typeface="Arial"/>
              </a:rPr>
              <a:t>Longitudinal data reveal the temporal PATTERN of response: two sources can agree at the last visit yet differ in early decline, slope, curvature, or recovery.</a:t>
            </a:r>
          </a:p>
          <a:p>
            <a:pPr>
              <a:spcAft>
                <a:spcPts val="800"/>
              </a:spcAft>
            </a:pPr>
            <a:r>
              <a:rPr sz="1400" b="1" i="0">
                <a:solidFill>
                  <a:srgbClr val="2F7DC8"/>
                </a:solidFill>
                <a:latin typeface="Arial"/>
              </a:rPr>
              <a:t>▪  </a:t>
            </a:r>
            <a:r>
              <a:rPr sz="1400" b="0" i="0">
                <a:solidFill>
                  <a:srgbClr val="333740"/>
                </a:solidFill>
                <a:latin typeface="Arial"/>
              </a:rPr>
              <a:t>Such discrepancies can matter clinically — and can expose incompatibility that a single scalar endpoint cannot see.</a:t>
            </a:r>
          </a:p>
          <a:p>
            <a:pPr>
              <a:spcAft>
                <a:spcPts val="800"/>
              </a:spcAft>
            </a:pPr>
            <a:r>
              <a:rPr sz="1400" b="1" i="0">
                <a:solidFill>
                  <a:srgbClr val="2F7DC8"/>
                </a:solidFill>
                <a:latin typeface="Arial"/>
              </a:rPr>
              <a:t>▪  </a:t>
            </a:r>
            <a:r>
              <a:rPr sz="1400" b="0" i="0">
                <a:solidFill>
                  <a:srgbClr val="333740"/>
                </a:solidFill>
                <a:latin typeface="Arial"/>
              </a:rPr>
              <a:t>It is also harder to model: within-subject correlation, irregular visit timing, missingness, dropout.</a:t>
            </a:r>
          </a:p>
          <a:p>
            <a:pPr>
              <a:spcAft>
                <a:spcPts val="800"/>
              </a:spcAft>
            </a:pPr>
            <a:r>
              <a:rPr sz="1400" b="1" i="0">
                <a:solidFill>
                  <a:srgbClr val="1F2A44"/>
                </a:solidFill>
                <a:latin typeface="Arial"/>
              </a:rPr>
              <a:t>Key takeaway: a single endpoint can hide incompatibility that the full trajectory reveals — so the screen compares whole trajectories, not one number.</a:t>
            </a:r>
          </a:p>
        </p:txBody>
      </p:sp>
      <p:pic>
        <p:nvPicPr>
          <p:cNvPr id="6" name="Picture 5" descr="fig_long.png"/>
          <p:cNvPicPr>
            <a:picLocks noChangeAspect="1"/>
          </p:cNvPicPr>
          <p:nvPr/>
        </p:nvPicPr>
        <p:blipFill>
          <a:blip r:embed="rId2"/>
          <a:stretch>
            <a:fillRect/>
          </a:stretch>
        </p:blipFill>
        <p:spPr>
          <a:xfrm>
            <a:off x="6492240" y="2022278"/>
            <a:ext cx="5257800" cy="1899043"/>
          </a:xfrm>
          <a:prstGeom prst="rect">
            <a:avLst/>
          </a:prstGeom>
        </p:spPr>
      </p:pic>
      <p:sp>
        <p:nvSpPr>
          <p:cNvPr id="7" name="Rectangle 6"/>
          <p:cNvSpPr/>
          <p:nvPr/>
        </p:nvSpPr>
        <p:spPr>
          <a:xfrm>
            <a:off x="6834287" y="4892040"/>
            <a:ext cx="4527984" cy="9144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q_estimand.png"/>
          <p:cNvPicPr>
            <a:picLocks noChangeAspect="1"/>
          </p:cNvPicPr>
          <p:nvPr/>
        </p:nvPicPr>
        <p:blipFill>
          <a:blip r:embed="rId3"/>
          <a:stretch>
            <a:fillRect/>
          </a:stretch>
        </p:blipFill>
        <p:spPr>
          <a:xfrm>
            <a:off x="6944015" y="4983480"/>
            <a:ext cx="4308528" cy="731520"/>
          </a:xfrm>
          <a:prstGeom prst="rect">
            <a:avLst/>
          </a:prstGeom>
        </p:spPr>
      </p:pic>
      <p:sp>
        <p:nvSpPr>
          <p:cNvPr id="9" name="TextBox 8"/>
          <p:cNvSpPr txBox="1"/>
          <p:nvPr/>
        </p:nvSpPr>
        <p:spPr>
          <a:xfrm>
            <a:off x="11094415" y="6455664"/>
            <a:ext cx="914400" cy="320040"/>
          </a:xfrm>
          <a:prstGeom prst="rect">
            <a:avLst/>
          </a:prstGeom>
          <a:noFill/>
        </p:spPr>
        <p:txBody>
          <a:bodyPr wrap="square" anchor="t">
            <a:spAutoFit/>
          </a:bodyPr>
          <a:lstStyle/>
          <a:p>
            <a:pPr algn="r"/>
            <a:r>
              <a:rPr sz="1100" b="0" i="0">
                <a:solidFill>
                  <a:srgbClr val="6B7280"/>
                </a:solidFill>
                <a:latin typeface="Arial"/>
              </a:rPr>
              <a:t>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5855" cy="932688"/>
          </a:xfrm>
          <a:prstGeom prst="rect">
            <a:avLst/>
          </a:prstGeom>
          <a:noFill/>
        </p:spPr>
        <p:txBody>
          <a:bodyPr wrap="square" anchor="t">
            <a:spAutoFit/>
          </a:bodyPr>
          <a:lstStyle/>
          <a:p>
            <a:pPr>
              <a:spcAft>
                <a:spcPts val="200"/>
              </a:spcAft>
            </a:pPr>
            <a:r>
              <a:rPr sz="1250" b="1" i="0">
                <a:solidFill>
                  <a:srgbClr val="2F7DC8"/>
                </a:solidFill>
                <a:latin typeface="Arial"/>
              </a:rPr>
              <a:t>SCIENTIFIC MOTIVATION</a:t>
            </a:r>
          </a:p>
          <a:p>
            <a:r>
              <a:rPr sz="2700" b="1" i="0">
                <a:solidFill>
                  <a:srgbClr val="1F2A44"/>
                </a:solidFill>
                <a:latin typeface="Arial"/>
              </a:rPr>
              <a:t>Real-world external controls differ in many ways</a:t>
            </a:r>
          </a:p>
        </p:txBody>
      </p:sp>
      <p:sp>
        <p:nvSpPr>
          <p:cNvPr id="4" name="Rectangle 3"/>
          <p:cNvSpPr/>
          <p:nvPr/>
        </p:nvSpPr>
        <p:spPr>
          <a:xfrm>
            <a:off x="521207" y="1225296"/>
            <a:ext cx="2103120" cy="41148"/>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17320"/>
            <a:ext cx="5669280" cy="4937760"/>
          </a:xfrm>
          <a:prstGeom prst="rect">
            <a:avLst/>
          </a:prstGeom>
          <a:noFill/>
        </p:spPr>
        <p:txBody>
          <a:bodyPr wrap="square" anchor="t">
            <a:spAutoFit/>
          </a:bodyPr>
          <a:lstStyle/>
          <a:p>
            <a:pPr>
              <a:spcBef>
                <a:spcPts val="400"/>
              </a:spcBef>
              <a:spcAft>
                <a:spcPts val="900"/>
              </a:spcAft>
            </a:pPr>
            <a:r>
              <a:rPr sz="1650" b="1" i="0">
                <a:solidFill>
                  <a:srgbClr val="2F7DC8"/>
                </a:solidFill>
                <a:latin typeface="Arial"/>
              </a:rPr>
              <a:t>Ways compatible-looking ECs can actually differ</a:t>
            </a:r>
          </a:p>
          <a:p>
            <a:pPr>
              <a:spcAft>
                <a:spcPts val="800"/>
              </a:spcAft>
            </a:pPr>
            <a:r>
              <a:rPr sz="1500" b="1" i="0">
                <a:solidFill>
                  <a:srgbClr val="2F7DC8"/>
                </a:solidFill>
                <a:latin typeface="Arial"/>
              </a:rPr>
              <a:t>▪  </a:t>
            </a:r>
            <a:r>
              <a:rPr sz="1500" b="0" i="0">
                <a:solidFill>
                  <a:srgbClr val="333740"/>
                </a:solidFill>
                <a:latin typeface="Arial"/>
              </a:rPr>
              <a:t>Baseline disease severity and prognostic factors;</a:t>
            </a:r>
          </a:p>
          <a:p>
            <a:pPr>
              <a:spcAft>
                <a:spcPts val="800"/>
              </a:spcAft>
            </a:pPr>
            <a:r>
              <a:rPr sz="1500" b="1" i="0">
                <a:solidFill>
                  <a:srgbClr val="2F7DC8"/>
                </a:solidFill>
                <a:latin typeface="Arial"/>
              </a:rPr>
              <a:t>▪  </a:t>
            </a:r>
            <a:r>
              <a:rPr sz="1500" b="0" i="0">
                <a:solidFill>
                  <a:srgbClr val="333740"/>
                </a:solidFill>
                <a:latin typeface="Arial"/>
              </a:rPr>
              <a:t>Visit schedules and observation frequency;</a:t>
            </a:r>
          </a:p>
          <a:p>
            <a:pPr>
              <a:spcAft>
                <a:spcPts val="800"/>
              </a:spcAft>
            </a:pPr>
            <a:r>
              <a:rPr sz="1500" b="1" i="0">
                <a:solidFill>
                  <a:srgbClr val="2F7DC8"/>
                </a:solidFill>
                <a:latin typeface="Arial"/>
              </a:rPr>
              <a:t>▪  </a:t>
            </a:r>
            <a:r>
              <a:rPr sz="1500" b="0" i="0">
                <a:solidFill>
                  <a:srgbClr val="333740"/>
                </a:solidFill>
                <a:latin typeface="Arial"/>
              </a:rPr>
              <a:t>Endpoint collection, measurement error, and adjudication;</a:t>
            </a:r>
          </a:p>
          <a:p>
            <a:pPr>
              <a:spcAft>
                <a:spcPts val="800"/>
              </a:spcAft>
            </a:pPr>
            <a:r>
              <a:rPr sz="1500" b="1" i="0">
                <a:solidFill>
                  <a:srgbClr val="2F7DC8"/>
                </a:solidFill>
                <a:latin typeface="Arial"/>
              </a:rPr>
              <a:t>▪  </a:t>
            </a:r>
            <a:r>
              <a:rPr sz="1500" b="0" i="0">
                <a:solidFill>
                  <a:srgbClr val="333740"/>
                </a:solidFill>
                <a:latin typeface="Arial"/>
              </a:rPr>
              <a:t>Missingness and dropout mechanisms;</a:t>
            </a:r>
          </a:p>
          <a:p>
            <a:pPr>
              <a:spcAft>
                <a:spcPts val="800"/>
              </a:spcAft>
            </a:pPr>
            <a:r>
              <a:rPr sz="1500" b="1" i="0">
                <a:solidFill>
                  <a:srgbClr val="2F7DC8"/>
                </a:solidFill>
                <a:latin typeface="Arial"/>
              </a:rPr>
              <a:t>▪  </a:t>
            </a:r>
            <a:r>
              <a:rPr sz="1500" b="0" i="0">
                <a:solidFill>
                  <a:srgbClr val="333740"/>
                </a:solidFill>
                <a:latin typeface="Arial"/>
              </a:rPr>
              <a:t>Calendar time, standard of care, concomitant treatment;</a:t>
            </a:r>
          </a:p>
          <a:p>
            <a:pPr>
              <a:spcAft>
                <a:spcPts val="800"/>
              </a:spcAft>
            </a:pPr>
            <a:r>
              <a:rPr sz="1500" b="1" i="0">
                <a:solidFill>
                  <a:srgbClr val="2F7DC8"/>
                </a:solidFill>
                <a:latin typeface="Arial"/>
              </a:rPr>
              <a:t>▪  </a:t>
            </a:r>
            <a:r>
              <a:rPr sz="1500" b="0" i="0">
                <a:solidFill>
                  <a:srgbClr val="333740"/>
                </a:solidFill>
                <a:latin typeface="Arial"/>
              </a:rPr>
              <a:t>Conditional outcome means, variances, correlations, or tails.</a:t>
            </a:r>
          </a:p>
        </p:txBody>
      </p:sp>
      <p:sp>
        <p:nvSpPr>
          <p:cNvPr id="6" name="TextBox 5"/>
          <p:cNvSpPr txBox="1"/>
          <p:nvPr/>
        </p:nvSpPr>
        <p:spPr>
          <a:xfrm>
            <a:off x="6446520" y="1417320"/>
            <a:ext cx="5303520" cy="4937760"/>
          </a:xfrm>
          <a:prstGeom prst="rect">
            <a:avLst/>
          </a:prstGeom>
          <a:noFill/>
        </p:spPr>
        <p:txBody>
          <a:bodyPr wrap="square" anchor="t">
            <a:spAutoFit/>
          </a:bodyPr>
          <a:lstStyle/>
          <a:p>
            <a:pPr>
              <a:spcBef>
                <a:spcPts val="400"/>
              </a:spcBef>
              <a:spcAft>
                <a:spcPts val="900"/>
              </a:spcAft>
            </a:pPr>
            <a:r>
              <a:rPr sz="1650" b="1" i="0">
                <a:solidFill>
                  <a:srgbClr val="2F7DC8"/>
                </a:solidFill>
                <a:latin typeface="Arial"/>
              </a:rPr>
              <a:t>The consequence</a:t>
            </a:r>
          </a:p>
          <a:p>
            <a:pPr>
              <a:spcAft>
                <a:spcPts val="800"/>
              </a:spcAft>
            </a:pPr>
            <a:r>
              <a:rPr sz="1500" b="0" i="0">
                <a:solidFill>
                  <a:srgbClr val="333740"/>
                </a:solidFill>
                <a:latin typeface="Arial"/>
              </a:rPr>
              <a:t>Full borrowing improves precision ONLY if the ECs are compatible; otherwise it injects bias.</a:t>
            </a:r>
          </a:p>
          <a:p>
            <a:pPr>
              <a:spcAft>
                <a:spcPts val="800"/>
              </a:spcAft>
            </a:pPr>
            <a:r>
              <a:rPr sz="1500" b="1" i="0">
                <a:solidFill>
                  <a:srgbClr val="1F2A44"/>
                </a:solidFill>
                <a:latin typeface="Arial"/>
              </a:rPr>
              <a:t>So the scientific question is not WHETHER to use external data, but WHICH external subjects carry credible information for the trial population.</a:t>
            </a:r>
          </a:p>
          <a:p>
            <a:pPr>
              <a:spcAft>
                <a:spcPts val="800"/>
              </a:spcAft>
            </a:pPr>
            <a:r>
              <a:rPr sz="1500" b="0" i="0">
                <a:solidFill>
                  <a:srgbClr val="333740"/>
                </a:solidFill>
                <a:latin typeface="Arial"/>
              </a:rPr>
              <a:t>Our answer: screen at the OUTCOME level (residual trajectories) — complementary to design-stage covariate balancing.</a:t>
            </a:r>
          </a:p>
        </p:txBody>
      </p:sp>
      <p:sp>
        <p:nvSpPr>
          <p:cNvPr id="7" name="TextBox 6"/>
          <p:cNvSpPr txBox="1"/>
          <p:nvPr/>
        </p:nvSpPr>
        <p:spPr>
          <a:xfrm>
            <a:off x="11094415" y="6455664"/>
            <a:ext cx="914400" cy="320040"/>
          </a:xfrm>
          <a:prstGeom prst="rect">
            <a:avLst/>
          </a:prstGeom>
          <a:noFill/>
        </p:spPr>
        <p:txBody>
          <a:bodyPr wrap="square" anchor="t">
            <a:spAutoFit/>
          </a:bodyPr>
          <a:lstStyle/>
          <a:p>
            <a:pPr algn="r"/>
            <a:r>
              <a:rPr sz="1100" b="0" i="0">
                <a:solidFill>
                  <a:srgbClr val="6B7280"/>
                </a:solidFill>
                <a:latin typeface="Arial"/>
              </a:rPr>
              <a:t>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5855" cy="932688"/>
          </a:xfrm>
          <a:prstGeom prst="rect">
            <a:avLst/>
          </a:prstGeom>
          <a:noFill/>
        </p:spPr>
        <p:txBody>
          <a:bodyPr wrap="square" anchor="t">
            <a:spAutoFit/>
          </a:bodyPr>
          <a:lstStyle/>
          <a:p>
            <a:pPr>
              <a:spcAft>
                <a:spcPts val="200"/>
              </a:spcAft>
            </a:pPr>
            <a:r>
              <a:rPr sz="1250" b="1" i="0">
                <a:solidFill>
                  <a:srgbClr val="2F7DC8"/>
                </a:solidFill>
                <a:latin typeface="Arial"/>
              </a:rPr>
              <a:t>IDENTIFICATION ASSUMPTIONS &amp; DIAGNOSTIC TARGETS</a:t>
            </a:r>
          </a:p>
          <a:p>
            <a:r>
              <a:rPr sz="2700" b="1" i="0">
                <a:solidFill>
                  <a:srgbClr val="1F2A44"/>
                </a:solidFill>
                <a:latin typeface="Arial"/>
              </a:rPr>
              <a:t>Identification: notation and the target</a:t>
            </a:r>
          </a:p>
        </p:txBody>
      </p:sp>
      <p:sp>
        <p:nvSpPr>
          <p:cNvPr id="4" name="Rectangle 3"/>
          <p:cNvSpPr/>
          <p:nvPr/>
        </p:nvSpPr>
        <p:spPr>
          <a:xfrm>
            <a:off x="521207" y="1225296"/>
            <a:ext cx="2103120" cy="41148"/>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17320"/>
            <a:ext cx="6400800" cy="3291840"/>
          </a:xfrm>
          <a:prstGeom prst="rect">
            <a:avLst/>
          </a:prstGeom>
          <a:noFill/>
        </p:spPr>
        <p:txBody>
          <a:bodyPr wrap="square" anchor="t">
            <a:spAutoFit/>
          </a:bodyPr>
          <a:lstStyle/>
          <a:p>
            <a:pPr>
              <a:spcBef>
                <a:spcPts val="400"/>
              </a:spcBef>
              <a:spcAft>
                <a:spcPts val="900"/>
              </a:spcAft>
            </a:pPr>
            <a:r>
              <a:rPr sz="1650" b="1" i="0">
                <a:solidFill>
                  <a:srgbClr val="2F7DC8"/>
                </a:solidFill>
                <a:latin typeface="Arial"/>
              </a:rPr>
              <a:t>Notation</a:t>
            </a:r>
          </a:p>
          <a:p>
            <a:pPr>
              <a:spcAft>
                <a:spcPts val="800"/>
              </a:spcAft>
            </a:pPr>
            <a:r>
              <a:rPr sz="1500" b="1" i="0">
                <a:solidFill>
                  <a:srgbClr val="2F7DC8"/>
                </a:solidFill>
                <a:latin typeface="Arial"/>
              </a:rPr>
              <a:t>▪  </a:t>
            </a:r>
            <a:r>
              <a:rPr sz="1500" b="0" i="0">
                <a:solidFill>
                  <a:srgbClr val="333740"/>
                </a:solidFill>
                <a:latin typeface="Arial"/>
              </a:rPr>
              <a:t>S = 1 the randomized trial, S = 0 the external source; within the trial A = 1 treated, A = 0 control.</a:t>
            </a:r>
          </a:p>
          <a:p>
            <a:pPr>
              <a:spcAft>
                <a:spcPts val="800"/>
              </a:spcAft>
            </a:pPr>
            <a:r>
              <a:rPr sz="1500" b="1" i="0">
                <a:solidFill>
                  <a:srgbClr val="2F7DC8"/>
                </a:solidFill>
                <a:latin typeface="Arial"/>
              </a:rPr>
              <a:t>▪  </a:t>
            </a:r>
            <a:r>
              <a:rPr sz="1500" b="0" i="0">
                <a:solidFill>
                  <a:srgbClr val="333740"/>
                </a:solidFill>
                <a:latin typeface="Arial"/>
              </a:rPr>
              <a:t>Screening compares randomized controls (S=1, A=0) with external controls (S=0), both observed under control.</a:t>
            </a:r>
          </a:p>
          <a:p>
            <a:pPr>
              <a:spcAft>
                <a:spcPts val="800"/>
              </a:spcAft>
            </a:pPr>
            <a:r>
              <a:rPr sz="1500" b="1" i="0">
                <a:solidFill>
                  <a:srgbClr val="2F7DC8"/>
                </a:solidFill>
                <a:latin typeface="Arial"/>
              </a:rPr>
              <a:t>▪  </a:t>
            </a:r>
            <a:r>
              <a:rPr sz="1500" b="0" i="0">
                <a:solidFill>
                  <a:srgbClr val="333740"/>
                </a:solidFill>
                <a:latin typeface="Arial"/>
              </a:rPr>
              <a:t>X = baseline covariates measured comparably in both sources.</a:t>
            </a:r>
          </a:p>
          <a:p>
            <a:pPr>
              <a:spcBef>
                <a:spcPts val="400"/>
              </a:spcBef>
              <a:spcAft>
                <a:spcPts val="900"/>
              </a:spcAft>
            </a:pPr>
            <a:r>
              <a:rPr sz="1650" b="1" i="0">
                <a:solidFill>
                  <a:srgbClr val="2F7DC8"/>
                </a:solidFill>
                <a:latin typeface="Arial"/>
              </a:rPr>
              <a:t>The causal target</a:t>
            </a:r>
          </a:p>
          <a:p>
            <a:pPr>
              <a:spcAft>
                <a:spcPts val="800"/>
              </a:spcAft>
            </a:pPr>
            <a:r>
              <a:rPr sz="1500" b="1" i="0">
                <a:solidFill>
                  <a:srgbClr val="2F7DC8"/>
                </a:solidFill>
                <a:latin typeface="Arial"/>
              </a:rPr>
              <a:t>▪  </a:t>
            </a:r>
            <a:r>
              <a:rPr sz="1500" b="0" i="0">
                <a:solidFill>
                  <a:srgbClr val="333740"/>
                </a:solidFill>
                <a:latin typeface="Arial"/>
              </a:rPr>
              <a:t>A prespecified contrast of the trajectory, in the randomized-trial population:</a:t>
            </a:r>
          </a:p>
        </p:txBody>
      </p:sp>
      <p:sp>
        <p:nvSpPr>
          <p:cNvPr id="6" name="Rectangle 5"/>
          <p:cNvSpPr/>
          <p:nvPr/>
        </p:nvSpPr>
        <p:spPr>
          <a:xfrm>
            <a:off x="530352" y="4160520"/>
            <a:ext cx="4527984" cy="9144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q_estimand.png"/>
          <p:cNvPicPr>
            <a:picLocks noChangeAspect="1"/>
          </p:cNvPicPr>
          <p:nvPr/>
        </p:nvPicPr>
        <p:blipFill>
          <a:blip r:embed="rId2"/>
          <a:stretch>
            <a:fillRect/>
          </a:stretch>
        </p:blipFill>
        <p:spPr>
          <a:xfrm>
            <a:off x="640080" y="4251960"/>
            <a:ext cx="4308528" cy="731520"/>
          </a:xfrm>
          <a:prstGeom prst="rect">
            <a:avLst/>
          </a:prstGeom>
        </p:spPr>
      </p:pic>
      <p:sp>
        <p:nvSpPr>
          <p:cNvPr id="8" name="TextBox 7"/>
          <p:cNvSpPr txBox="1"/>
          <p:nvPr/>
        </p:nvSpPr>
        <p:spPr>
          <a:xfrm>
            <a:off x="640080" y="5166360"/>
            <a:ext cx="10972800" cy="1280160"/>
          </a:xfrm>
          <a:prstGeom prst="rect">
            <a:avLst/>
          </a:prstGeom>
          <a:noFill/>
        </p:spPr>
        <p:txBody>
          <a:bodyPr wrap="square" anchor="t">
            <a:spAutoFit/>
          </a:bodyPr>
          <a:lstStyle/>
          <a:p>
            <a:pPr>
              <a:spcAft>
                <a:spcPts val="800"/>
              </a:spcAft>
            </a:pPr>
            <a:r>
              <a:rPr sz="1400" b="1" i="0">
                <a:solidFill>
                  <a:srgbClr val="1F2A44"/>
                </a:solidFill>
                <a:latin typeface="Arial"/>
              </a:rPr>
              <a:t>Central discipline of this work:</a:t>
            </a:r>
          </a:p>
          <a:p>
            <a:pPr lvl="1">
              <a:spcAft>
                <a:spcPts val="600"/>
              </a:spcAft>
            </a:pPr>
            <a:r>
              <a:rPr sz="1300" b="0" i="0">
                <a:solidFill>
                  <a:srgbClr val="6B7280"/>
                </a:solidFill>
                <a:latin typeface="Arial"/>
              </a:rPr>
              <a:t>–  </a:t>
            </a:r>
            <a:r>
              <a:rPr sz="1300" b="0" i="0">
                <a:solidFill>
                  <a:srgbClr val="333740"/>
                </a:solidFill>
                <a:latin typeface="Arial"/>
              </a:rPr>
              <a:t>separate the causal IDENTIFICATION assumptions (below) from the weaker object a chosen score actually SCREENS.</a:t>
            </a:r>
          </a:p>
          <a:p>
            <a:pPr lvl="1">
              <a:spcAft>
                <a:spcPts val="600"/>
              </a:spcAft>
            </a:pPr>
            <a:r>
              <a:rPr sz="1300" b="0" i="0">
                <a:solidFill>
                  <a:srgbClr val="6B7280"/>
                </a:solidFill>
                <a:latin typeface="Arial"/>
              </a:rPr>
              <a:t>–  </a:t>
            </a:r>
            <a:r>
              <a:rPr sz="1300" b="0" i="0">
                <a:solidFill>
                  <a:srgbClr val="333740"/>
                </a:solidFill>
                <a:latin typeface="Arial"/>
              </a:rPr>
              <a:t>The two are not the same — conflating them is a common error.</a:t>
            </a:r>
          </a:p>
        </p:txBody>
      </p:sp>
      <p:sp>
        <p:nvSpPr>
          <p:cNvPr id="9" name="TextBox 8"/>
          <p:cNvSpPr txBox="1"/>
          <p:nvPr/>
        </p:nvSpPr>
        <p:spPr>
          <a:xfrm>
            <a:off x="11094415" y="6455664"/>
            <a:ext cx="914400" cy="320040"/>
          </a:xfrm>
          <a:prstGeom prst="rect">
            <a:avLst/>
          </a:prstGeom>
          <a:noFill/>
        </p:spPr>
        <p:txBody>
          <a:bodyPr wrap="square" anchor="t">
            <a:spAutoFit/>
          </a:bodyPr>
          <a:lstStyle/>
          <a:p>
            <a:pPr algn="r"/>
            <a:r>
              <a:rPr sz="1100" b="0" i="0">
                <a:solidFill>
                  <a:srgbClr val="6B7280"/>
                </a:solidFill>
                <a:latin typeface="Arial"/>
              </a:rPr>
              <a:t>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5855" cy="932688"/>
          </a:xfrm>
          <a:prstGeom prst="rect">
            <a:avLst/>
          </a:prstGeom>
          <a:noFill/>
        </p:spPr>
        <p:txBody>
          <a:bodyPr wrap="square" anchor="t">
            <a:spAutoFit/>
          </a:bodyPr>
          <a:lstStyle/>
          <a:p>
            <a:pPr>
              <a:spcAft>
                <a:spcPts val="200"/>
              </a:spcAft>
            </a:pPr>
            <a:r>
              <a:rPr sz="1250" b="1" i="0">
                <a:solidFill>
                  <a:srgbClr val="2F7DC8"/>
                </a:solidFill>
                <a:latin typeface="Arial"/>
              </a:rPr>
              <a:t>IDENTIFICATION ASSUMPTIONS &amp; DIAGNOSTIC TARGETS</a:t>
            </a:r>
          </a:p>
          <a:p>
            <a:r>
              <a:rPr sz="2700" b="1" i="0">
                <a:solidFill>
                  <a:srgbClr val="1F2A44"/>
                </a:solidFill>
                <a:latin typeface="Arial"/>
              </a:rPr>
              <a:t>Assumptions</a:t>
            </a:r>
          </a:p>
        </p:txBody>
      </p:sp>
      <p:sp>
        <p:nvSpPr>
          <p:cNvPr id="4" name="Rectangle 3"/>
          <p:cNvSpPr/>
          <p:nvPr/>
        </p:nvSpPr>
        <p:spPr>
          <a:xfrm>
            <a:off x="521207" y="1225296"/>
            <a:ext cx="2103120" cy="41148"/>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0"/>
            <a:ext cx="6446520" cy="1417320"/>
          </a:xfrm>
          <a:prstGeom prst="rect">
            <a:avLst/>
          </a:prstGeom>
          <a:noFill/>
        </p:spPr>
        <p:txBody>
          <a:bodyPr wrap="square" anchor="t">
            <a:spAutoFit/>
          </a:bodyPr>
          <a:lstStyle/>
          <a:p>
            <a:pPr>
              <a:spcBef>
                <a:spcPts val="400"/>
              </a:spcBef>
              <a:spcAft>
                <a:spcPts val="900"/>
              </a:spcAft>
            </a:pPr>
            <a:r>
              <a:rPr sz="1550" b="1" i="0">
                <a:solidFill>
                  <a:srgbClr val="2F7DC8"/>
                </a:solidFill>
                <a:latin typeface="Arial"/>
              </a:rPr>
              <a:t>Assumption 0 — covariate overlap (support)</a:t>
            </a:r>
          </a:p>
          <a:p>
            <a:pPr>
              <a:spcAft>
                <a:spcPts val="800"/>
              </a:spcAft>
            </a:pPr>
            <a:r>
              <a:rPr sz="1400" b="0" i="0">
                <a:solidFill>
                  <a:srgbClr val="333740"/>
                </a:solidFill>
                <a:latin typeface="Arial"/>
              </a:rPr>
              <a:t>The trial's covariate support must be covered by the external source. The covariate DISTRIBUTIONS may still differ — that is covariate shift, which is allowed and corrected by weighting (Part II).</a:t>
            </a:r>
          </a:p>
        </p:txBody>
      </p:sp>
      <p:sp>
        <p:nvSpPr>
          <p:cNvPr id="6" name="Rectangle 5"/>
          <p:cNvSpPr/>
          <p:nvPr/>
        </p:nvSpPr>
        <p:spPr>
          <a:xfrm>
            <a:off x="484632" y="2606040"/>
            <a:ext cx="6478016" cy="7315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q_overlap.png"/>
          <p:cNvPicPr>
            <a:picLocks noChangeAspect="1"/>
          </p:cNvPicPr>
          <p:nvPr/>
        </p:nvPicPr>
        <p:blipFill>
          <a:blip r:embed="rId2"/>
          <a:stretch>
            <a:fillRect/>
          </a:stretch>
        </p:blipFill>
        <p:spPr>
          <a:xfrm>
            <a:off x="594360" y="2697480"/>
            <a:ext cx="6258560" cy="548640"/>
          </a:xfrm>
          <a:prstGeom prst="rect">
            <a:avLst/>
          </a:prstGeom>
        </p:spPr>
      </p:pic>
      <p:sp>
        <p:nvSpPr>
          <p:cNvPr id="8" name="TextBox 7"/>
          <p:cNvSpPr txBox="1"/>
          <p:nvPr/>
        </p:nvSpPr>
        <p:spPr>
          <a:xfrm>
            <a:off x="502920" y="3474720"/>
            <a:ext cx="6492240" cy="2194560"/>
          </a:xfrm>
          <a:prstGeom prst="rect">
            <a:avLst/>
          </a:prstGeom>
          <a:noFill/>
        </p:spPr>
        <p:txBody>
          <a:bodyPr wrap="square" anchor="t">
            <a:spAutoFit/>
          </a:bodyPr>
          <a:lstStyle/>
          <a:p>
            <a:pPr>
              <a:spcBef>
                <a:spcPts val="400"/>
              </a:spcBef>
              <a:spcAft>
                <a:spcPts val="900"/>
              </a:spcAft>
            </a:pPr>
            <a:r>
              <a:rPr sz="1500" b="1" i="0">
                <a:solidFill>
                  <a:srgbClr val="2F7DC8"/>
                </a:solidFill>
                <a:latin typeface="Arial"/>
              </a:rPr>
              <a:t>Compatibility of the control outcome law (nested, weakest → strongest)</a:t>
            </a:r>
          </a:p>
          <a:p>
            <a:pPr lvl="1">
              <a:spcAft>
                <a:spcPts val="600"/>
              </a:spcAft>
            </a:pPr>
            <a:r>
              <a:rPr sz="1250" b="0" i="0">
                <a:solidFill>
                  <a:srgbClr val="6B7280"/>
                </a:solidFill>
                <a:latin typeface="Arial"/>
              </a:rPr>
              <a:t>–  </a:t>
            </a:r>
            <a:r>
              <a:rPr sz="1250" b="0" i="0">
                <a:solidFill>
                  <a:srgbClr val="333740"/>
                </a:solidFill>
                <a:latin typeface="Arial"/>
              </a:rPr>
              <a:t>ME-c: the mean of ONE contrast is equal — and c is the contrast the ESTIMATOR uses. All that IDENTIFICATION needs.</a:t>
            </a:r>
          </a:p>
          <a:p>
            <a:pPr lvl="1">
              <a:spcAft>
                <a:spcPts val="600"/>
              </a:spcAft>
            </a:pPr>
            <a:r>
              <a:rPr sz="1250" b="0" i="0">
                <a:solidFill>
                  <a:srgbClr val="6B7280"/>
                </a:solidFill>
                <a:latin typeface="Arial"/>
              </a:rPr>
              <a:t>–  </a:t>
            </a:r>
            <a:r>
              <a:rPr sz="1250" b="0" i="0">
                <a:solidFill>
                  <a:srgbClr val="333740"/>
                </a:solidFill>
                <a:latin typeface="Arial"/>
              </a:rPr>
              <a:t>VME: the full mean vector is equal at every visit.</a:t>
            </a:r>
          </a:p>
          <a:p>
            <a:pPr lvl="1">
              <a:spcAft>
                <a:spcPts val="600"/>
              </a:spcAft>
            </a:pPr>
            <a:r>
              <a:rPr sz="1250" b="0" i="0">
                <a:solidFill>
                  <a:srgbClr val="6B7280"/>
                </a:solidFill>
                <a:latin typeface="Arial"/>
              </a:rPr>
              <a:t>–  </a:t>
            </a:r>
            <a:r>
              <a:rPr sz="1250" b="0" i="0">
                <a:solidFill>
                  <a:srgbClr val="333740"/>
                </a:solidFill>
                <a:latin typeface="Arial"/>
              </a:rPr>
              <a:t>DE: the full conditional distribution is equal (what ordinary conformal validity nominally asks).</a:t>
            </a:r>
          </a:p>
        </p:txBody>
      </p:sp>
      <p:pic>
        <p:nvPicPr>
          <p:cNvPr id="9" name="Picture 8" descr="eq_nest.png"/>
          <p:cNvPicPr>
            <a:picLocks noChangeAspect="1"/>
          </p:cNvPicPr>
          <p:nvPr/>
        </p:nvPicPr>
        <p:blipFill>
          <a:blip r:embed="rId3"/>
          <a:stretch>
            <a:fillRect/>
          </a:stretch>
        </p:blipFill>
        <p:spPr>
          <a:xfrm>
            <a:off x="640080" y="5760720"/>
            <a:ext cx="5699760" cy="502920"/>
          </a:xfrm>
          <a:prstGeom prst="rect">
            <a:avLst/>
          </a:prstGeom>
        </p:spPr>
      </p:pic>
      <p:pic>
        <p:nvPicPr>
          <p:cNvPr id="10" name="Picture 9" descr="fig_compat.png"/>
          <p:cNvPicPr>
            <a:picLocks noChangeAspect="1"/>
          </p:cNvPicPr>
          <p:nvPr/>
        </p:nvPicPr>
        <p:blipFill>
          <a:blip r:embed="rId4"/>
          <a:stretch>
            <a:fillRect/>
          </a:stretch>
        </p:blipFill>
        <p:spPr>
          <a:xfrm>
            <a:off x="7086600" y="3030222"/>
            <a:ext cx="4709160" cy="1711954"/>
          </a:xfrm>
          <a:prstGeom prst="rect">
            <a:avLst/>
          </a:prstGeom>
        </p:spPr>
      </p:pic>
      <p:sp>
        <p:nvSpPr>
          <p:cNvPr id="11" name="TextBox 10"/>
          <p:cNvSpPr txBox="1"/>
          <p:nvPr/>
        </p:nvSpPr>
        <p:spPr>
          <a:xfrm>
            <a:off x="11094415" y="6455664"/>
            <a:ext cx="914400" cy="320040"/>
          </a:xfrm>
          <a:prstGeom prst="rect">
            <a:avLst/>
          </a:prstGeom>
          <a:noFill/>
        </p:spPr>
        <p:txBody>
          <a:bodyPr wrap="square" anchor="t">
            <a:spAutoFit/>
          </a:bodyPr>
          <a:lstStyle/>
          <a:p>
            <a:pPr algn="r"/>
            <a:r>
              <a:rPr sz="1100" b="0" i="0">
                <a:solidFill>
                  <a:srgbClr val="6B7280"/>
                </a:solidFill>
                <a:latin typeface="Arial"/>
              </a:rPr>
              <a:t>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5855" cy="932688"/>
          </a:xfrm>
          <a:prstGeom prst="rect">
            <a:avLst/>
          </a:prstGeom>
          <a:noFill/>
        </p:spPr>
        <p:txBody>
          <a:bodyPr wrap="square" anchor="t">
            <a:spAutoFit/>
          </a:bodyPr>
          <a:lstStyle/>
          <a:p>
            <a:pPr>
              <a:spcAft>
                <a:spcPts val="200"/>
              </a:spcAft>
            </a:pPr>
            <a:r>
              <a:rPr sz="1250" b="1" i="0">
                <a:solidFill>
                  <a:srgbClr val="2F7DC8"/>
                </a:solidFill>
                <a:latin typeface="Arial"/>
              </a:rPr>
              <a:t>EXISTING DESIGN-STAGE SCREEN</a:t>
            </a:r>
          </a:p>
          <a:p>
            <a:r>
              <a:rPr sz="2700" b="1" i="0">
                <a:solidFill>
                  <a:srgbClr val="1F2A44"/>
                </a:solidFill>
                <a:latin typeface="Arial"/>
              </a:rPr>
              <a:t>Existing tool: design-stage propensity-score trimming</a:t>
            </a:r>
          </a:p>
        </p:txBody>
      </p:sp>
      <p:sp>
        <p:nvSpPr>
          <p:cNvPr id="4" name="Rectangle 3"/>
          <p:cNvSpPr/>
          <p:nvPr/>
        </p:nvSpPr>
        <p:spPr>
          <a:xfrm>
            <a:off x="521207" y="1225296"/>
            <a:ext cx="2103120" cy="41148"/>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17320"/>
            <a:ext cx="6400800" cy="1920240"/>
          </a:xfrm>
          <a:prstGeom prst="rect">
            <a:avLst/>
          </a:prstGeom>
          <a:noFill/>
        </p:spPr>
        <p:txBody>
          <a:bodyPr wrap="square" anchor="t">
            <a:spAutoFit/>
          </a:bodyPr>
          <a:lstStyle/>
          <a:p>
            <a:pPr>
              <a:spcBef>
                <a:spcPts val="400"/>
              </a:spcBef>
              <a:spcAft>
                <a:spcPts val="900"/>
              </a:spcAft>
            </a:pPr>
            <a:r>
              <a:rPr sz="1650" b="1" i="0">
                <a:solidFill>
                  <a:srgbClr val="2F7DC8"/>
                </a:solidFill>
                <a:latin typeface="Arial"/>
              </a:rPr>
              <a:t>What it does</a:t>
            </a:r>
          </a:p>
          <a:p>
            <a:pPr>
              <a:spcAft>
                <a:spcPts val="800"/>
              </a:spcAft>
            </a:pPr>
            <a:r>
              <a:rPr sz="1500" b="1" i="0">
                <a:solidFill>
                  <a:srgbClr val="2F7DC8"/>
                </a:solidFill>
                <a:latin typeface="Arial"/>
              </a:rPr>
              <a:t>▪  </a:t>
            </a:r>
            <a:r>
              <a:rPr sz="1500" b="0" i="0">
                <a:solidFill>
                  <a:srgbClr val="333740"/>
                </a:solidFill>
                <a:latin typeface="Arial"/>
              </a:rPr>
              <a:t>The source propensity score e(X) = Pr(S=1 | X); matching / weighting / trimming balance measured baseline covariates.</a:t>
            </a:r>
          </a:p>
          <a:p>
            <a:pPr>
              <a:spcAft>
                <a:spcPts val="800"/>
              </a:spcAft>
            </a:pPr>
            <a:r>
              <a:rPr sz="1500" b="1" i="0">
                <a:solidFill>
                  <a:srgbClr val="2F7DC8"/>
                </a:solidFill>
                <a:latin typeface="Arial"/>
              </a:rPr>
              <a:t>▪  </a:t>
            </a:r>
            <a:r>
              <a:rPr sz="1500" b="0" i="0">
                <a:solidFill>
                  <a:srgbClr val="333740"/>
                </a:solidFill>
                <a:latin typeface="Arial"/>
              </a:rPr>
              <a:t>Extreme e(X) flags regions where one source has little density relative to the other:</a:t>
            </a:r>
          </a:p>
        </p:txBody>
      </p:sp>
      <p:sp>
        <p:nvSpPr>
          <p:cNvPr id="6" name="Rectangle 5"/>
          <p:cNvSpPr/>
          <p:nvPr/>
        </p:nvSpPr>
        <p:spPr>
          <a:xfrm>
            <a:off x="530352" y="2971800"/>
            <a:ext cx="4969875" cy="86868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q_ps.png"/>
          <p:cNvPicPr>
            <a:picLocks noChangeAspect="1"/>
          </p:cNvPicPr>
          <p:nvPr/>
        </p:nvPicPr>
        <p:blipFill>
          <a:blip r:embed="rId2"/>
          <a:stretch>
            <a:fillRect/>
          </a:stretch>
        </p:blipFill>
        <p:spPr>
          <a:xfrm>
            <a:off x="640080" y="3063240"/>
            <a:ext cx="4750419" cy="685800"/>
          </a:xfrm>
          <a:prstGeom prst="rect">
            <a:avLst/>
          </a:prstGeom>
        </p:spPr>
      </p:pic>
      <p:sp>
        <p:nvSpPr>
          <p:cNvPr id="8" name="TextBox 7"/>
          <p:cNvSpPr txBox="1"/>
          <p:nvPr/>
        </p:nvSpPr>
        <p:spPr>
          <a:xfrm>
            <a:off x="502920" y="3977639"/>
            <a:ext cx="11247120" cy="2468880"/>
          </a:xfrm>
          <a:prstGeom prst="rect">
            <a:avLst/>
          </a:prstGeom>
          <a:noFill/>
        </p:spPr>
        <p:txBody>
          <a:bodyPr wrap="square" anchor="t">
            <a:spAutoFit/>
          </a:bodyPr>
          <a:lstStyle/>
          <a:p>
            <a:pPr>
              <a:spcBef>
                <a:spcPts val="400"/>
              </a:spcBef>
              <a:spcAft>
                <a:spcPts val="900"/>
              </a:spcAft>
            </a:pPr>
            <a:r>
              <a:rPr sz="1600" b="1" i="0">
                <a:solidFill>
                  <a:srgbClr val="2F7DC8"/>
                </a:solidFill>
                <a:latin typeface="Arial"/>
              </a:rPr>
              <a:t>What it does NOT do</a:t>
            </a:r>
          </a:p>
          <a:p>
            <a:pPr>
              <a:spcAft>
                <a:spcPts val="800"/>
              </a:spcAft>
            </a:pPr>
            <a:r>
              <a:rPr sz="1450" b="1" i="0">
                <a:solidFill>
                  <a:srgbClr val="2F7DC8"/>
                </a:solidFill>
                <a:latin typeface="Arial"/>
              </a:rPr>
              <a:t>▪  </a:t>
            </a:r>
            <a:r>
              <a:rPr sz="1450" b="0" i="0">
                <a:solidFill>
                  <a:srgbClr val="333740"/>
                </a:solidFill>
                <a:latin typeface="Arial"/>
              </a:rPr>
              <a:t>Propensity trimming targets covariate OVERLAP / positivity only (Assumption 0).</a:t>
            </a:r>
          </a:p>
          <a:p>
            <a:pPr>
              <a:spcAft>
                <a:spcPts val="800"/>
              </a:spcAft>
            </a:pPr>
            <a:r>
              <a:rPr sz="1450" b="1" i="0">
                <a:solidFill>
                  <a:srgbClr val="2F7DC8"/>
                </a:solidFill>
                <a:latin typeface="Arial"/>
              </a:rPr>
              <a:t>▪  </a:t>
            </a:r>
            <a:r>
              <a:rPr sz="1450" b="0" i="0">
                <a:solidFill>
                  <a:srgbClr val="333740"/>
                </a:solidFill>
                <a:latin typeface="Arial"/>
              </a:rPr>
              <a:t>It does not assess whether the control OUTCOME law Y(0) | X is actually compatible across sources.</a:t>
            </a:r>
          </a:p>
          <a:p>
            <a:pPr>
              <a:spcAft>
                <a:spcPts val="800"/>
              </a:spcAft>
            </a:pPr>
            <a:r>
              <a:rPr sz="1450" b="1" i="0">
                <a:solidFill>
                  <a:srgbClr val="1F2A44"/>
                </a:solidFill>
                <a:latin typeface="Arial"/>
              </a:rPr>
              <a:t>Complementary, not competing:</a:t>
            </a:r>
          </a:p>
          <a:p>
            <a:pPr lvl="1">
              <a:spcAft>
                <a:spcPts val="600"/>
              </a:spcAft>
            </a:pPr>
            <a:r>
              <a:rPr sz="1350" b="0" i="0">
                <a:solidFill>
                  <a:srgbClr val="6B7280"/>
                </a:solidFill>
                <a:latin typeface="Arial"/>
              </a:rPr>
              <a:t>–  </a:t>
            </a:r>
            <a:r>
              <a:rPr sz="1350" b="0" i="0">
                <a:solidFill>
                  <a:srgbClr val="333740"/>
                </a:solidFill>
                <a:latin typeface="Arial"/>
              </a:rPr>
              <a:t>propensity trimming  →  X-overlap;   residual-rank screening  →  outcome-compatibility through the score V.</a:t>
            </a:r>
          </a:p>
          <a:p>
            <a:pPr lvl="1">
              <a:spcAft>
                <a:spcPts val="600"/>
              </a:spcAft>
            </a:pPr>
            <a:r>
              <a:rPr sz="1350" b="0" i="0">
                <a:solidFill>
                  <a:srgbClr val="6B7280"/>
                </a:solidFill>
                <a:latin typeface="Arial"/>
              </a:rPr>
              <a:t>–  </a:t>
            </a:r>
            <a:r>
              <a:rPr sz="1350" b="0" i="0">
                <a:solidFill>
                  <a:srgbClr val="333740"/>
                </a:solidFill>
                <a:latin typeface="Arial"/>
              </a:rPr>
              <a:t>Units outside the X-support should not be rescued by an outcome screen; units WITH good X-support may still have incompatible trajectories — that is what our screen catches next.</a:t>
            </a:r>
          </a:p>
        </p:txBody>
      </p:sp>
      <p:sp>
        <p:nvSpPr>
          <p:cNvPr id="9" name="TextBox 8"/>
          <p:cNvSpPr txBox="1"/>
          <p:nvPr/>
        </p:nvSpPr>
        <p:spPr>
          <a:xfrm>
            <a:off x="11094415" y="6455664"/>
            <a:ext cx="914400" cy="320040"/>
          </a:xfrm>
          <a:prstGeom prst="rect">
            <a:avLst/>
          </a:prstGeom>
          <a:noFill/>
        </p:spPr>
        <p:txBody>
          <a:bodyPr wrap="square" anchor="t">
            <a:spAutoFit/>
          </a:bodyPr>
          <a:lstStyle/>
          <a:p>
            <a:pPr algn="r"/>
            <a:r>
              <a:rPr sz="1100" b="0" i="0">
                <a:solidFill>
                  <a:srgbClr val="6B7280"/>
                </a:solidFill>
                <a:latin typeface="Arial"/>
              </a:rPr>
              <a:t>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5855" cy="932688"/>
          </a:xfrm>
          <a:prstGeom prst="rect">
            <a:avLst/>
          </a:prstGeom>
          <a:noFill/>
        </p:spPr>
        <p:txBody>
          <a:bodyPr wrap="square" anchor="t">
            <a:spAutoFit/>
          </a:bodyPr>
          <a:lstStyle/>
          <a:p>
            <a:pPr>
              <a:spcAft>
                <a:spcPts val="200"/>
              </a:spcAft>
            </a:pPr>
            <a:r>
              <a:rPr sz="1250" b="1" i="0">
                <a:solidFill>
                  <a:srgbClr val="2F7DC8"/>
                </a:solidFill>
                <a:latin typeface="Arial"/>
              </a:rPr>
              <a:t>IDENTIFICATION ASSUMPTIONS &amp; DIAGNOSTIC TARGETS</a:t>
            </a:r>
          </a:p>
          <a:p>
            <a:r>
              <a:rPr sz="2700" b="1" i="0">
                <a:solidFill>
                  <a:srgbClr val="1F2A44"/>
                </a:solidFill>
                <a:latin typeface="Arial"/>
              </a:rPr>
              <a:t>What a residual-rank screen actually checks</a:t>
            </a:r>
          </a:p>
        </p:txBody>
      </p:sp>
      <p:sp>
        <p:nvSpPr>
          <p:cNvPr id="4" name="Rectangle 3"/>
          <p:cNvSpPr/>
          <p:nvPr/>
        </p:nvSpPr>
        <p:spPr>
          <a:xfrm>
            <a:off x="521207" y="1225296"/>
            <a:ext cx="2103120" cy="41148"/>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17320"/>
            <a:ext cx="11247120" cy="4937760"/>
          </a:xfrm>
          <a:prstGeom prst="rect">
            <a:avLst/>
          </a:prstGeom>
          <a:noFill/>
        </p:spPr>
        <p:txBody>
          <a:bodyPr wrap="square" anchor="t">
            <a:spAutoFit/>
          </a:bodyPr>
          <a:lstStyle/>
          <a:p>
            <a:pPr>
              <a:spcBef>
                <a:spcPts val="400"/>
              </a:spcBef>
              <a:spcAft>
                <a:spcPts val="900"/>
              </a:spcAft>
            </a:pPr>
            <a:r>
              <a:rPr sz="1600" b="1" i="0">
                <a:solidFill>
                  <a:srgbClr val="2F7DC8"/>
                </a:solidFill>
                <a:latin typeface="Arial"/>
              </a:rPr>
              <a:t>The object actually screened</a:t>
            </a:r>
          </a:p>
          <a:p>
            <a:pPr>
              <a:spcAft>
                <a:spcPts val="800"/>
              </a:spcAft>
            </a:pPr>
            <a:r>
              <a:rPr sz="1450" b="1" i="0">
                <a:solidFill>
                  <a:srgbClr val="2F7DC8"/>
                </a:solidFill>
                <a:latin typeface="Arial"/>
              </a:rPr>
              <a:t>▪  </a:t>
            </a:r>
            <a:r>
              <a:rPr sz="1450" b="0" i="0">
                <a:solidFill>
                  <a:srgbClr val="333740"/>
                </a:solidFill>
                <a:latin typeface="Arial"/>
              </a:rPr>
              <a:t>A residual-rank screen tests the distribution of the nonconformity SCORE V — an object as strong as ME-c or VME depending on the score, but NEVER the full law DE.</a:t>
            </a:r>
          </a:p>
          <a:p>
            <a:pPr>
              <a:spcAft>
                <a:spcPts val="800"/>
              </a:spcAft>
            </a:pPr>
            <a:r>
              <a:rPr sz="1450" b="1" i="0">
                <a:solidFill>
                  <a:srgbClr val="2F7DC8"/>
                </a:solidFill>
                <a:latin typeface="Arial"/>
              </a:rPr>
              <a:t>▪  </a:t>
            </a:r>
            <a:r>
              <a:rPr sz="1450" b="0" i="0">
                <a:solidFill>
                  <a:srgbClr val="333740"/>
                </a:solidFill>
                <a:latin typeface="Arial"/>
              </a:rPr>
              <a:t>So it controls borrowing bias for the estimand without asserting the (essentially unfalsifiable) full-law equality: it sits between what identification NEEDS (ME-c) and the too-strong DE.</a:t>
            </a:r>
          </a:p>
          <a:p>
            <a:pPr>
              <a:spcBef>
                <a:spcPts val="400"/>
              </a:spcBef>
              <a:spcAft>
                <a:spcPts val="900"/>
              </a:spcAft>
            </a:pPr>
            <a:r>
              <a:rPr sz="1600" b="1" i="0">
                <a:solidFill>
                  <a:srgbClr val="2F7DC8"/>
                </a:solidFill>
                <a:latin typeface="Arial"/>
              </a:rPr>
              <a:t>The score decides what you can see</a:t>
            </a:r>
          </a:p>
          <a:p>
            <a:pPr>
              <a:spcAft>
                <a:spcPts val="800"/>
              </a:spcAft>
            </a:pPr>
            <a:r>
              <a:rPr sz="1450" b="1" i="0">
                <a:solidFill>
                  <a:srgbClr val="2F7DC8"/>
                </a:solidFill>
                <a:latin typeface="Arial"/>
              </a:rPr>
              <a:t>▪  </a:t>
            </a:r>
            <a:r>
              <a:rPr sz="1450" b="0" i="0">
                <a:solidFill>
                  <a:srgbClr val="333740"/>
                </a:solidFill>
                <a:latin typeface="Arial"/>
              </a:rPr>
              <a:t>WHICH score you rank on determines which departures the screen detects: a score aligned to the drift is powerful, a score blind to it has no power (we define and choose the score in Part II).</a:t>
            </a:r>
          </a:p>
          <a:p>
            <a:pPr>
              <a:spcAft>
                <a:spcPts val="800"/>
              </a:spcAft>
            </a:pPr>
            <a:r>
              <a:rPr sz="1450" b="1" i="0">
                <a:solidFill>
                  <a:srgbClr val="1F2A44"/>
                </a:solidFill>
                <a:latin typeface="Arial"/>
              </a:rPr>
              <a:t>Design target: choose the score so that “looks compatible on the score” implies “compatible for the functional your ESTIMATOR uses” — i.e. ME-c indexed by the estimator's a.</a:t>
            </a:r>
          </a:p>
        </p:txBody>
      </p:sp>
      <p:sp>
        <p:nvSpPr>
          <p:cNvPr id="6" name="TextBox 5"/>
          <p:cNvSpPr txBox="1"/>
          <p:nvPr/>
        </p:nvSpPr>
        <p:spPr>
          <a:xfrm>
            <a:off x="11094415" y="6455664"/>
            <a:ext cx="914400" cy="320040"/>
          </a:xfrm>
          <a:prstGeom prst="rect">
            <a:avLst/>
          </a:prstGeom>
          <a:noFill/>
        </p:spPr>
        <p:txBody>
          <a:bodyPr wrap="square" anchor="t">
            <a:spAutoFit/>
          </a:bodyPr>
          <a:lstStyle/>
          <a:p>
            <a:pPr algn="r"/>
            <a:r>
              <a:rPr sz="1100" b="0" i="0">
                <a:solidFill>
                  <a:srgbClr val="6B7280"/>
                </a:solidFill>
                <a:latin typeface="Arial"/>
              </a:rPr>
              <a:t>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61488"/>
            <a:ext cx="12191695" cy="45720"/>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148840"/>
            <a:ext cx="10180015" cy="2011680"/>
          </a:xfrm>
          <a:prstGeom prst="rect">
            <a:avLst/>
          </a:prstGeom>
          <a:noFill/>
        </p:spPr>
        <p:txBody>
          <a:bodyPr wrap="square" anchor="t">
            <a:spAutoFit/>
          </a:bodyPr>
          <a:lstStyle/>
          <a:p>
            <a:pPr>
              <a:spcAft>
                <a:spcPts val="600"/>
              </a:spcAft>
            </a:pPr>
            <a:r>
              <a:rPr sz="1700" b="1" i="0">
                <a:solidFill>
                  <a:srgbClr val="2F7DC8"/>
                </a:solidFill>
                <a:latin typeface="Arial"/>
              </a:rPr>
              <a:t>PART II</a:t>
            </a:r>
          </a:p>
          <a:p>
            <a:r>
              <a:rPr sz="4000" b="1" i="0">
                <a:solidFill>
                  <a:srgbClr val="FFFFFF"/>
                </a:solidFill>
                <a:latin typeface="Arial"/>
              </a:rPr>
              <a:t>The Method, Step by Step</a:t>
            </a:r>
          </a:p>
          <a:p>
            <a:pPr>
              <a:spcBef>
                <a:spcPts val="800"/>
              </a:spcBef>
            </a:pPr>
            <a:r>
              <a:rPr sz="1600" b="0" i="1">
                <a:solidFill>
                  <a:srgbClr val="C9D4E4"/>
                </a:solidFill>
                <a:latin typeface="Arial"/>
              </a:rPr>
              <a:t>From a broad-audience idea to the full formulation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5855" cy="932688"/>
          </a:xfrm>
          <a:prstGeom prst="rect">
            <a:avLst/>
          </a:prstGeom>
          <a:noFill/>
        </p:spPr>
        <p:txBody>
          <a:bodyPr wrap="square" anchor="t">
            <a:spAutoFit/>
          </a:bodyPr>
          <a:lstStyle/>
          <a:p>
            <a:pPr>
              <a:spcAft>
                <a:spcPts val="200"/>
              </a:spcAft>
            </a:pPr>
            <a:r>
              <a:rPr sz="1250" b="1" i="0">
                <a:solidFill>
                  <a:srgbClr val="2F7DC8"/>
                </a:solidFill>
                <a:latin typeface="Arial"/>
              </a:rPr>
              <a:t>BASIC IDEA FOR A BROAD AUDIENCE</a:t>
            </a:r>
          </a:p>
          <a:p>
            <a:r>
              <a:rPr sz="2700" b="1" i="0">
                <a:solidFill>
                  <a:srgbClr val="1F2A44"/>
                </a:solidFill>
                <a:latin typeface="Arial"/>
              </a:rPr>
              <a:t>Building blocks: nonconformity scores &amp; split conformal</a:t>
            </a:r>
          </a:p>
        </p:txBody>
      </p:sp>
      <p:sp>
        <p:nvSpPr>
          <p:cNvPr id="4" name="Rectangle 3"/>
          <p:cNvSpPr/>
          <p:nvPr/>
        </p:nvSpPr>
        <p:spPr>
          <a:xfrm>
            <a:off x="521207" y="1225296"/>
            <a:ext cx="2103120" cy="41148"/>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25880"/>
            <a:ext cx="11292840" cy="2926080"/>
          </a:xfrm>
          <a:prstGeom prst="rect">
            <a:avLst/>
          </a:prstGeom>
          <a:noFill/>
        </p:spPr>
        <p:txBody>
          <a:bodyPr wrap="square" anchor="t">
            <a:spAutoFit/>
          </a:bodyPr>
          <a:lstStyle/>
          <a:p>
            <a:pPr>
              <a:spcBef>
                <a:spcPts val="400"/>
              </a:spcBef>
              <a:spcAft>
                <a:spcPts val="900"/>
              </a:spcAft>
            </a:pPr>
            <a:r>
              <a:rPr sz="1350" b="1" i="0">
                <a:solidFill>
                  <a:srgbClr val="2F7DC8"/>
                </a:solidFill>
                <a:latin typeface="Arial"/>
              </a:rPr>
              <a:t>A nonconformity score</a:t>
            </a:r>
          </a:p>
          <a:p>
            <a:pPr>
              <a:spcAft>
                <a:spcPts val="800"/>
              </a:spcAft>
            </a:pPr>
            <a:r>
              <a:rPr sz="1200" b="0" i="0">
                <a:solidFill>
                  <a:srgbClr val="333740"/>
                </a:solidFill>
                <a:latin typeface="Arial"/>
              </a:rPr>
              <a:t>A scalar V = s(Y, X; model): how UNUSUAL a point is given the fitted model (e.g. a standardized residual; large |V| = far from expected).</a:t>
            </a:r>
          </a:p>
          <a:p>
            <a:pPr>
              <a:spcBef>
                <a:spcPts val="400"/>
              </a:spcBef>
              <a:spcAft>
                <a:spcPts val="900"/>
              </a:spcAft>
            </a:pPr>
            <a:r>
              <a:rPr sz="1350" b="1" i="0">
                <a:solidFill>
                  <a:srgbClr val="2F7DC8"/>
                </a:solidFill>
                <a:latin typeface="Arial"/>
              </a:rPr>
              <a:t>Split conformal</a:t>
            </a:r>
          </a:p>
          <a:p>
            <a:pPr>
              <a:spcAft>
                <a:spcPts val="800"/>
              </a:spcAft>
            </a:pPr>
            <a:r>
              <a:rPr sz="1200" b="0" i="0">
                <a:solidFill>
                  <a:srgbClr val="333740"/>
                </a:solidFill>
                <a:latin typeface="Arial"/>
              </a:rPr>
              <a:t>Fit on a TRAINING fold; score a held-out CALIBRATION fold; rank a new point's score among those calibration scores.</a:t>
            </a:r>
          </a:p>
          <a:p>
            <a:pPr>
              <a:spcBef>
                <a:spcPts val="400"/>
              </a:spcBef>
              <a:spcAft>
                <a:spcPts val="900"/>
              </a:spcAft>
            </a:pPr>
            <a:r>
              <a:rPr sz="1350" b="1" i="0">
                <a:solidFill>
                  <a:srgbClr val="2F7DC8"/>
                </a:solidFill>
                <a:latin typeface="Arial"/>
              </a:rPr>
              <a:t>Why it is valid — and robust to a wrong model</a:t>
            </a:r>
          </a:p>
          <a:p>
            <a:pPr>
              <a:spcAft>
                <a:spcPts val="800"/>
              </a:spcAft>
            </a:pPr>
            <a:r>
              <a:rPr sz="1200" b="0" i="0">
                <a:solidFill>
                  <a:srgbClr val="333740"/>
                </a:solidFill>
                <a:latin typeface="Arial"/>
              </a:rPr>
              <a:t>Under compatibility the new point is EXCHANGEABLE with the calibration controls → uniform rank → valid p-value, for ANY score.</a:t>
            </a:r>
          </a:p>
          <a:p>
            <a:pPr>
              <a:spcAft>
                <a:spcPts val="800"/>
              </a:spcAft>
            </a:pPr>
            <a:r>
              <a:rPr sz="1200" b="0" i="0">
                <a:solidFill>
                  <a:srgbClr val="3E7A1E"/>
                </a:solidFill>
                <a:latin typeface="Arial"/>
              </a:rPr>
              <a:t>Even if the model is MISSPECIFIED, controls and compatible ECs share the SAME score pattern → ranks unchanged → still valid. Misspecification costs POWER, not validity.</a:t>
            </a:r>
          </a:p>
        </p:txBody>
      </p:sp>
      <p:pic>
        <p:nvPicPr>
          <p:cNvPr id="6" name="Picture 5" descr="fig_conformal_intro.png"/>
          <p:cNvPicPr>
            <a:picLocks noChangeAspect="1"/>
          </p:cNvPicPr>
          <p:nvPr/>
        </p:nvPicPr>
        <p:blipFill>
          <a:blip r:embed="rId2"/>
          <a:stretch>
            <a:fillRect/>
          </a:stretch>
        </p:blipFill>
        <p:spPr>
          <a:xfrm>
            <a:off x="3178163" y="4315968"/>
            <a:ext cx="5805192" cy="2194560"/>
          </a:xfrm>
          <a:prstGeom prst="rect">
            <a:avLst/>
          </a:prstGeom>
        </p:spPr>
      </p:pic>
      <p:sp>
        <p:nvSpPr>
          <p:cNvPr id="7" name="TextBox 6"/>
          <p:cNvSpPr txBox="1"/>
          <p:nvPr/>
        </p:nvSpPr>
        <p:spPr>
          <a:xfrm>
            <a:off x="11094415" y="6455664"/>
            <a:ext cx="914400" cy="320040"/>
          </a:xfrm>
          <a:prstGeom prst="rect">
            <a:avLst/>
          </a:prstGeom>
          <a:noFill/>
        </p:spPr>
        <p:txBody>
          <a:bodyPr wrap="square" anchor="t">
            <a:spAutoFit/>
          </a:bodyPr>
          <a:lstStyle/>
          <a:p>
            <a:pPr algn="r"/>
            <a:r>
              <a:rPr sz="1100" b="0" i="0">
                <a:solidFill>
                  <a:srgbClr val="6B7280"/>
                </a:solidFill>
                <a:latin typeface="Arial"/>
              </a:rPr>
              <a:t>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5855" cy="932688"/>
          </a:xfrm>
          <a:prstGeom prst="rect">
            <a:avLst/>
          </a:prstGeom>
          <a:noFill/>
        </p:spPr>
        <p:txBody>
          <a:bodyPr wrap="square" anchor="t">
            <a:spAutoFit/>
          </a:bodyPr>
          <a:lstStyle/>
          <a:p>
            <a:pPr>
              <a:spcAft>
                <a:spcPts val="200"/>
              </a:spcAft>
            </a:pPr>
            <a:r>
              <a:rPr sz="1250" b="1" i="0">
                <a:solidFill>
                  <a:srgbClr val="2F7DC8"/>
                </a:solidFill>
                <a:latin typeface="Arial"/>
              </a:rPr>
              <a:t>BASIC IDEA FOR A BROAD AUDIENCE</a:t>
            </a:r>
          </a:p>
          <a:p>
            <a:r>
              <a:rPr sz="2700" b="1" i="0">
                <a:solidFill>
                  <a:srgbClr val="1F2A44"/>
                </a:solidFill>
                <a:latin typeface="Arial"/>
              </a:rPr>
              <a:t>The core idea, applied to the external controls</a:t>
            </a:r>
          </a:p>
        </p:txBody>
      </p:sp>
      <p:sp>
        <p:nvSpPr>
          <p:cNvPr id="4" name="Rectangle 3"/>
          <p:cNvSpPr/>
          <p:nvPr/>
        </p:nvSpPr>
        <p:spPr>
          <a:xfrm>
            <a:off x="521207" y="1225296"/>
            <a:ext cx="2103120" cy="41148"/>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17320"/>
            <a:ext cx="6035040" cy="1051560"/>
          </a:xfrm>
          <a:prstGeom prst="rect">
            <a:avLst/>
          </a:prstGeom>
          <a:noFill/>
        </p:spPr>
        <p:txBody>
          <a:bodyPr wrap="square" anchor="t">
            <a:spAutoFit/>
          </a:bodyPr>
          <a:lstStyle/>
          <a:p>
            <a:pPr>
              <a:spcAft>
                <a:spcPts val="800"/>
              </a:spcAft>
            </a:pPr>
            <a:r>
              <a:rPr sz="1500" b="1" i="0">
                <a:solidFill>
                  <a:srgbClr val="2F7DC8"/>
                </a:solidFill>
                <a:latin typeface="Arial"/>
              </a:rPr>
              <a:t>▪  </a:t>
            </a:r>
            <a:r>
              <a:rPr sz="1500" b="0" i="0">
                <a:solidFill>
                  <a:srgbClr val="333740"/>
                </a:solidFill>
                <a:latin typeface="Arial"/>
              </a:rPr>
              <a:t>For each external control, compute the same score and RANK it among the randomized-control scores — a conformal p-value:</a:t>
            </a:r>
          </a:p>
        </p:txBody>
      </p:sp>
      <p:sp>
        <p:nvSpPr>
          <p:cNvPr id="6" name="Rectangle 5"/>
          <p:cNvSpPr/>
          <p:nvPr/>
        </p:nvSpPr>
        <p:spPr>
          <a:xfrm>
            <a:off x="530352" y="2286000"/>
            <a:ext cx="3797248" cy="1234439"/>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q_pbasic.png"/>
          <p:cNvPicPr>
            <a:picLocks noChangeAspect="1"/>
          </p:cNvPicPr>
          <p:nvPr/>
        </p:nvPicPr>
        <p:blipFill>
          <a:blip r:embed="rId2"/>
          <a:stretch>
            <a:fillRect/>
          </a:stretch>
        </p:blipFill>
        <p:spPr>
          <a:xfrm>
            <a:off x="640080" y="2377440"/>
            <a:ext cx="3577792" cy="1051560"/>
          </a:xfrm>
          <a:prstGeom prst="rect">
            <a:avLst/>
          </a:prstGeom>
        </p:spPr>
      </p:pic>
      <p:sp>
        <p:nvSpPr>
          <p:cNvPr id="8" name="TextBox 7"/>
          <p:cNvSpPr txBox="1"/>
          <p:nvPr/>
        </p:nvSpPr>
        <p:spPr>
          <a:xfrm>
            <a:off x="502920" y="3657600"/>
            <a:ext cx="6126480" cy="1691640"/>
          </a:xfrm>
          <a:prstGeom prst="rect">
            <a:avLst/>
          </a:prstGeom>
          <a:noFill/>
        </p:spPr>
        <p:txBody>
          <a:bodyPr wrap="square" anchor="t">
            <a:spAutoFit/>
          </a:bodyPr>
          <a:lstStyle/>
          <a:p>
            <a:pPr>
              <a:spcBef>
                <a:spcPts val="400"/>
              </a:spcBef>
              <a:spcAft>
                <a:spcPts val="900"/>
              </a:spcAft>
            </a:pPr>
            <a:r>
              <a:rPr sz="1500" b="1" i="0">
                <a:solidFill>
                  <a:srgbClr val="2F7DC8"/>
                </a:solidFill>
                <a:latin typeface="Arial"/>
              </a:rPr>
              <a:t>Keep the middle, drop BOTH tails</a:t>
            </a:r>
          </a:p>
          <a:p>
            <a:pPr>
              <a:spcAft>
                <a:spcPts val="800"/>
              </a:spcAft>
            </a:pPr>
            <a:r>
              <a:rPr sz="1350" b="0" i="0">
                <a:solidFill>
                  <a:srgbClr val="B02E2E"/>
                </a:solidFill>
                <a:latin typeface="Arial"/>
              </a:rPr>
              <a:t>A score that is extreme in EITHER direction — unusually high OR unusually low — signals incompatibility. So drop an EC whose p-value is too small OR too large, and keep the central band:</a:t>
            </a:r>
          </a:p>
        </p:txBody>
      </p:sp>
      <p:sp>
        <p:nvSpPr>
          <p:cNvPr id="9" name="Rectangle 8"/>
          <p:cNvSpPr/>
          <p:nvPr/>
        </p:nvSpPr>
        <p:spPr>
          <a:xfrm>
            <a:off x="457200" y="5225345"/>
            <a:ext cx="6574536" cy="522108"/>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eq_keepband.png"/>
          <p:cNvPicPr>
            <a:picLocks noChangeAspect="1"/>
          </p:cNvPicPr>
          <p:nvPr/>
        </p:nvPicPr>
        <p:blipFill>
          <a:blip r:embed="rId3"/>
          <a:stretch>
            <a:fillRect/>
          </a:stretch>
        </p:blipFill>
        <p:spPr>
          <a:xfrm>
            <a:off x="566928" y="5316785"/>
            <a:ext cx="6355080" cy="339228"/>
          </a:xfrm>
          <a:prstGeom prst="rect">
            <a:avLst/>
          </a:prstGeom>
        </p:spPr>
      </p:pic>
      <p:sp>
        <p:nvSpPr>
          <p:cNvPr id="11" name="TextBox 10"/>
          <p:cNvSpPr txBox="1"/>
          <p:nvPr/>
        </p:nvSpPr>
        <p:spPr>
          <a:xfrm>
            <a:off x="502920" y="5897880"/>
            <a:ext cx="6126480" cy="640080"/>
          </a:xfrm>
          <a:prstGeom prst="rect">
            <a:avLst/>
          </a:prstGeom>
          <a:noFill/>
        </p:spPr>
        <p:txBody>
          <a:bodyPr wrap="square" anchor="t">
            <a:spAutoFit/>
          </a:bodyPr>
          <a:lstStyle/>
          <a:p>
            <a:pPr>
              <a:spcAft>
                <a:spcPts val="800"/>
              </a:spcAft>
            </a:pPr>
            <a:r>
              <a:rPr sz="1300" b="1" i="0">
                <a:solidFill>
                  <a:srgbClr val="1F2A44"/>
                </a:solidFill>
                <a:latin typeface="Arial"/>
              </a:rPr>
              <a:t>The fitted model supplies the ORDERING; the randomized controls supply how extreme that ordering is.</a:t>
            </a:r>
          </a:p>
        </p:txBody>
      </p:sp>
      <p:pic>
        <p:nvPicPr>
          <p:cNvPr id="12" name="Picture 11" descr="fig_rank.png"/>
          <p:cNvPicPr>
            <a:picLocks noChangeAspect="1"/>
          </p:cNvPicPr>
          <p:nvPr/>
        </p:nvPicPr>
        <p:blipFill>
          <a:blip r:embed="rId4"/>
          <a:stretch>
            <a:fillRect/>
          </a:stretch>
        </p:blipFill>
        <p:spPr>
          <a:xfrm>
            <a:off x="6446520" y="2731981"/>
            <a:ext cx="5349240" cy="2216997"/>
          </a:xfrm>
          <a:prstGeom prst="rect">
            <a:avLst/>
          </a:prstGeom>
        </p:spPr>
      </p:pic>
      <p:sp>
        <p:nvSpPr>
          <p:cNvPr id="13" name="TextBox 12"/>
          <p:cNvSpPr txBox="1"/>
          <p:nvPr/>
        </p:nvSpPr>
        <p:spPr>
          <a:xfrm>
            <a:off x="11094415" y="6455664"/>
            <a:ext cx="914400" cy="320040"/>
          </a:xfrm>
          <a:prstGeom prst="rect">
            <a:avLst/>
          </a:prstGeom>
          <a:noFill/>
        </p:spPr>
        <p:txBody>
          <a:bodyPr wrap="square" anchor="t">
            <a:spAutoFit/>
          </a:bodyPr>
          <a:lstStyle/>
          <a:p>
            <a:pPr algn="r"/>
            <a:r>
              <a:rPr sz="1100" b="0" i="0">
                <a:solidFill>
                  <a:srgbClr val="6B7280"/>
                </a:solidFill>
                <a:latin typeface="Arial"/>
              </a:rPr>
              <a:t>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5855" cy="932688"/>
          </a:xfrm>
          <a:prstGeom prst="rect">
            <a:avLst/>
          </a:prstGeom>
          <a:noFill/>
        </p:spPr>
        <p:txBody>
          <a:bodyPr wrap="square" anchor="t">
            <a:spAutoFit/>
          </a:bodyPr>
          <a:lstStyle/>
          <a:p>
            <a:pPr>
              <a:spcAft>
                <a:spcPts val="200"/>
              </a:spcAft>
            </a:pPr>
            <a:r>
              <a:rPr sz="1250" b="1" i="0">
                <a:solidFill>
                  <a:srgbClr val="2F7DC8"/>
                </a:solidFill>
                <a:latin typeface="Arial"/>
              </a:rPr>
              <a:t>WHY RANK CALIBRATION IS PREFERABLE</a:t>
            </a:r>
          </a:p>
          <a:p>
            <a:r>
              <a:rPr sz="2700" b="1" i="0">
                <a:solidFill>
                  <a:srgbClr val="1F2A44"/>
                </a:solidFill>
                <a:latin typeface="Arial"/>
              </a:rPr>
              <a:t>Why rank, not a raw residual — (1) distribution-free</a:t>
            </a:r>
          </a:p>
        </p:txBody>
      </p:sp>
      <p:sp>
        <p:nvSpPr>
          <p:cNvPr id="4" name="Rectangle 3"/>
          <p:cNvSpPr/>
          <p:nvPr/>
        </p:nvSpPr>
        <p:spPr>
          <a:xfrm>
            <a:off x="521207" y="1225296"/>
            <a:ext cx="2103120" cy="41148"/>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0"/>
            <a:ext cx="6035040" cy="1280160"/>
          </a:xfrm>
          <a:prstGeom prst="rect">
            <a:avLst/>
          </a:prstGeom>
          <a:noFill/>
        </p:spPr>
        <p:txBody>
          <a:bodyPr wrap="square" anchor="t">
            <a:spAutoFit/>
          </a:bodyPr>
          <a:lstStyle/>
          <a:p>
            <a:pPr>
              <a:spcAft>
                <a:spcPts val="800"/>
              </a:spcAft>
            </a:pPr>
            <a:r>
              <a:rPr sz="1500" b="1" i="0">
                <a:solidFill>
                  <a:srgbClr val="2F7DC8"/>
                </a:solidFill>
                <a:latin typeface="Arial"/>
              </a:rPr>
              <a:t>▪  </a:t>
            </a:r>
            <a:r>
              <a:rPr sz="1500" b="0" i="0">
                <a:solidFill>
                  <a:srgbClr val="333740"/>
                </a:solidFill>
                <a:latin typeface="Arial"/>
              </a:rPr>
              <a:t>After cross-fitting, regard the working model as fixed. Under compatibility the control and EC scores are EXCHANGEABLE, so their conditional CDFs match:</a:t>
            </a:r>
          </a:p>
        </p:txBody>
      </p:sp>
      <p:sp>
        <p:nvSpPr>
          <p:cNvPr id="6" name="Rectangle 5"/>
          <p:cNvSpPr/>
          <p:nvPr/>
        </p:nvSpPr>
        <p:spPr>
          <a:xfrm>
            <a:off x="438912" y="2660123"/>
            <a:ext cx="6254496" cy="577633"/>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q_exch.png"/>
          <p:cNvPicPr>
            <a:picLocks noChangeAspect="1"/>
          </p:cNvPicPr>
          <p:nvPr/>
        </p:nvPicPr>
        <p:blipFill>
          <a:blip r:embed="rId2"/>
          <a:stretch>
            <a:fillRect/>
          </a:stretch>
        </p:blipFill>
        <p:spPr>
          <a:xfrm>
            <a:off x="548640" y="2751563"/>
            <a:ext cx="6035040" cy="394753"/>
          </a:xfrm>
          <a:prstGeom prst="rect">
            <a:avLst/>
          </a:prstGeom>
        </p:spPr>
      </p:pic>
      <p:sp>
        <p:nvSpPr>
          <p:cNvPr id="8" name="TextBox 7"/>
          <p:cNvSpPr txBox="1"/>
          <p:nvPr/>
        </p:nvSpPr>
        <p:spPr>
          <a:xfrm>
            <a:off x="502920" y="3520440"/>
            <a:ext cx="6035040" cy="2834640"/>
          </a:xfrm>
          <a:prstGeom prst="rect">
            <a:avLst/>
          </a:prstGeom>
          <a:noFill/>
        </p:spPr>
        <p:txBody>
          <a:bodyPr wrap="square" anchor="t">
            <a:spAutoFit/>
          </a:bodyPr>
          <a:lstStyle/>
          <a:p>
            <a:pPr>
              <a:spcAft>
                <a:spcPts val="800"/>
              </a:spcAft>
            </a:pPr>
            <a:r>
              <a:rPr sz="1400" b="1" i="0">
                <a:solidFill>
                  <a:srgbClr val="1F2A44"/>
                </a:solidFill>
                <a:latin typeface="Arial"/>
              </a:rPr>
              <a:t>This holds for ANY fixed score — even one from a misspecified model.</a:t>
            </a:r>
          </a:p>
          <a:p>
            <a:pPr>
              <a:spcAft>
                <a:spcPts val="800"/>
              </a:spcAft>
            </a:pPr>
            <a:r>
              <a:rPr sz="1400" b="0" i="0">
                <a:solidFill>
                  <a:srgbClr val="333740"/>
                </a:solidFill>
                <a:latin typeface="Arial"/>
              </a:rPr>
              <a:t>⇒ the rank is uniform, the p-value super-uniform (valid): no normality, no chi-square reference, no numeric threshold to trust.</a:t>
            </a:r>
          </a:p>
          <a:p>
            <a:pPr>
              <a:spcBef>
                <a:spcPts val="400"/>
              </a:spcBef>
              <a:spcAft>
                <a:spcPts val="900"/>
              </a:spcAft>
            </a:pPr>
            <a:r>
              <a:rPr sz="1550" b="1" i="0">
                <a:solidFill>
                  <a:srgbClr val="2F7DC8"/>
                </a:solidFill>
                <a:latin typeface="Arial"/>
              </a:rPr>
              <a:t>Contrast with a fixed residual cutoff</a:t>
            </a:r>
          </a:p>
          <a:p>
            <a:pPr>
              <a:spcAft>
                <a:spcPts val="800"/>
              </a:spcAft>
            </a:pPr>
            <a:r>
              <a:rPr sz="1400" b="1" i="0">
                <a:solidFill>
                  <a:srgbClr val="2F7DC8"/>
                </a:solidFill>
                <a:latin typeface="Arial"/>
              </a:rPr>
              <a:t>▪  </a:t>
            </a:r>
            <a:r>
              <a:rPr sz="1400" b="0" i="0">
                <a:solidFill>
                  <a:srgbClr val="333740"/>
                </a:solidFill>
                <a:latin typeface="Arial"/>
              </a:rPr>
              <a:t>A cutoff |r| &gt; 2σ̂ must trust the model's SCALE σ̂. If the model understates the spread, the cutoff excludes many COMPATIBLE controls (right).</a:t>
            </a:r>
          </a:p>
        </p:txBody>
      </p:sp>
      <p:pic>
        <p:nvPicPr>
          <p:cNvPr id="9" name="Picture 8" descr="fig_rankres.png"/>
          <p:cNvPicPr>
            <a:picLocks noChangeAspect="1"/>
          </p:cNvPicPr>
          <p:nvPr/>
        </p:nvPicPr>
        <p:blipFill>
          <a:blip r:embed="rId3"/>
          <a:stretch>
            <a:fillRect/>
          </a:stretch>
        </p:blipFill>
        <p:spPr>
          <a:xfrm>
            <a:off x="6446520" y="2767576"/>
            <a:ext cx="5349240" cy="1414286"/>
          </a:xfrm>
          <a:prstGeom prst="rect">
            <a:avLst/>
          </a:prstGeom>
        </p:spPr>
      </p:pic>
      <p:sp>
        <p:nvSpPr>
          <p:cNvPr id="10" name="TextBox 9"/>
          <p:cNvSpPr txBox="1"/>
          <p:nvPr/>
        </p:nvSpPr>
        <p:spPr>
          <a:xfrm>
            <a:off x="11094415" y="6455664"/>
            <a:ext cx="914400" cy="320040"/>
          </a:xfrm>
          <a:prstGeom prst="rect">
            <a:avLst/>
          </a:prstGeom>
          <a:noFill/>
        </p:spPr>
        <p:txBody>
          <a:bodyPr wrap="square" anchor="t">
            <a:spAutoFit/>
          </a:bodyPr>
          <a:lstStyle/>
          <a:p>
            <a:pPr algn="r"/>
            <a:r>
              <a:rPr sz="1100" b="0" i="0">
                <a:solidFill>
                  <a:srgbClr val="6B7280"/>
                </a:solidFill>
                <a:latin typeface="Arial"/>
              </a:rPr>
              <a:t>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5855" cy="932688"/>
          </a:xfrm>
          <a:prstGeom prst="rect">
            <a:avLst/>
          </a:prstGeom>
          <a:noFill/>
        </p:spPr>
        <p:txBody>
          <a:bodyPr wrap="square" anchor="t">
            <a:spAutoFit/>
          </a:bodyPr>
          <a:lstStyle/>
          <a:p>
            <a:pPr>
              <a:spcAft>
                <a:spcPts val="200"/>
              </a:spcAft>
            </a:pPr>
            <a:r>
              <a:rPr sz="1250" b="1" i="0">
                <a:solidFill>
                  <a:srgbClr val="2F7DC8"/>
                </a:solidFill>
                <a:latin typeface="Arial"/>
              </a:rPr>
              <a:t>THE CORE REASON TO RANK, NOT THRESHOLD</a:t>
            </a:r>
          </a:p>
          <a:p>
            <a:r>
              <a:rPr sz="2700" b="1" i="0">
                <a:solidFill>
                  <a:srgbClr val="1F2A44"/>
                </a:solidFill>
                <a:latin typeface="Arial"/>
              </a:rPr>
              <a:t>Why rank — (2) robust to model misspecification</a:t>
            </a:r>
          </a:p>
        </p:txBody>
      </p:sp>
      <p:sp>
        <p:nvSpPr>
          <p:cNvPr id="4" name="Rectangle 3"/>
          <p:cNvSpPr/>
          <p:nvPr/>
        </p:nvSpPr>
        <p:spPr>
          <a:xfrm>
            <a:off x="521207" y="1225296"/>
            <a:ext cx="2103120" cy="41148"/>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0"/>
            <a:ext cx="11247120" cy="2651760"/>
          </a:xfrm>
          <a:prstGeom prst="rect">
            <a:avLst/>
          </a:prstGeom>
          <a:noFill/>
        </p:spPr>
        <p:txBody>
          <a:bodyPr wrap="square" anchor="t">
            <a:spAutoFit/>
          </a:bodyPr>
          <a:lstStyle/>
          <a:p>
            <a:pPr>
              <a:spcBef>
                <a:spcPts val="400"/>
              </a:spcBef>
              <a:spcAft>
                <a:spcPts val="900"/>
              </a:spcAft>
            </a:pPr>
            <a:r>
              <a:rPr sz="1600" b="1" i="0">
                <a:solidFill>
                  <a:srgbClr val="2F7DC8"/>
                </a:solidFill>
                <a:latin typeface="Arial"/>
              </a:rPr>
              <a:t>The deeper reason to rank rather than threshold the residual value</a:t>
            </a:r>
          </a:p>
          <a:p>
            <a:pPr>
              <a:spcAft>
                <a:spcPts val="800"/>
              </a:spcAft>
            </a:pPr>
            <a:r>
              <a:rPr sz="1450" b="1" i="0">
                <a:solidFill>
                  <a:srgbClr val="2F7DC8"/>
                </a:solidFill>
                <a:latin typeface="Arial"/>
              </a:rPr>
              <a:t>▪  </a:t>
            </a:r>
            <a:r>
              <a:rPr sz="1450" b="0" i="0">
                <a:solidFill>
                  <a:srgbClr val="333740"/>
                </a:solidFill>
                <a:latin typeface="Arial"/>
              </a:rPr>
              <a:t>A wrong working mean model shifts EVERY compatible residual — randomized controls AND compatible ECs alike — by the SAME bias b (they share the true conditional law, so the same misspecified score map applies to both).</a:t>
            </a:r>
          </a:p>
          <a:p>
            <a:pPr>
              <a:spcAft>
                <a:spcPts val="800"/>
              </a:spcAft>
            </a:pPr>
            <a:r>
              <a:rPr sz="1450" b="0" i="0">
                <a:solidFill>
                  <a:srgbClr val="B02E2E"/>
                </a:solidFill>
                <a:latin typeface="Arial"/>
              </a:rPr>
              <a:t>A fixed cutoff reads that shared bias as incompatibility  →  excludes most compatible controls.</a:t>
            </a:r>
          </a:p>
          <a:p>
            <a:pPr>
              <a:spcAft>
                <a:spcPts val="800"/>
              </a:spcAft>
            </a:pPr>
            <a:r>
              <a:rPr sz="1450" b="0" i="0">
                <a:solidFill>
                  <a:srgbClr val="3E7A1E"/>
                </a:solidFill>
                <a:latin typeface="Arial"/>
              </a:rPr>
              <a:t>Ranking against the controls: their quantile carries the same bias, so it MOVES with them  →  the shared error cancels  →  only genuinely different ECs are flagged.</a:t>
            </a:r>
          </a:p>
          <a:p>
            <a:pPr>
              <a:spcAft>
                <a:spcPts val="800"/>
              </a:spcAft>
            </a:pPr>
            <a:r>
              <a:rPr sz="1450" b="1" i="0">
                <a:solidFill>
                  <a:srgbClr val="1F2A44"/>
                </a:solidFill>
                <a:latin typeface="Arial"/>
              </a:rPr>
              <a:t>This is the conformal exchangeability guarantee — valid p-values under ANY working model, correct or not. Scale-robustness (previous slide) is a special case.</a:t>
            </a:r>
          </a:p>
        </p:txBody>
      </p:sp>
      <p:pic>
        <p:nvPicPr>
          <p:cNvPr id="6" name="Picture 5" descr="fig_misspec.png"/>
          <p:cNvPicPr>
            <a:picLocks noChangeAspect="1"/>
          </p:cNvPicPr>
          <p:nvPr/>
        </p:nvPicPr>
        <p:blipFill>
          <a:blip r:embed="rId2"/>
          <a:stretch>
            <a:fillRect/>
          </a:stretch>
        </p:blipFill>
        <p:spPr>
          <a:xfrm>
            <a:off x="1938658" y="4114800"/>
            <a:ext cx="8284203" cy="2286000"/>
          </a:xfrm>
          <a:prstGeom prst="rect">
            <a:avLst/>
          </a:prstGeom>
        </p:spPr>
      </p:pic>
      <p:sp>
        <p:nvSpPr>
          <p:cNvPr id="7" name="TextBox 6"/>
          <p:cNvSpPr txBox="1"/>
          <p:nvPr/>
        </p:nvSpPr>
        <p:spPr>
          <a:xfrm>
            <a:off x="11094415" y="6455664"/>
            <a:ext cx="914400" cy="320040"/>
          </a:xfrm>
          <a:prstGeom prst="rect">
            <a:avLst/>
          </a:prstGeom>
          <a:noFill/>
        </p:spPr>
        <p:txBody>
          <a:bodyPr wrap="square" anchor="t">
            <a:spAutoFit/>
          </a:bodyPr>
          <a:lstStyle/>
          <a:p>
            <a:pPr algn="r"/>
            <a:r>
              <a:rPr sz="1100" b="0" i="0">
                <a:solidFill>
                  <a:srgbClr val="6B7280"/>
                </a:solidFill>
                <a:latin typeface="Arial"/>
              </a:rPr>
              <a:t>11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5855" cy="932688"/>
          </a:xfrm>
          <a:prstGeom prst="rect">
            <a:avLst/>
          </a:prstGeom>
          <a:noFill/>
        </p:spPr>
        <p:txBody>
          <a:bodyPr wrap="square" anchor="t">
            <a:spAutoFit/>
          </a:bodyPr>
          <a:lstStyle/>
          <a:p>
            <a:pPr>
              <a:spcAft>
                <a:spcPts val="200"/>
              </a:spcAft>
            </a:pPr>
            <a:r>
              <a:rPr sz="1250" b="1" i="0">
                <a:solidFill>
                  <a:srgbClr val="2F7DC8"/>
                </a:solidFill>
                <a:latin typeface="Arial"/>
              </a:rPr>
              <a:t>PROPOSED FULL METHOD</a:t>
            </a:r>
          </a:p>
          <a:p>
            <a:r>
              <a:rPr sz="2700" b="1" i="0">
                <a:solidFill>
                  <a:srgbClr val="1F2A44"/>
                </a:solidFill>
                <a:latin typeface="Arial"/>
              </a:rPr>
              <a:t>The full method: six steps</a:t>
            </a:r>
          </a:p>
        </p:txBody>
      </p:sp>
      <p:sp>
        <p:nvSpPr>
          <p:cNvPr id="4" name="Rectangle 3"/>
          <p:cNvSpPr/>
          <p:nvPr/>
        </p:nvSpPr>
        <p:spPr>
          <a:xfrm>
            <a:off x="521207" y="1225296"/>
            <a:ext cx="2103120" cy="41148"/>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pipeline.png"/>
          <p:cNvPicPr>
            <a:picLocks noChangeAspect="1"/>
          </p:cNvPicPr>
          <p:nvPr/>
        </p:nvPicPr>
        <p:blipFill>
          <a:blip r:embed="rId2"/>
          <a:stretch>
            <a:fillRect/>
          </a:stretch>
        </p:blipFill>
        <p:spPr>
          <a:xfrm>
            <a:off x="457200" y="1683407"/>
            <a:ext cx="11247120" cy="2119585"/>
          </a:xfrm>
          <a:prstGeom prst="rect">
            <a:avLst/>
          </a:prstGeom>
        </p:spPr>
      </p:pic>
      <p:sp>
        <p:nvSpPr>
          <p:cNvPr id="6" name="TextBox 5"/>
          <p:cNvSpPr txBox="1"/>
          <p:nvPr/>
        </p:nvSpPr>
        <p:spPr>
          <a:xfrm>
            <a:off x="640080" y="4343400"/>
            <a:ext cx="10972800" cy="2011680"/>
          </a:xfrm>
          <a:prstGeom prst="rect">
            <a:avLst/>
          </a:prstGeom>
          <a:noFill/>
        </p:spPr>
        <p:txBody>
          <a:bodyPr wrap="square" anchor="t">
            <a:spAutoFit/>
          </a:bodyPr>
          <a:lstStyle/>
          <a:p>
            <a:pPr>
              <a:spcAft>
                <a:spcPts val="800"/>
              </a:spcAft>
            </a:pPr>
            <a:r>
              <a:rPr sz="1450" b="0" i="0">
                <a:solidFill>
                  <a:srgbClr val="333740"/>
                </a:solidFill>
                <a:latin typeface="Arial"/>
              </a:rPr>
              <a:t>LEARN what a normal control looks like:  (1) fit a control-mean model on RCT controls,  (2) residualize,  (3) reduce to an estimator-aligned score.</a:t>
            </a:r>
          </a:p>
          <a:p>
            <a:pPr>
              <a:spcAft>
                <a:spcPts val="800"/>
              </a:spcAft>
            </a:pPr>
            <a:r>
              <a:rPr sz="1450" b="0" i="0">
                <a:solidFill>
                  <a:srgbClr val="333740"/>
                </a:solidFill>
                <a:latin typeface="Arial"/>
              </a:rPr>
              <a:t>FLAG the abnormal ECs:  (4) rank each EC against the RCT controls with covariate-shift weighting,  (5) screen with a symmetric, adaptive threshold.</a:t>
            </a:r>
          </a:p>
          <a:p>
            <a:pPr>
              <a:spcAft>
                <a:spcPts val="800"/>
              </a:spcAft>
            </a:pPr>
            <a:r>
              <a:rPr sz="1450" b="1" i="0">
                <a:solidFill>
                  <a:srgbClr val="1F2A44"/>
                </a:solidFill>
                <a:latin typeface="Arial"/>
              </a:rPr>
              <a:t>BORROW the rest:  (6) refit a transported AIPW on RCT controls + retained ECs  →  τ̂ with a confidence interval.</a:t>
            </a:r>
          </a:p>
        </p:txBody>
      </p:sp>
      <p:sp>
        <p:nvSpPr>
          <p:cNvPr id="7" name="TextBox 6"/>
          <p:cNvSpPr txBox="1"/>
          <p:nvPr/>
        </p:nvSpPr>
        <p:spPr>
          <a:xfrm>
            <a:off x="11094415" y="6455664"/>
            <a:ext cx="914400" cy="320040"/>
          </a:xfrm>
          <a:prstGeom prst="rect">
            <a:avLst/>
          </a:prstGeom>
          <a:noFill/>
        </p:spPr>
        <p:txBody>
          <a:bodyPr wrap="square" anchor="t">
            <a:spAutoFit/>
          </a:bodyPr>
          <a:lstStyle/>
          <a:p>
            <a:pPr algn="r"/>
            <a:r>
              <a:rPr sz="1100" b="0" i="0">
                <a:solidFill>
                  <a:srgbClr val="6B7280"/>
                </a:solidFill>
                <a:latin typeface="Arial"/>
              </a:rPr>
              <a:t>12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5855" cy="932688"/>
          </a:xfrm>
          <a:prstGeom prst="rect">
            <a:avLst/>
          </a:prstGeom>
          <a:noFill/>
        </p:spPr>
        <p:txBody>
          <a:bodyPr wrap="square" anchor="t">
            <a:spAutoFit/>
          </a:bodyPr>
          <a:lstStyle/>
          <a:p>
            <a:pPr>
              <a:spcAft>
                <a:spcPts val="200"/>
              </a:spcAft>
            </a:pPr>
            <a:r>
              <a:rPr sz="1250" b="1" i="0">
                <a:solidFill>
                  <a:srgbClr val="2F7DC8"/>
                </a:solidFill>
                <a:latin typeface="Arial"/>
              </a:rPr>
              <a:t>PROPOSED FULL METHOD</a:t>
            </a:r>
          </a:p>
          <a:p>
            <a:r>
              <a:rPr sz="2700" b="1" i="0">
                <a:solidFill>
                  <a:srgbClr val="1F2A44"/>
                </a:solidFill>
                <a:latin typeface="Arial"/>
              </a:rPr>
              <a:t>Steps 1–2: estimand and working models</a:t>
            </a:r>
          </a:p>
        </p:txBody>
      </p:sp>
      <p:sp>
        <p:nvSpPr>
          <p:cNvPr id="4" name="Rectangle 3"/>
          <p:cNvSpPr/>
          <p:nvPr/>
        </p:nvSpPr>
        <p:spPr>
          <a:xfrm>
            <a:off x="521207" y="1225296"/>
            <a:ext cx="2103120" cy="41148"/>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17320"/>
            <a:ext cx="11155680" cy="1554480"/>
          </a:xfrm>
          <a:prstGeom prst="rect">
            <a:avLst/>
          </a:prstGeom>
          <a:noFill/>
        </p:spPr>
        <p:txBody>
          <a:bodyPr wrap="square" anchor="t">
            <a:spAutoFit/>
          </a:bodyPr>
          <a:lstStyle/>
          <a:p>
            <a:pPr>
              <a:spcBef>
                <a:spcPts val="400"/>
              </a:spcBef>
              <a:spcAft>
                <a:spcPts val="900"/>
              </a:spcAft>
            </a:pPr>
            <a:r>
              <a:rPr sz="1650" b="1" i="0">
                <a:solidFill>
                  <a:srgbClr val="2F7DC8"/>
                </a:solidFill>
                <a:latin typeface="Arial"/>
              </a:rPr>
              <a:t>Step 1 — prespecify the estimand &amp; harmonize the data</a:t>
            </a:r>
          </a:p>
          <a:p>
            <a:pPr>
              <a:spcAft>
                <a:spcPts val="800"/>
              </a:spcAft>
            </a:pPr>
            <a:r>
              <a:rPr sz="1500" b="1" i="0">
                <a:solidFill>
                  <a:srgbClr val="2F7DC8"/>
                </a:solidFill>
                <a:latin typeface="Arial"/>
              </a:rPr>
              <a:t>▪  </a:t>
            </a:r>
            <a:r>
              <a:rPr sz="1500" b="0" i="0">
                <a:solidFill>
                  <a:srgbClr val="333740"/>
                </a:solidFill>
                <a:latin typeface="Arial"/>
              </a:rPr>
              <a:t>Choose the primary contrast c and target τ_c; two contrasts are used later so a given drift projects onto them differently:</a:t>
            </a:r>
          </a:p>
        </p:txBody>
      </p:sp>
      <p:sp>
        <p:nvSpPr>
          <p:cNvPr id="6" name="Rectangle 5"/>
          <p:cNvSpPr/>
          <p:nvPr/>
        </p:nvSpPr>
        <p:spPr>
          <a:xfrm>
            <a:off x="530352" y="2834640"/>
            <a:ext cx="7732259" cy="822959"/>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q_estimands.png"/>
          <p:cNvPicPr>
            <a:picLocks noChangeAspect="1"/>
          </p:cNvPicPr>
          <p:nvPr/>
        </p:nvPicPr>
        <p:blipFill>
          <a:blip r:embed="rId2"/>
          <a:stretch>
            <a:fillRect/>
          </a:stretch>
        </p:blipFill>
        <p:spPr>
          <a:xfrm>
            <a:off x="640080" y="2926080"/>
            <a:ext cx="7512803" cy="640080"/>
          </a:xfrm>
          <a:prstGeom prst="rect">
            <a:avLst/>
          </a:prstGeom>
        </p:spPr>
      </p:pic>
      <p:sp>
        <p:nvSpPr>
          <p:cNvPr id="8" name="TextBox 7"/>
          <p:cNvSpPr txBox="1"/>
          <p:nvPr/>
        </p:nvSpPr>
        <p:spPr>
          <a:xfrm>
            <a:off x="502920" y="3749039"/>
            <a:ext cx="11247120" cy="2651760"/>
          </a:xfrm>
          <a:prstGeom prst="rect">
            <a:avLst/>
          </a:prstGeom>
          <a:noFill/>
        </p:spPr>
        <p:txBody>
          <a:bodyPr wrap="square" anchor="t">
            <a:spAutoFit/>
          </a:bodyPr>
          <a:lstStyle/>
          <a:p>
            <a:pPr lvl="1">
              <a:spcAft>
                <a:spcPts val="600"/>
              </a:spcAft>
            </a:pPr>
            <a:r>
              <a:rPr sz="1350" b="0" i="0">
                <a:solidFill>
                  <a:srgbClr val="6B7280"/>
                </a:solidFill>
                <a:latin typeface="Arial"/>
              </a:rPr>
              <a:t>–  </a:t>
            </a:r>
            <a:r>
              <a:rPr sz="1350" b="0" i="0">
                <a:solidFill>
                  <a:srgbClr val="333740"/>
                </a:solidFill>
                <a:latin typeface="Arial"/>
              </a:rPr>
              <a:t>Align eligibility, endpoint definitions, visit windows, baseline covariates, data-quality rules; check X-overlap.</a:t>
            </a:r>
          </a:p>
          <a:p>
            <a:pPr>
              <a:spcBef>
                <a:spcPts val="400"/>
              </a:spcBef>
              <a:spcAft>
                <a:spcPts val="900"/>
              </a:spcAft>
            </a:pPr>
            <a:r>
              <a:rPr sz="1600" b="1" i="0">
                <a:solidFill>
                  <a:srgbClr val="2F7DC8"/>
                </a:solidFill>
                <a:latin typeface="Arial"/>
              </a:rPr>
              <a:t>Step 2 — fit working longitudinal models on the randomized controls</a:t>
            </a:r>
          </a:p>
          <a:p>
            <a:pPr>
              <a:spcAft>
                <a:spcPts val="800"/>
              </a:spcAft>
            </a:pPr>
            <a:r>
              <a:rPr sz="1450" b="1" i="0">
                <a:solidFill>
                  <a:srgbClr val="2F7DC8"/>
                </a:solidFill>
                <a:latin typeface="Arial"/>
              </a:rPr>
              <a:t>▪  </a:t>
            </a:r>
            <a:r>
              <a:rPr sz="1450" b="0" i="0">
                <a:solidFill>
                  <a:srgbClr val="333740"/>
                </a:solidFill>
                <a:latin typeface="Arial"/>
              </a:rPr>
              <a:t>Fit the control mean (and scale / covariance) models by K-fold CROSS-FITTING, so in-sample residuals are not over-optimistic.</a:t>
            </a:r>
          </a:p>
          <a:p>
            <a:pPr>
              <a:spcAft>
                <a:spcPts val="800"/>
              </a:spcAft>
            </a:pPr>
            <a:r>
              <a:rPr sz="1450" b="1" i="0">
                <a:solidFill>
                  <a:srgbClr val="1F2A44"/>
                </a:solidFill>
                <a:latin typeface="Arial"/>
              </a:rPr>
              <a:t>The model need only supply a useful ordering — rank calibration handles the rest, even under misspecification.</a:t>
            </a:r>
          </a:p>
        </p:txBody>
      </p:sp>
      <p:sp>
        <p:nvSpPr>
          <p:cNvPr id="9" name="TextBox 8"/>
          <p:cNvSpPr txBox="1"/>
          <p:nvPr/>
        </p:nvSpPr>
        <p:spPr>
          <a:xfrm>
            <a:off x="11094415" y="6455664"/>
            <a:ext cx="914400" cy="320040"/>
          </a:xfrm>
          <a:prstGeom prst="rect">
            <a:avLst/>
          </a:prstGeom>
          <a:noFill/>
        </p:spPr>
        <p:txBody>
          <a:bodyPr wrap="square" anchor="t">
            <a:spAutoFit/>
          </a:bodyPr>
          <a:lstStyle/>
          <a:p>
            <a:pPr algn="r"/>
            <a:r>
              <a:rPr sz="1100" b="0" i="0">
                <a:solidFill>
                  <a:srgbClr val="6B7280"/>
                </a:solidFill>
                <a:latin typeface="Arial"/>
              </a:rPr>
              <a:t>13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5855" cy="932688"/>
          </a:xfrm>
          <a:prstGeom prst="rect">
            <a:avLst/>
          </a:prstGeom>
          <a:noFill/>
        </p:spPr>
        <p:txBody>
          <a:bodyPr wrap="square" anchor="t">
            <a:spAutoFit/>
          </a:bodyPr>
          <a:lstStyle/>
          <a:p>
            <a:pPr>
              <a:spcAft>
                <a:spcPts val="200"/>
              </a:spcAft>
            </a:pPr>
            <a:r>
              <a:rPr sz="1250" b="1" i="0">
                <a:solidFill>
                  <a:srgbClr val="2F7DC8"/>
                </a:solidFill>
                <a:latin typeface="Arial"/>
              </a:rPr>
              <a:t>PROPOSED FULL METHOD</a:t>
            </a:r>
          </a:p>
          <a:p>
            <a:r>
              <a:rPr sz="2700" b="1" i="0">
                <a:solidFill>
                  <a:srgbClr val="1F2A44"/>
                </a:solidFill>
                <a:latin typeface="Arial"/>
              </a:rPr>
              <a:t>Step 3: the longitudinal nonconformity score</a:t>
            </a:r>
          </a:p>
        </p:txBody>
      </p:sp>
      <p:sp>
        <p:nvSpPr>
          <p:cNvPr id="4" name="Rectangle 3"/>
          <p:cNvSpPr/>
          <p:nvPr/>
        </p:nvSpPr>
        <p:spPr>
          <a:xfrm>
            <a:off x="521207" y="1225296"/>
            <a:ext cx="2103120" cy="41148"/>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0"/>
            <a:ext cx="11155680" cy="914400"/>
          </a:xfrm>
          <a:prstGeom prst="rect">
            <a:avLst/>
          </a:prstGeom>
          <a:noFill/>
        </p:spPr>
        <p:txBody>
          <a:bodyPr wrap="square" anchor="t">
            <a:spAutoFit/>
          </a:bodyPr>
          <a:lstStyle/>
          <a:p>
            <a:pPr>
              <a:spcAft>
                <a:spcPts val="800"/>
              </a:spcAft>
            </a:pPr>
            <a:r>
              <a:rPr sz="1500" b="1" i="0">
                <a:solidFill>
                  <a:srgbClr val="2F7DC8"/>
                </a:solidFill>
                <a:latin typeface="Arial"/>
              </a:rPr>
              <a:t>▪  </a:t>
            </a:r>
            <a:r>
              <a:rPr sz="1500" b="0" i="0">
                <a:solidFill>
                  <a:srgbClr val="333740"/>
                </a:solidFill>
                <a:latin typeface="Arial"/>
              </a:rPr>
              <a:t>Residualize the trajectory,  r = Y − m̂(X),  then reduce it to a single scalar score. Three options:</a:t>
            </a:r>
          </a:p>
        </p:txBody>
      </p:sp>
      <p:sp>
        <p:nvSpPr>
          <p:cNvPr id="6" name="Rectangle 5"/>
          <p:cNvSpPr/>
          <p:nvPr/>
        </p:nvSpPr>
        <p:spPr>
          <a:xfrm>
            <a:off x="530352" y="2103120"/>
            <a:ext cx="7794096" cy="9601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q_scores.png"/>
          <p:cNvPicPr>
            <a:picLocks noChangeAspect="1"/>
          </p:cNvPicPr>
          <p:nvPr/>
        </p:nvPicPr>
        <p:blipFill>
          <a:blip r:embed="rId2"/>
          <a:stretch>
            <a:fillRect/>
          </a:stretch>
        </p:blipFill>
        <p:spPr>
          <a:xfrm>
            <a:off x="640080" y="2194560"/>
            <a:ext cx="7574640" cy="777240"/>
          </a:xfrm>
          <a:prstGeom prst="rect">
            <a:avLst/>
          </a:prstGeom>
        </p:spPr>
      </p:pic>
      <p:sp>
        <p:nvSpPr>
          <p:cNvPr id="8" name="TextBox 7"/>
          <p:cNvSpPr txBox="1"/>
          <p:nvPr/>
        </p:nvSpPr>
        <p:spPr>
          <a:xfrm>
            <a:off x="502920" y="3246120"/>
            <a:ext cx="11247120" cy="3108960"/>
          </a:xfrm>
          <a:prstGeom prst="rect">
            <a:avLst/>
          </a:prstGeom>
          <a:noFill/>
        </p:spPr>
        <p:txBody>
          <a:bodyPr wrap="square" anchor="t">
            <a:spAutoFit/>
          </a:bodyPr>
          <a:lstStyle/>
          <a:p>
            <a:pPr>
              <a:spcAft>
                <a:spcPts val="800"/>
              </a:spcAft>
            </a:pPr>
            <a:r>
              <a:rPr sz="1500" b="0" i="0">
                <a:solidFill>
                  <a:srgbClr val="333740"/>
                </a:solidFill>
                <a:latin typeface="Arial"/>
              </a:rPr>
              <a:t>Contrast score (c = the contrast through which the trajectory enters the estimator): most powerful when the drift is along c — global shifts, level changes.</a:t>
            </a:r>
          </a:p>
          <a:p>
            <a:pPr>
              <a:spcAft>
                <a:spcPts val="800"/>
              </a:spcAft>
            </a:pPr>
            <a:r>
              <a:rPr sz="1500" b="0" i="0">
                <a:solidFill>
                  <a:srgbClr val="333740"/>
                </a:solidFill>
                <a:latin typeface="Arial"/>
              </a:rPr>
              <a:t>Max standardized residual: sensitive to a spike at any single visit.</a:t>
            </a:r>
          </a:p>
          <a:p>
            <a:pPr>
              <a:spcAft>
                <a:spcPts val="800"/>
              </a:spcAft>
            </a:pPr>
            <a:r>
              <a:rPr sz="1500" b="0" i="0">
                <a:solidFill>
                  <a:srgbClr val="333740"/>
                </a:solidFill>
                <a:latin typeface="Arial"/>
              </a:rPr>
              <a:t>Common-reference Mahalanobis: aggregates the whole trajectory shape — best for ramps / curvature / transient dips.</a:t>
            </a:r>
          </a:p>
          <a:p>
            <a:pPr>
              <a:spcBef>
                <a:spcPts val="400"/>
              </a:spcBef>
              <a:spcAft>
                <a:spcPts val="900"/>
              </a:spcAft>
            </a:pPr>
            <a:r>
              <a:rPr sz="1650" b="1" i="0">
                <a:solidFill>
                  <a:srgbClr val="2F7DC8"/>
                </a:solidFill>
                <a:latin typeface="Arial"/>
              </a:rPr>
              <a:t>Design principle</a:t>
            </a:r>
          </a:p>
          <a:p>
            <a:pPr>
              <a:spcAft>
                <a:spcPts val="800"/>
              </a:spcAft>
            </a:pPr>
            <a:r>
              <a:rPr sz="1500" b="1" i="0">
                <a:solidFill>
                  <a:srgbClr val="1F2A44"/>
                </a:solidFill>
                <a:latin typeface="Arial"/>
              </a:rPr>
              <a:t>Match the score to (1) the functional the ESTIMATOR actually uses, and then (2) the ANTICIPATED drift shape. A contrast blind to the drift will not detect it.</a:t>
            </a:r>
          </a:p>
          <a:p>
            <a:pPr>
              <a:spcAft>
                <a:spcPts val="800"/>
              </a:spcAft>
            </a:pPr>
            <a:r>
              <a:rPr sz="1500" b="0" i="0">
                <a:solidFill>
                  <a:srgbClr val="6B7280"/>
                </a:solidFill>
                <a:latin typeface="Arial"/>
              </a:rPr>
              <a:t>Point (1) is not the same as “match the estimand” — that is the next two slides.</a:t>
            </a:r>
          </a:p>
        </p:txBody>
      </p:sp>
      <p:sp>
        <p:nvSpPr>
          <p:cNvPr id="9" name="TextBox 8"/>
          <p:cNvSpPr txBox="1"/>
          <p:nvPr/>
        </p:nvSpPr>
        <p:spPr>
          <a:xfrm>
            <a:off x="11094415" y="6455664"/>
            <a:ext cx="914400" cy="320040"/>
          </a:xfrm>
          <a:prstGeom prst="rect">
            <a:avLst/>
          </a:prstGeom>
          <a:noFill/>
        </p:spPr>
        <p:txBody>
          <a:bodyPr wrap="square" anchor="t">
            <a:spAutoFit/>
          </a:bodyPr>
          <a:lstStyle/>
          <a:p>
            <a:pPr algn="r"/>
            <a:r>
              <a:rPr sz="1100" b="0" i="0">
                <a:solidFill>
                  <a:srgbClr val="6B7280"/>
                </a:solidFill>
                <a:latin typeface="Arial"/>
              </a:rPr>
              <a:t>14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5855" cy="932688"/>
          </a:xfrm>
          <a:prstGeom prst="rect">
            <a:avLst/>
          </a:prstGeom>
          <a:noFill/>
        </p:spPr>
        <p:txBody>
          <a:bodyPr wrap="square" anchor="t">
            <a:spAutoFit/>
          </a:bodyPr>
          <a:lstStyle/>
          <a:p>
            <a:pPr>
              <a:spcAft>
                <a:spcPts val="200"/>
              </a:spcAft>
            </a:pPr>
            <a:r>
              <a:rPr sz="1250" b="1" i="0">
                <a:solidFill>
                  <a:srgbClr val="2F7DC8"/>
                </a:solidFill>
                <a:latin typeface="Arial"/>
              </a:rPr>
              <a:t>PROPOSED FULL METHOD</a:t>
            </a:r>
          </a:p>
          <a:p>
            <a:r>
              <a:rPr sz="2700" b="1" i="0">
                <a:solidFill>
                  <a:srgbClr val="1F2A44"/>
                </a:solidFill>
                <a:latin typeface="Arial"/>
              </a:rPr>
              <a:t>Choosing c: the estimand does not fix the score</a:t>
            </a:r>
          </a:p>
        </p:txBody>
      </p:sp>
      <p:sp>
        <p:nvSpPr>
          <p:cNvPr id="4" name="Rectangle 3"/>
          <p:cNvSpPr/>
          <p:nvPr/>
        </p:nvSpPr>
        <p:spPr>
          <a:xfrm>
            <a:off x="521207" y="1225296"/>
            <a:ext cx="2103120" cy="41148"/>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25880"/>
            <a:ext cx="11247120" cy="5029200"/>
          </a:xfrm>
          <a:prstGeom prst="rect">
            <a:avLst/>
          </a:prstGeom>
          <a:noFill/>
        </p:spPr>
        <p:txBody>
          <a:bodyPr wrap="square" anchor="t">
            <a:spAutoFit/>
          </a:bodyPr>
          <a:lstStyle/>
          <a:p>
            <a:pPr>
              <a:spcBef>
                <a:spcPts val="400"/>
              </a:spcBef>
              <a:spcAft>
                <a:spcPts val="900"/>
              </a:spcAft>
            </a:pPr>
            <a:r>
              <a:rPr sz="1450" b="1" i="0">
                <a:solidFill>
                  <a:srgbClr val="2F7DC8"/>
                </a:solidFill>
                <a:latin typeface="Arial"/>
              </a:rPr>
              <a:t>Two things determine c — not one</a:t>
            </a:r>
          </a:p>
          <a:p>
            <a:pPr>
              <a:spcAft>
                <a:spcPts val="800"/>
              </a:spcAft>
            </a:pPr>
            <a:r>
              <a:rPr sz="1300" b="0" i="0">
                <a:solidFill>
                  <a:srgbClr val="333740"/>
                </a:solidFill>
                <a:latin typeface="Arial"/>
              </a:rPr>
              <a:t>(1) What the ESTIMAND of interest is.  (2) How much LONGITUDINAL INFORMATION we wish to borrow in estimating it. The second is routinely left implicit — and it is the one that actually decides c.</a:t>
            </a:r>
          </a:p>
          <a:p>
            <a:pPr>
              <a:spcBef>
                <a:spcPts val="400"/>
              </a:spcBef>
              <a:spcAft>
                <a:spcPts val="900"/>
              </a:spcAft>
            </a:pPr>
            <a:r>
              <a:rPr sz="1450" b="1" i="0">
                <a:solidFill>
                  <a:srgbClr val="2F7DC8"/>
                </a:solidFill>
                <a:latin typeface="Arial"/>
              </a:rPr>
              <a:t>A last-visit ATE does NOT automatically give c = (−1,0,0,1)</a:t>
            </a:r>
          </a:p>
          <a:p>
            <a:pPr lvl="1">
              <a:spcAft>
                <a:spcPts val="600"/>
              </a:spcAft>
            </a:pPr>
            <a:r>
              <a:rPr sz="1200" b="0" i="0">
                <a:solidFill>
                  <a:srgbClr val="6B7280"/>
                </a:solidFill>
                <a:latin typeface="Arial"/>
              </a:rPr>
              <a:t>–  </a:t>
            </a:r>
            <a:r>
              <a:rPr sz="1200" b="0" i="0">
                <a:solidFill>
                  <a:srgbClr val="333740"/>
                </a:solidFill>
                <a:latin typeface="Arial"/>
              </a:rPr>
              <a:t>If NO longitudinal structure is imposed and the last-visit outcomes are fully observed: the most direct estimator uses only the final outcomes. The earlier visits do not participate in estimating the last-visit mean → the score may target the final visit alone.</a:t>
            </a:r>
          </a:p>
          <a:p>
            <a:pPr lvl="1">
              <a:spcAft>
                <a:spcPts val="600"/>
              </a:spcAft>
            </a:pPr>
            <a:r>
              <a:rPr sz="1200" b="0" i="0">
                <a:solidFill>
                  <a:srgbClr val="6B7280"/>
                </a:solidFill>
                <a:latin typeface="Arial"/>
              </a:rPr>
              <a:t>–  </a:t>
            </a:r>
            <a:r>
              <a:rPr sz="1200" b="0" i="0">
                <a:solidFill>
                  <a:srgbClr val="333740"/>
                </a:solidFill>
                <a:latin typeface="Arial"/>
              </a:rPr>
              <a:t>If longitudinal structure IS imposed — to improve the efficiency of the last-visit ATE — then the earlier visits directly affect the final estimate → the score must reflect whole-trajectory information.</a:t>
            </a:r>
          </a:p>
          <a:p>
            <a:pPr>
              <a:spcBef>
                <a:spcPts val="400"/>
              </a:spcBef>
              <a:spcAft>
                <a:spcPts val="900"/>
              </a:spcAft>
            </a:pPr>
            <a:r>
              <a:rPr sz="1450" b="1" i="0">
                <a:solidFill>
                  <a:srgbClr val="2F7DC8"/>
                </a:solidFill>
                <a:latin typeface="Arial"/>
              </a:rPr>
              <a:t>Three ways the earlier visits get in</a:t>
            </a:r>
          </a:p>
          <a:p>
            <a:pPr lvl="1">
              <a:spcAft>
                <a:spcPts val="600"/>
              </a:spcAft>
            </a:pPr>
            <a:r>
              <a:rPr sz="1200" b="0" i="0">
                <a:solidFill>
                  <a:srgbClr val="6B7280"/>
                </a:solidFill>
                <a:latin typeface="Arial"/>
              </a:rPr>
              <a:t>–  </a:t>
            </a:r>
            <a:r>
              <a:rPr sz="1200" b="0" i="0">
                <a:solidFill>
                  <a:srgbClr val="333740"/>
                </a:solidFill>
                <a:latin typeface="Arial"/>
              </a:rPr>
              <a:t>Repeated-measures GLS: if some covariate effects are assumed constant across visits, all visits are used jointly to estimate those shared parameters — which in turn determine the last-visit mean.</a:t>
            </a:r>
          </a:p>
          <a:p>
            <a:pPr lvl="1">
              <a:spcAft>
                <a:spcPts val="600"/>
              </a:spcAft>
            </a:pPr>
            <a:r>
              <a:rPr sz="1200" b="0" i="0">
                <a:solidFill>
                  <a:srgbClr val="6B7280"/>
                </a:solidFill>
                <a:latin typeface="Arial"/>
              </a:rPr>
              <a:t>–  </a:t>
            </a:r>
            <a:r>
              <a:rPr sz="1200" b="0" i="0">
                <a:solidFill>
                  <a:srgbClr val="333740"/>
                </a:solidFill>
                <a:latin typeface="Arial"/>
              </a:rPr>
              <a:t>MMRM under missingness: the earlier repeated measurements help learn the longitudinal association, then used to predict or recover missing final outcomes.</a:t>
            </a:r>
          </a:p>
          <a:p>
            <a:pPr lvl="1">
              <a:spcAft>
                <a:spcPts val="600"/>
              </a:spcAft>
            </a:pPr>
            <a:r>
              <a:rPr sz="1200" b="0" i="0">
                <a:solidFill>
                  <a:srgbClr val="6B7280"/>
                </a:solidFill>
                <a:latin typeface="Arial"/>
              </a:rPr>
              <a:t>–  </a:t>
            </a:r>
            <a:r>
              <a:rPr sz="1200" b="0" i="0">
                <a:solidFill>
                  <a:srgbClr val="333740"/>
                </a:solidFill>
                <a:latin typeface="Arial"/>
              </a:rPr>
              <a:t>Assumed shared trajectory (e.g. the mean is linear in t): all visits jointly estimate the trajectory parameters, and the last-visit mean is a function of them.</a:t>
            </a:r>
          </a:p>
        </p:txBody>
      </p:sp>
      <p:sp>
        <p:nvSpPr>
          <p:cNvPr id="6" name="TextBox 5"/>
          <p:cNvSpPr txBox="1"/>
          <p:nvPr/>
        </p:nvSpPr>
        <p:spPr>
          <a:xfrm>
            <a:off x="11094415" y="6455664"/>
            <a:ext cx="914400" cy="320040"/>
          </a:xfrm>
          <a:prstGeom prst="rect">
            <a:avLst/>
          </a:prstGeom>
          <a:noFill/>
        </p:spPr>
        <p:txBody>
          <a:bodyPr wrap="square" anchor="t">
            <a:spAutoFit/>
          </a:bodyPr>
          <a:lstStyle/>
          <a:p>
            <a:pPr algn="r"/>
            <a:r>
              <a:rPr sz="1100" b="0" i="0">
                <a:solidFill>
                  <a:srgbClr val="6B7280"/>
                </a:solidFill>
                <a:latin typeface="Arial"/>
              </a:rPr>
              <a:t>15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5855" cy="932688"/>
          </a:xfrm>
          <a:prstGeom prst="rect">
            <a:avLst/>
          </a:prstGeom>
          <a:noFill/>
        </p:spPr>
        <p:txBody>
          <a:bodyPr wrap="square" anchor="t">
            <a:spAutoFit/>
          </a:bodyPr>
          <a:lstStyle/>
          <a:p>
            <a:pPr>
              <a:spcAft>
                <a:spcPts val="200"/>
              </a:spcAft>
            </a:pPr>
            <a:r>
              <a:rPr sz="1250" b="1" i="0">
                <a:solidFill>
                  <a:srgbClr val="2F7DC8"/>
                </a:solidFill>
                <a:latin typeface="Arial"/>
              </a:rPr>
              <a:t>PROPOSED FULL METHOD</a:t>
            </a:r>
          </a:p>
          <a:p>
            <a:r>
              <a:rPr sz="2700" b="1" i="0">
                <a:solidFill>
                  <a:srgbClr val="1F2A44"/>
                </a:solidFill>
                <a:latin typeface="Arial"/>
              </a:rPr>
              <a:t>The operative question — and the rule it implies</a:t>
            </a:r>
          </a:p>
        </p:txBody>
      </p:sp>
      <p:sp>
        <p:nvSpPr>
          <p:cNvPr id="4" name="Rectangle 3"/>
          <p:cNvSpPr/>
          <p:nvPr/>
        </p:nvSpPr>
        <p:spPr>
          <a:xfrm>
            <a:off x="521207" y="1225296"/>
            <a:ext cx="2103120" cy="41148"/>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25880"/>
            <a:ext cx="11247120" cy="2377440"/>
          </a:xfrm>
          <a:prstGeom prst="rect">
            <a:avLst/>
          </a:prstGeom>
          <a:noFill/>
        </p:spPr>
        <p:txBody>
          <a:bodyPr wrap="square" anchor="t">
            <a:spAutoFit/>
          </a:bodyPr>
          <a:lstStyle/>
          <a:p>
            <a:pPr>
              <a:spcBef>
                <a:spcPts val="400"/>
              </a:spcBef>
              <a:spcAft>
                <a:spcPts val="900"/>
              </a:spcAft>
            </a:pPr>
            <a:r>
              <a:rPr sz="1450" b="1" i="0">
                <a:solidFill>
                  <a:srgbClr val="2F7DC8"/>
                </a:solidFill>
                <a:latin typeface="Arial"/>
              </a:rPr>
              <a:t>Agreement at the final visit is not sufficient</a:t>
            </a:r>
          </a:p>
          <a:p>
            <a:pPr>
              <a:spcAft>
                <a:spcPts val="800"/>
              </a:spcAft>
            </a:pPr>
            <a:r>
              <a:rPr sz="1300" b="0" i="0">
                <a:solidFill>
                  <a:srgbClr val="333740"/>
                </a:solidFill>
                <a:latin typeface="Arial"/>
              </a:rPr>
              <a:t>Even if the randomized and external controls have EXACTLY the same mean at the last visit, differences at intermediate visits can still corrupt the longitudinal structure used to estimate the last-visit ATE — and thereby the estimator. Checking the first-to-last contrast alone would never see it.</a:t>
            </a:r>
          </a:p>
          <a:p>
            <a:pPr>
              <a:spcBef>
                <a:spcPts val="400"/>
              </a:spcBef>
              <a:spcAft>
                <a:spcPts val="900"/>
              </a:spcAft>
            </a:pPr>
            <a:r>
              <a:rPr sz="1450" b="1" i="0">
                <a:solidFill>
                  <a:srgbClr val="2F7DC8"/>
                </a:solidFill>
                <a:latin typeface="Arial"/>
              </a:rPr>
              <a:t>So the real question is not “are the last visits the same?”</a:t>
            </a:r>
          </a:p>
          <a:p>
            <a:pPr>
              <a:spcAft>
                <a:spcPts val="800"/>
              </a:spcAft>
            </a:pPr>
            <a:r>
              <a:rPr sz="1300" b="1" i="0">
                <a:solidFill>
                  <a:srgbClr val="1F2A44"/>
                </a:solidFill>
                <a:latin typeface="Arial"/>
              </a:rPr>
              <a:t>It is: DO THE INTERMEDIATE VISITS ENTER AND INFLUENCE THE ESTIMATION OF THE LAST-VISIT ATE? If we choose to exploit them for efficiency, they are part of the estimator — and must therefore be part of the compatibility assessment. Only if we do not use them at all is whole-trajectory compatibility unnecessary.</a:t>
            </a:r>
          </a:p>
        </p:txBody>
      </p:sp>
      <p:sp>
        <p:nvSpPr>
          <p:cNvPr id="6" name="TextBox 5"/>
          <p:cNvSpPr txBox="1"/>
          <p:nvPr/>
        </p:nvSpPr>
        <p:spPr>
          <a:xfrm>
            <a:off x="502920" y="3794760"/>
            <a:ext cx="11247120" cy="365760"/>
          </a:xfrm>
          <a:prstGeom prst="rect">
            <a:avLst/>
          </a:prstGeom>
          <a:noFill/>
        </p:spPr>
        <p:txBody>
          <a:bodyPr wrap="square" anchor="t">
            <a:spAutoFit/>
          </a:bodyPr>
          <a:lstStyle/>
          <a:p>
            <a:pPr>
              <a:spcBef>
                <a:spcPts val="400"/>
              </a:spcBef>
              <a:spcAft>
                <a:spcPts val="900"/>
              </a:spcAft>
            </a:pPr>
            <a:r>
              <a:rPr sz="1450" b="1" i="0">
                <a:solidFill>
                  <a:srgbClr val="2F7DC8"/>
                </a:solidFill>
                <a:latin typeface="Arial"/>
              </a:rPr>
              <a:t>The rule: when the estimator touches the control trajectories through a′Ȳ₀ —</a:t>
            </a:r>
          </a:p>
        </p:txBody>
      </p:sp>
      <p:sp>
        <p:nvSpPr>
          <p:cNvPr id="7" name="Rectangle 6"/>
          <p:cNvSpPr/>
          <p:nvPr/>
        </p:nvSpPr>
        <p:spPr>
          <a:xfrm>
            <a:off x="530352" y="4096512"/>
            <a:ext cx="3723436" cy="896112"/>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q_afunc.png"/>
          <p:cNvPicPr>
            <a:picLocks noChangeAspect="1"/>
          </p:cNvPicPr>
          <p:nvPr/>
        </p:nvPicPr>
        <p:blipFill>
          <a:blip r:embed="rId2"/>
          <a:stretch>
            <a:fillRect/>
          </a:stretch>
        </p:blipFill>
        <p:spPr>
          <a:xfrm>
            <a:off x="640080" y="4187952"/>
            <a:ext cx="3503980" cy="713232"/>
          </a:xfrm>
          <a:prstGeom prst="rect">
            <a:avLst/>
          </a:prstGeom>
        </p:spPr>
      </p:pic>
      <p:sp>
        <p:nvSpPr>
          <p:cNvPr id="9" name="TextBox 8"/>
          <p:cNvSpPr txBox="1"/>
          <p:nvPr/>
        </p:nvSpPr>
        <p:spPr>
          <a:xfrm>
            <a:off x="502920" y="4892040"/>
            <a:ext cx="11247120" cy="1645920"/>
          </a:xfrm>
          <a:prstGeom prst="rect">
            <a:avLst/>
          </a:prstGeom>
          <a:noFill/>
        </p:spPr>
        <p:txBody>
          <a:bodyPr wrap="square" anchor="t">
            <a:spAutoFit/>
          </a:bodyPr>
          <a:lstStyle/>
          <a:p>
            <a:pPr lvl="1">
              <a:spcAft>
                <a:spcPts val="600"/>
              </a:spcAft>
            </a:pPr>
            <a:r>
              <a:rPr sz="1150" b="0" i="0">
                <a:solidFill>
                  <a:srgbClr val="6B7280"/>
                </a:solidFill>
                <a:latin typeface="Arial"/>
              </a:rPr>
              <a:t>–  </a:t>
            </a:r>
            <a:r>
              <a:rPr sz="1150" b="0" i="0">
                <a:solidFill>
                  <a:srgbClr val="333740"/>
                </a:solidFill>
                <a:latin typeface="Arial"/>
              </a:rPr>
              <a:t>final-outcomes-only:  a = (0,0,0,1)  →  c collapses onto the last visit</a:t>
            </a:r>
          </a:p>
          <a:p>
            <a:pPr lvl="1">
              <a:spcAft>
                <a:spcPts val="600"/>
              </a:spcAft>
            </a:pPr>
            <a:r>
              <a:rPr sz="1150" b="0" i="0">
                <a:solidFill>
                  <a:srgbClr val="6B7280"/>
                </a:solidFill>
                <a:latin typeface="Arial"/>
              </a:rPr>
              <a:t>–  </a:t>
            </a:r>
            <a:r>
              <a:rPr sz="1150" b="0" i="0">
                <a:solidFill>
                  <a:srgbClr val="333740"/>
                </a:solidFill>
                <a:latin typeface="Arial"/>
              </a:rPr>
              <a:t>assumed linear trajectory:  the fitted last-visit mean is α̂ + β̂ × (last visit time), and α̂, β̂ are linear in ALL visit means → a spans them</a:t>
            </a:r>
          </a:p>
          <a:p>
            <a:pPr lvl="1">
              <a:spcAft>
                <a:spcPts val="600"/>
              </a:spcAft>
            </a:pPr>
            <a:r>
              <a:rPr sz="1150" b="0" i="0">
                <a:solidFill>
                  <a:srgbClr val="6B7280"/>
                </a:solidFill>
                <a:latin typeface="Arial"/>
              </a:rPr>
              <a:t>–  </a:t>
            </a:r>
            <a:r>
              <a:rPr sz="1150" b="0" i="0">
                <a:solidFill>
                  <a:srgbClr val="333740"/>
                </a:solidFill>
                <a:latin typeface="Arial"/>
              </a:rPr>
              <a:t>GLS / MMRM:  a is induced by the working covariance and the shared-parameter constraints → generically nonzero at every visit</a:t>
            </a:r>
          </a:p>
          <a:p>
            <a:pPr>
              <a:spcAft>
                <a:spcPts val="800"/>
              </a:spcAft>
            </a:pPr>
            <a:r>
              <a:rPr sz="1250" b="1" i="0">
                <a:solidFill>
                  <a:srgbClr val="3E7A1E"/>
                </a:solidFill>
                <a:latin typeface="Arial"/>
              </a:rPr>
              <a:t>Consequence: compatibility is a property of the (estimand, ESTIMATOR) pair — not of the estimand alone.</a:t>
            </a:r>
          </a:p>
        </p:txBody>
      </p:sp>
      <p:sp>
        <p:nvSpPr>
          <p:cNvPr id="10" name="TextBox 9"/>
          <p:cNvSpPr txBox="1"/>
          <p:nvPr/>
        </p:nvSpPr>
        <p:spPr>
          <a:xfrm>
            <a:off x="11094415" y="6455664"/>
            <a:ext cx="914400" cy="320040"/>
          </a:xfrm>
          <a:prstGeom prst="rect">
            <a:avLst/>
          </a:prstGeom>
          <a:noFill/>
        </p:spPr>
        <p:txBody>
          <a:bodyPr wrap="square" anchor="t">
            <a:spAutoFit/>
          </a:bodyPr>
          <a:lstStyle/>
          <a:p>
            <a:pPr algn="r"/>
            <a:r>
              <a:rPr sz="1100" b="0" i="0">
                <a:solidFill>
                  <a:srgbClr val="6B7280"/>
                </a:solidFill>
                <a:latin typeface="Arial"/>
              </a:rPr>
              <a:t>16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5855" cy="932688"/>
          </a:xfrm>
          <a:prstGeom prst="rect">
            <a:avLst/>
          </a:prstGeom>
          <a:noFill/>
        </p:spPr>
        <p:txBody>
          <a:bodyPr wrap="square" anchor="t">
            <a:spAutoFit/>
          </a:bodyPr>
          <a:lstStyle/>
          <a:p>
            <a:pPr>
              <a:spcAft>
                <a:spcPts val="200"/>
              </a:spcAft>
            </a:pPr>
            <a:r>
              <a:rPr sz="1250" b="1" i="0">
                <a:solidFill>
                  <a:srgbClr val="2F7DC8"/>
                </a:solidFill>
                <a:latin typeface="Arial"/>
              </a:rPr>
              <a:t>PROPOSED FULL METHOD</a:t>
            </a:r>
          </a:p>
          <a:p>
            <a:r>
              <a:rPr sz="2700" b="1" i="0">
                <a:solidFill>
                  <a:srgbClr val="1F2A44"/>
                </a:solidFill>
                <a:latin typeface="Arial"/>
              </a:rPr>
              <a:t>Steps 4–5: covariate-shift weighting</a:t>
            </a:r>
          </a:p>
        </p:txBody>
      </p:sp>
      <p:sp>
        <p:nvSpPr>
          <p:cNvPr id="4" name="Rectangle 3"/>
          <p:cNvSpPr/>
          <p:nvPr/>
        </p:nvSpPr>
        <p:spPr>
          <a:xfrm>
            <a:off x="521207" y="1225296"/>
            <a:ext cx="2103120" cy="41148"/>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0"/>
            <a:ext cx="6035040" cy="914400"/>
          </a:xfrm>
          <a:prstGeom prst="rect">
            <a:avLst/>
          </a:prstGeom>
          <a:noFill/>
        </p:spPr>
        <p:txBody>
          <a:bodyPr wrap="square" anchor="t">
            <a:spAutoFit/>
          </a:bodyPr>
          <a:lstStyle/>
          <a:p>
            <a:pPr>
              <a:spcAft>
                <a:spcPts val="800"/>
              </a:spcAft>
            </a:pPr>
            <a:r>
              <a:rPr sz="1450" b="1" i="0">
                <a:solidFill>
                  <a:srgbClr val="2F7DC8"/>
                </a:solidFill>
                <a:latin typeface="Arial"/>
              </a:rPr>
              <a:t>▪  </a:t>
            </a:r>
            <a:r>
              <a:rPr sz="1450" b="0" i="0">
                <a:solidFill>
                  <a:srgbClr val="333740"/>
                </a:solidFill>
                <a:latin typeface="Arial"/>
              </a:rPr>
              <a:t>Randomized and external covariate mixes differ, so we reweight the calibration ranks by the density ratio:</a:t>
            </a:r>
          </a:p>
        </p:txBody>
      </p:sp>
      <p:sp>
        <p:nvSpPr>
          <p:cNvPr id="6" name="Rectangle 5"/>
          <p:cNvSpPr/>
          <p:nvPr/>
        </p:nvSpPr>
        <p:spPr>
          <a:xfrm>
            <a:off x="484632" y="2057400"/>
            <a:ext cx="4647716" cy="749808"/>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q_omega.png"/>
          <p:cNvPicPr>
            <a:picLocks noChangeAspect="1"/>
          </p:cNvPicPr>
          <p:nvPr/>
        </p:nvPicPr>
        <p:blipFill>
          <a:blip r:embed="rId2"/>
          <a:stretch>
            <a:fillRect/>
          </a:stretch>
        </p:blipFill>
        <p:spPr>
          <a:xfrm>
            <a:off x="594360" y="2148840"/>
            <a:ext cx="4428260" cy="566928"/>
          </a:xfrm>
          <a:prstGeom prst="rect">
            <a:avLst/>
          </a:prstGeom>
        </p:spPr>
      </p:pic>
      <p:sp>
        <p:nvSpPr>
          <p:cNvPr id="8" name="Rectangle 7"/>
          <p:cNvSpPr/>
          <p:nvPr/>
        </p:nvSpPr>
        <p:spPr>
          <a:xfrm>
            <a:off x="484632" y="2788920"/>
            <a:ext cx="4765852" cy="11887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q_wpval.png"/>
          <p:cNvPicPr>
            <a:picLocks noChangeAspect="1"/>
          </p:cNvPicPr>
          <p:nvPr/>
        </p:nvPicPr>
        <p:blipFill>
          <a:blip r:embed="rId3"/>
          <a:stretch>
            <a:fillRect/>
          </a:stretch>
        </p:blipFill>
        <p:spPr>
          <a:xfrm>
            <a:off x="594360" y="2880360"/>
            <a:ext cx="4546396" cy="1005840"/>
          </a:xfrm>
          <a:prstGeom prst="rect">
            <a:avLst/>
          </a:prstGeom>
        </p:spPr>
      </p:pic>
      <p:sp>
        <p:nvSpPr>
          <p:cNvPr id="10" name="TextBox 9"/>
          <p:cNvSpPr txBox="1"/>
          <p:nvPr/>
        </p:nvSpPr>
        <p:spPr>
          <a:xfrm>
            <a:off x="502920" y="3977639"/>
            <a:ext cx="6126480" cy="731520"/>
          </a:xfrm>
          <a:prstGeom prst="rect">
            <a:avLst/>
          </a:prstGeom>
          <a:noFill/>
        </p:spPr>
        <p:txBody>
          <a:bodyPr wrap="square" anchor="t">
            <a:spAutoFit/>
          </a:bodyPr>
          <a:lstStyle/>
          <a:p>
            <a:pPr>
              <a:spcAft>
                <a:spcPts val="800"/>
              </a:spcAft>
            </a:pPr>
            <a:r>
              <a:rPr sz="1350" b="0" i="0">
                <a:solidFill>
                  <a:srgbClr val="333740"/>
                </a:solidFill>
                <a:latin typeface="Arial"/>
              </a:rPr>
              <a:t>Transport identity — weighted RCT scores represent the compatible-EC score law:</a:t>
            </a:r>
          </a:p>
        </p:txBody>
      </p:sp>
      <p:sp>
        <p:nvSpPr>
          <p:cNvPr id="11" name="Rectangle 10"/>
          <p:cNvSpPr/>
          <p:nvPr/>
        </p:nvSpPr>
        <p:spPr>
          <a:xfrm>
            <a:off x="484632" y="4633617"/>
            <a:ext cx="6254496" cy="608285"/>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eq_transport.png"/>
          <p:cNvPicPr>
            <a:picLocks noChangeAspect="1"/>
          </p:cNvPicPr>
          <p:nvPr/>
        </p:nvPicPr>
        <p:blipFill>
          <a:blip r:embed="rId4"/>
          <a:stretch>
            <a:fillRect/>
          </a:stretch>
        </p:blipFill>
        <p:spPr>
          <a:xfrm>
            <a:off x="594360" y="4725057"/>
            <a:ext cx="6035040" cy="425405"/>
          </a:xfrm>
          <a:prstGeom prst="rect">
            <a:avLst/>
          </a:prstGeom>
        </p:spPr>
      </p:pic>
      <p:sp>
        <p:nvSpPr>
          <p:cNvPr id="13" name="TextBox 12"/>
          <p:cNvSpPr txBox="1"/>
          <p:nvPr/>
        </p:nvSpPr>
        <p:spPr>
          <a:xfrm>
            <a:off x="502920" y="5440680"/>
            <a:ext cx="6126480" cy="1005840"/>
          </a:xfrm>
          <a:prstGeom prst="rect">
            <a:avLst/>
          </a:prstGeom>
          <a:noFill/>
        </p:spPr>
        <p:txBody>
          <a:bodyPr wrap="square" anchor="t">
            <a:spAutoFit/>
          </a:bodyPr>
          <a:lstStyle/>
          <a:p>
            <a:pPr>
              <a:spcAft>
                <a:spcPts val="800"/>
              </a:spcAft>
            </a:pPr>
            <a:r>
              <a:rPr sz="1350" b="1" i="0">
                <a:solidFill>
                  <a:srgbClr val="1F2A44"/>
                </a:solidFill>
                <a:latin typeface="Arial"/>
              </a:rPr>
              <a:t>Without weighting, high-severity compatible ECs look “extreme” only because they are over-represented externally → false exclusions. Weighting removes exactly this (right).</a:t>
            </a:r>
          </a:p>
        </p:txBody>
      </p:sp>
      <p:pic>
        <p:nvPicPr>
          <p:cNvPr id="14" name="Picture 13" descr="fig_shift.png"/>
          <p:cNvPicPr>
            <a:picLocks noChangeAspect="1"/>
          </p:cNvPicPr>
          <p:nvPr/>
        </p:nvPicPr>
        <p:blipFill>
          <a:blip r:embed="rId5"/>
          <a:stretch>
            <a:fillRect/>
          </a:stretch>
        </p:blipFill>
        <p:spPr>
          <a:xfrm>
            <a:off x="6583680" y="2185746"/>
            <a:ext cx="5120640" cy="3400906"/>
          </a:xfrm>
          <a:prstGeom prst="rect">
            <a:avLst/>
          </a:prstGeom>
        </p:spPr>
      </p:pic>
      <p:sp>
        <p:nvSpPr>
          <p:cNvPr id="15" name="TextBox 14"/>
          <p:cNvSpPr txBox="1"/>
          <p:nvPr/>
        </p:nvSpPr>
        <p:spPr>
          <a:xfrm>
            <a:off x="11094415" y="6455664"/>
            <a:ext cx="914400" cy="320040"/>
          </a:xfrm>
          <a:prstGeom prst="rect">
            <a:avLst/>
          </a:prstGeom>
          <a:noFill/>
        </p:spPr>
        <p:txBody>
          <a:bodyPr wrap="square" anchor="t">
            <a:spAutoFit/>
          </a:bodyPr>
          <a:lstStyle/>
          <a:p>
            <a:pPr algn="r"/>
            <a:r>
              <a:rPr sz="1100" b="0" i="0">
                <a:solidFill>
                  <a:srgbClr val="6B7280"/>
                </a:solidFill>
                <a:latin typeface="Arial"/>
              </a:rPr>
              <a:t>17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5855" cy="932688"/>
          </a:xfrm>
          <a:prstGeom prst="rect">
            <a:avLst/>
          </a:prstGeom>
          <a:noFill/>
        </p:spPr>
        <p:txBody>
          <a:bodyPr wrap="square" anchor="t">
            <a:spAutoFit/>
          </a:bodyPr>
          <a:lstStyle/>
          <a:p>
            <a:pPr>
              <a:spcAft>
                <a:spcPts val="200"/>
              </a:spcAft>
            </a:pPr>
            <a:r>
              <a:rPr sz="1250" b="1" i="0">
                <a:solidFill>
                  <a:srgbClr val="2F7DC8"/>
                </a:solidFill>
                <a:latin typeface="Arial"/>
              </a:rPr>
              <a:t>PROPOSED FULL METHOD</a:t>
            </a:r>
          </a:p>
          <a:p>
            <a:r>
              <a:rPr sz="2700" b="1" i="0">
                <a:solidFill>
                  <a:srgbClr val="1F2A44"/>
                </a:solidFill>
                <a:latin typeface="Arial"/>
              </a:rPr>
              <a:t>Steps 6–7: from a one-time split to cross-fit (CV+)</a:t>
            </a:r>
          </a:p>
        </p:txBody>
      </p:sp>
      <p:sp>
        <p:nvSpPr>
          <p:cNvPr id="4" name="Rectangle 3"/>
          <p:cNvSpPr/>
          <p:nvPr/>
        </p:nvSpPr>
        <p:spPr>
          <a:xfrm>
            <a:off x="521207" y="1225296"/>
            <a:ext cx="2103120" cy="41148"/>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17320"/>
            <a:ext cx="5943600" cy="1463040"/>
          </a:xfrm>
          <a:prstGeom prst="rect">
            <a:avLst/>
          </a:prstGeom>
          <a:noFill/>
        </p:spPr>
        <p:txBody>
          <a:bodyPr wrap="square" anchor="t">
            <a:spAutoFit/>
          </a:bodyPr>
          <a:lstStyle/>
          <a:p>
            <a:pPr>
              <a:spcAft>
                <a:spcPts val="800"/>
              </a:spcAft>
            </a:pPr>
            <a:r>
              <a:rPr sz="1500" b="1" i="0">
                <a:solidFill>
                  <a:srgbClr val="2F7DC8"/>
                </a:solidFill>
                <a:latin typeface="Arial"/>
              </a:rPr>
              <a:t>▪  </a:t>
            </a:r>
            <a:r>
              <a:rPr sz="1500" b="0" i="0">
                <a:solidFill>
                  <a:srgbClr val="333740"/>
                </a:solidFill>
                <a:latin typeface="Arial"/>
              </a:rPr>
              <a:t>A single train/calibrate split wastes half of the already-scarce randomized controls.</a:t>
            </a:r>
          </a:p>
          <a:p>
            <a:pPr>
              <a:spcAft>
                <a:spcPts val="800"/>
              </a:spcAft>
            </a:pPr>
            <a:r>
              <a:rPr sz="1500" b="1" i="0">
                <a:solidFill>
                  <a:srgbClr val="2F7DC8"/>
                </a:solidFill>
                <a:latin typeface="Arial"/>
              </a:rPr>
              <a:t>▪  </a:t>
            </a:r>
            <a:r>
              <a:rPr sz="1500" b="0" i="0">
                <a:solidFill>
                  <a:srgbClr val="333740"/>
                </a:solidFill>
                <a:latin typeface="Arial"/>
              </a:rPr>
              <a:t>CV+ scores each fold from a model fit on the other folds:</a:t>
            </a:r>
          </a:p>
        </p:txBody>
      </p:sp>
      <p:sp>
        <p:nvSpPr>
          <p:cNvPr id="6" name="Rectangle 5"/>
          <p:cNvSpPr/>
          <p:nvPr/>
        </p:nvSpPr>
        <p:spPr>
          <a:xfrm>
            <a:off x="484632" y="2881240"/>
            <a:ext cx="6071616" cy="656606"/>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q_cv.png"/>
          <p:cNvPicPr>
            <a:picLocks noChangeAspect="1"/>
          </p:cNvPicPr>
          <p:nvPr/>
        </p:nvPicPr>
        <p:blipFill>
          <a:blip r:embed="rId2"/>
          <a:stretch>
            <a:fillRect/>
          </a:stretch>
        </p:blipFill>
        <p:spPr>
          <a:xfrm>
            <a:off x="594360" y="2972680"/>
            <a:ext cx="5852160" cy="473726"/>
          </a:xfrm>
          <a:prstGeom prst="rect">
            <a:avLst/>
          </a:prstGeom>
        </p:spPr>
      </p:pic>
      <p:sp>
        <p:nvSpPr>
          <p:cNvPr id="8" name="TextBox 7"/>
          <p:cNvSpPr txBox="1"/>
          <p:nvPr/>
        </p:nvSpPr>
        <p:spPr>
          <a:xfrm>
            <a:off x="502920" y="3749039"/>
            <a:ext cx="6035040" cy="2377440"/>
          </a:xfrm>
          <a:prstGeom prst="rect">
            <a:avLst/>
          </a:prstGeom>
          <a:noFill/>
        </p:spPr>
        <p:txBody>
          <a:bodyPr wrap="square" anchor="t">
            <a:spAutoFit/>
          </a:bodyPr>
          <a:lstStyle/>
          <a:p>
            <a:pPr>
              <a:spcAft>
                <a:spcPts val="800"/>
              </a:spcAft>
            </a:pPr>
            <a:r>
              <a:rPr sz="1500" b="0" i="0">
                <a:solidFill>
                  <a:srgbClr val="333740"/>
                </a:solidFill>
                <a:latin typeface="Arial"/>
              </a:rPr>
              <a:t>Every randomized control eventually contributes a calibration rank  →  the WHOLE control sample is used.</a:t>
            </a:r>
          </a:p>
          <a:p>
            <a:pPr>
              <a:spcAft>
                <a:spcPts val="800"/>
              </a:spcAft>
            </a:pPr>
            <a:r>
              <a:rPr sz="1500" b="1" i="0">
                <a:solidFill>
                  <a:srgbClr val="1F2A44"/>
                </a:solidFill>
                <a:latin typeface="Arial"/>
              </a:rPr>
              <a:t>This is the main efficiency lever of the method — we quantify the gain in the simulation (≈ +0.06 power at controlled type-I).</a:t>
            </a:r>
          </a:p>
        </p:txBody>
      </p:sp>
      <p:pic>
        <p:nvPicPr>
          <p:cNvPr id="9" name="Picture 8" descr="fig_cv.png"/>
          <p:cNvPicPr>
            <a:picLocks noChangeAspect="1"/>
          </p:cNvPicPr>
          <p:nvPr/>
        </p:nvPicPr>
        <p:blipFill>
          <a:blip r:embed="rId3"/>
          <a:stretch>
            <a:fillRect/>
          </a:stretch>
        </p:blipFill>
        <p:spPr>
          <a:xfrm>
            <a:off x="6446520" y="2110897"/>
            <a:ext cx="5349240" cy="3550605"/>
          </a:xfrm>
          <a:prstGeom prst="rect">
            <a:avLst/>
          </a:prstGeom>
        </p:spPr>
      </p:pic>
      <p:sp>
        <p:nvSpPr>
          <p:cNvPr id="10" name="TextBox 9"/>
          <p:cNvSpPr txBox="1"/>
          <p:nvPr/>
        </p:nvSpPr>
        <p:spPr>
          <a:xfrm>
            <a:off x="11094415" y="6455664"/>
            <a:ext cx="914400" cy="320040"/>
          </a:xfrm>
          <a:prstGeom prst="rect">
            <a:avLst/>
          </a:prstGeom>
          <a:noFill/>
        </p:spPr>
        <p:txBody>
          <a:bodyPr wrap="square" anchor="t">
            <a:spAutoFit/>
          </a:bodyPr>
          <a:lstStyle/>
          <a:p>
            <a:pPr algn="r"/>
            <a:r>
              <a:rPr sz="1100" b="0" i="0">
                <a:solidFill>
                  <a:srgbClr val="6B7280"/>
                </a:solidFill>
                <a:latin typeface="Arial"/>
              </a:rPr>
              <a:t>18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5855" cy="932688"/>
          </a:xfrm>
          <a:prstGeom prst="rect">
            <a:avLst/>
          </a:prstGeom>
          <a:noFill/>
        </p:spPr>
        <p:txBody>
          <a:bodyPr wrap="square" anchor="t">
            <a:spAutoFit/>
          </a:bodyPr>
          <a:lstStyle/>
          <a:p>
            <a:pPr>
              <a:spcAft>
                <a:spcPts val="200"/>
              </a:spcAft>
            </a:pPr>
            <a:r>
              <a:rPr sz="1250" b="1" i="0">
                <a:solidFill>
                  <a:srgbClr val="2F7DC8"/>
                </a:solidFill>
                <a:latin typeface="Arial"/>
              </a:rPr>
              <a:t>PROPOSED FULL METHOD</a:t>
            </a:r>
          </a:p>
          <a:p>
            <a:r>
              <a:rPr sz="2700" b="1" i="0">
                <a:solidFill>
                  <a:srgbClr val="1F2A44"/>
                </a:solidFill>
                <a:latin typeface="Arial"/>
              </a:rPr>
              <a:t>Step 8: conservative screening — symmetric + adaptive γ</a:t>
            </a:r>
          </a:p>
        </p:txBody>
      </p:sp>
      <p:sp>
        <p:nvSpPr>
          <p:cNvPr id="4" name="Rectangle 3"/>
          <p:cNvSpPr/>
          <p:nvPr/>
        </p:nvSpPr>
        <p:spPr>
          <a:xfrm>
            <a:off x="521207" y="1225296"/>
            <a:ext cx="2103120" cy="41148"/>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0"/>
            <a:ext cx="6035040" cy="1463040"/>
          </a:xfrm>
          <a:prstGeom prst="rect">
            <a:avLst/>
          </a:prstGeom>
          <a:noFill/>
        </p:spPr>
        <p:txBody>
          <a:bodyPr wrap="square" anchor="t">
            <a:spAutoFit/>
          </a:bodyPr>
          <a:lstStyle/>
          <a:p>
            <a:pPr>
              <a:spcBef>
                <a:spcPts val="400"/>
              </a:spcBef>
              <a:spcAft>
                <a:spcPts val="900"/>
              </a:spcAft>
            </a:pPr>
            <a:r>
              <a:rPr sz="1600" b="1" i="0">
                <a:solidFill>
                  <a:srgbClr val="2F7DC8"/>
                </a:solidFill>
                <a:latin typeface="Arial"/>
              </a:rPr>
              <a:t>Symmetric trimming (keeps the borrowed mean unbiased)</a:t>
            </a:r>
          </a:p>
          <a:p>
            <a:pPr>
              <a:spcAft>
                <a:spcPts val="800"/>
              </a:spcAft>
            </a:pPr>
            <a:r>
              <a:rPr sz="1450" b="1" i="0">
                <a:solidFill>
                  <a:srgbClr val="2F7DC8"/>
                </a:solidFill>
                <a:latin typeface="Arial"/>
              </a:rPr>
              <a:t>▪  </a:t>
            </a:r>
            <a:r>
              <a:rPr sz="1450" b="0" i="0">
                <a:solidFill>
                  <a:srgbClr val="333740"/>
                </a:solidFill>
                <a:latin typeface="Arial"/>
              </a:rPr>
              <a:t>Screen on |V| with a SINGLE threshold, trimming both tails equally:</a:t>
            </a:r>
          </a:p>
        </p:txBody>
      </p:sp>
      <p:sp>
        <p:nvSpPr>
          <p:cNvPr id="6" name="Rectangle 5"/>
          <p:cNvSpPr/>
          <p:nvPr/>
        </p:nvSpPr>
        <p:spPr>
          <a:xfrm>
            <a:off x="484632" y="2697791"/>
            <a:ext cx="6163056" cy="657745"/>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q_symscreen.png"/>
          <p:cNvPicPr>
            <a:picLocks noChangeAspect="1"/>
          </p:cNvPicPr>
          <p:nvPr/>
        </p:nvPicPr>
        <p:blipFill>
          <a:blip r:embed="rId2"/>
          <a:stretch>
            <a:fillRect/>
          </a:stretch>
        </p:blipFill>
        <p:spPr>
          <a:xfrm>
            <a:off x="594360" y="2789231"/>
            <a:ext cx="5943600" cy="474865"/>
          </a:xfrm>
          <a:prstGeom prst="rect">
            <a:avLst/>
          </a:prstGeom>
        </p:spPr>
      </p:pic>
      <p:sp>
        <p:nvSpPr>
          <p:cNvPr id="8" name="TextBox 7"/>
          <p:cNvSpPr txBox="1"/>
          <p:nvPr/>
        </p:nvSpPr>
        <p:spPr>
          <a:xfrm>
            <a:off x="502920" y="3566160"/>
            <a:ext cx="6035040" cy="2011680"/>
          </a:xfrm>
          <a:prstGeom prst="rect">
            <a:avLst/>
          </a:prstGeom>
          <a:noFill/>
        </p:spPr>
        <p:txBody>
          <a:bodyPr wrap="square" anchor="t">
            <a:spAutoFit/>
          </a:bodyPr>
          <a:lstStyle/>
          <a:p>
            <a:pPr>
              <a:spcAft>
                <a:spcPts val="800"/>
              </a:spcAft>
            </a:pPr>
            <a:r>
              <a:rPr sz="1400" b="0" i="0">
                <a:solidFill>
                  <a:srgbClr val="333740"/>
                </a:solidFill>
                <a:latin typeface="Arial"/>
              </a:rPr>
              <a:t>Trimming both tails equally leaves the retained control mean unmoved → the borrowed mean stays UNBIASED (right).</a:t>
            </a:r>
          </a:p>
          <a:p>
            <a:pPr>
              <a:spcBef>
                <a:spcPts val="400"/>
              </a:spcBef>
              <a:spcAft>
                <a:spcPts val="900"/>
              </a:spcAft>
            </a:pPr>
            <a:r>
              <a:rPr sz="1550" b="1" i="0">
                <a:solidFill>
                  <a:srgbClr val="2F7DC8"/>
                </a:solidFill>
                <a:latin typeface="Arial"/>
              </a:rPr>
              <a:t>Adaptive threshold (no labels needed)</a:t>
            </a:r>
          </a:p>
          <a:p>
            <a:pPr>
              <a:spcAft>
                <a:spcPts val="800"/>
              </a:spcAft>
            </a:pPr>
            <a:r>
              <a:rPr sz="1400" b="1" i="0">
                <a:solidFill>
                  <a:srgbClr val="2F7DC8"/>
                </a:solidFill>
                <a:latin typeface="Arial"/>
              </a:rPr>
              <a:t>▪  </a:t>
            </a:r>
            <a:r>
              <a:rPr sz="1400" b="0" i="0">
                <a:solidFill>
                  <a:srgbClr val="333740"/>
                </a:solidFill>
                <a:latin typeface="Arial"/>
              </a:rPr>
              <a:t>Choose γ per dataset to minimize an estimated MSE of the borrowing estimate (a de-biased CSB objective):</a:t>
            </a:r>
          </a:p>
        </p:txBody>
      </p:sp>
      <p:sp>
        <p:nvSpPr>
          <p:cNvPr id="9" name="Rectangle 8"/>
          <p:cNvSpPr/>
          <p:nvPr/>
        </p:nvSpPr>
        <p:spPr>
          <a:xfrm>
            <a:off x="484632" y="5394960"/>
            <a:ext cx="5991824" cy="9601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eq_adaptive.png"/>
          <p:cNvPicPr>
            <a:picLocks noChangeAspect="1"/>
          </p:cNvPicPr>
          <p:nvPr/>
        </p:nvPicPr>
        <p:blipFill>
          <a:blip r:embed="rId3"/>
          <a:stretch>
            <a:fillRect/>
          </a:stretch>
        </p:blipFill>
        <p:spPr>
          <a:xfrm>
            <a:off x="594360" y="5486400"/>
            <a:ext cx="5772368" cy="777240"/>
          </a:xfrm>
          <a:prstGeom prst="rect">
            <a:avLst/>
          </a:prstGeom>
        </p:spPr>
      </p:pic>
      <p:pic>
        <p:nvPicPr>
          <p:cNvPr id="11" name="Picture 10" descr="fig_trimming.png"/>
          <p:cNvPicPr>
            <a:picLocks noChangeAspect="1"/>
          </p:cNvPicPr>
          <p:nvPr/>
        </p:nvPicPr>
        <p:blipFill>
          <a:blip r:embed="rId4"/>
          <a:stretch>
            <a:fillRect/>
          </a:stretch>
        </p:blipFill>
        <p:spPr>
          <a:xfrm>
            <a:off x="6537960" y="2655985"/>
            <a:ext cx="5212080" cy="1546029"/>
          </a:xfrm>
          <a:prstGeom prst="rect">
            <a:avLst/>
          </a:prstGeom>
        </p:spPr>
      </p:pic>
      <p:sp>
        <p:nvSpPr>
          <p:cNvPr id="12" name="TextBox 11"/>
          <p:cNvSpPr txBox="1"/>
          <p:nvPr/>
        </p:nvSpPr>
        <p:spPr>
          <a:xfrm>
            <a:off x="6537960" y="5029200"/>
            <a:ext cx="5212080" cy="1280160"/>
          </a:xfrm>
          <a:prstGeom prst="rect">
            <a:avLst/>
          </a:prstGeom>
          <a:noFill/>
        </p:spPr>
        <p:txBody>
          <a:bodyPr wrap="square" anchor="t">
            <a:spAutoFit/>
          </a:bodyPr>
          <a:lstStyle/>
          <a:p>
            <a:pPr>
              <a:spcAft>
                <a:spcPts val="800"/>
              </a:spcAft>
            </a:pPr>
            <a:r>
              <a:rPr sz="1350" b="1" i="0">
                <a:solidFill>
                  <a:srgbClr val="1F2A44"/>
                </a:solidFill>
                <a:latin typeface="Arial"/>
              </a:rPr>
              <a:t>Small γ borrows more but risks leaking contamination; large γ is safer with less gain. Adaptive γ balances the two automatically.</a:t>
            </a:r>
          </a:p>
        </p:txBody>
      </p:sp>
      <p:sp>
        <p:nvSpPr>
          <p:cNvPr id="13" name="TextBox 12"/>
          <p:cNvSpPr txBox="1"/>
          <p:nvPr/>
        </p:nvSpPr>
        <p:spPr>
          <a:xfrm>
            <a:off x="11094415" y="6455664"/>
            <a:ext cx="914400" cy="320040"/>
          </a:xfrm>
          <a:prstGeom prst="rect">
            <a:avLst/>
          </a:prstGeom>
          <a:noFill/>
        </p:spPr>
        <p:txBody>
          <a:bodyPr wrap="square" anchor="t">
            <a:spAutoFit/>
          </a:bodyPr>
          <a:lstStyle/>
          <a:p>
            <a:pPr algn="r"/>
            <a:r>
              <a:rPr sz="1100" b="0" i="0">
                <a:solidFill>
                  <a:srgbClr val="6B7280"/>
                </a:solidFill>
                <a:latin typeface="Arial"/>
              </a:rPr>
              <a:t>19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5855" cy="932688"/>
          </a:xfrm>
          <a:prstGeom prst="rect">
            <a:avLst/>
          </a:prstGeom>
          <a:noFill/>
        </p:spPr>
        <p:txBody>
          <a:bodyPr wrap="square" anchor="t">
            <a:spAutoFit/>
          </a:bodyPr>
          <a:lstStyle/>
          <a:p>
            <a:pPr>
              <a:spcAft>
                <a:spcPts val="200"/>
              </a:spcAft>
            </a:pPr>
            <a:r>
              <a:rPr sz="1250" b="1" i="0">
                <a:solidFill>
                  <a:srgbClr val="2F7DC8"/>
                </a:solidFill>
                <a:latin typeface="Arial"/>
              </a:rPr>
              <a:t>PROPOSED FULL METHOD</a:t>
            </a:r>
          </a:p>
          <a:p>
            <a:r>
              <a:rPr sz="2700" b="1" i="0">
                <a:solidFill>
                  <a:srgbClr val="1F2A44"/>
                </a:solidFill>
                <a:latin typeface="Arial"/>
              </a:rPr>
              <a:t>Step 9: refit the borrowing estimator (transported AIPW)</a:t>
            </a:r>
          </a:p>
        </p:txBody>
      </p:sp>
      <p:sp>
        <p:nvSpPr>
          <p:cNvPr id="4" name="Rectangle 3"/>
          <p:cNvSpPr/>
          <p:nvPr/>
        </p:nvSpPr>
        <p:spPr>
          <a:xfrm>
            <a:off x="521207" y="1225296"/>
            <a:ext cx="2103120" cy="41148"/>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17320"/>
            <a:ext cx="11155680" cy="1463040"/>
          </a:xfrm>
          <a:prstGeom prst="rect">
            <a:avLst/>
          </a:prstGeom>
          <a:noFill/>
        </p:spPr>
        <p:txBody>
          <a:bodyPr wrap="square" anchor="t">
            <a:spAutoFit/>
          </a:bodyPr>
          <a:lstStyle/>
          <a:p>
            <a:pPr>
              <a:spcAft>
                <a:spcPts val="800"/>
              </a:spcAft>
            </a:pPr>
            <a:r>
              <a:rPr sz="1500" b="1" i="0">
                <a:solidFill>
                  <a:srgbClr val="2F7DC8"/>
                </a:solidFill>
                <a:latin typeface="Arial"/>
              </a:rPr>
              <a:t>▪  </a:t>
            </a:r>
            <a:r>
              <a:rPr sz="1500" b="0" i="0">
                <a:solidFill>
                  <a:srgbClr val="333740"/>
                </a:solidFill>
                <a:latin typeface="Arial"/>
              </a:rPr>
              <a:t>On the RETAINED external controls, refit the source density, the outcome model, and the inverse-variance borrowing weight; form the transported AIPW control mean and combine it with the randomized-control mean:</a:t>
            </a:r>
          </a:p>
        </p:txBody>
      </p:sp>
      <p:sp>
        <p:nvSpPr>
          <p:cNvPr id="6" name="Rectangle 5"/>
          <p:cNvSpPr/>
          <p:nvPr/>
        </p:nvSpPr>
        <p:spPr>
          <a:xfrm>
            <a:off x="713232" y="2926079"/>
            <a:ext cx="5525974" cy="109728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q_estimator.png"/>
          <p:cNvPicPr>
            <a:picLocks noChangeAspect="1"/>
          </p:cNvPicPr>
          <p:nvPr/>
        </p:nvPicPr>
        <p:blipFill>
          <a:blip r:embed="rId2"/>
          <a:stretch>
            <a:fillRect/>
          </a:stretch>
        </p:blipFill>
        <p:spPr>
          <a:xfrm>
            <a:off x="822960" y="3017520"/>
            <a:ext cx="5306518" cy="914400"/>
          </a:xfrm>
          <a:prstGeom prst="rect">
            <a:avLst/>
          </a:prstGeom>
        </p:spPr>
      </p:pic>
      <p:sp>
        <p:nvSpPr>
          <p:cNvPr id="8" name="TextBox 7"/>
          <p:cNvSpPr txBox="1"/>
          <p:nvPr/>
        </p:nvSpPr>
        <p:spPr>
          <a:xfrm>
            <a:off x="502920" y="4251960"/>
            <a:ext cx="11247120" cy="2103120"/>
          </a:xfrm>
          <a:prstGeom prst="rect">
            <a:avLst/>
          </a:prstGeom>
          <a:noFill/>
        </p:spPr>
        <p:txBody>
          <a:bodyPr wrap="square" anchor="t">
            <a:spAutoFit/>
          </a:bodyPr>
          <a:lstStyle/>
          <a:p>
            <a:pPr>
              <a:spcAft>
                <a:spcPts val="800"/>
              </a:spcAft>
            </a:pPr>
            <a:r>
              <a:rPr sz="1500" b="0" i="0">
                <a:solidFill>
                  <a:srgbClr val="333740"/>
                </a:solidFill>
                <a:latin typeface="Arial"/>
              </a:rPr>
              <a:t>λ = efficient inverse-variance weight: borrow LESS from noisier external controls → lower RMSE.</a:t>
            </a:r>
          </a:p>
          <a:p>
            <a:pPr>
              <a:spcAft>
                <a:spcPts val="800"/>
              </a:spcAft>
            </a:pPr>
            <a:r>
              <a:rPr sz="1500" b="0" i="0">
                <a:solidFill>
                  <a:srgbClr val="333740"/>
                </a:solidFill>
                <a:latin typeface="Arial"/>
              </a:rPr>
              <a:t>Doubly robust: consistent if either the outcome model or the source/weight model is correct.</a:t>
            </a:r>
          </a:p>
          <a:p>
            <a:pPr>
              <a:spcAft>
                <a:spcPts val="800"/>
              </a:spcAft>
            </a:pPr>
            <a:r>
              <a:rPr sz="1500" b="1" i="0">
                <a:solidFill>
                  <a:srgbClr val="1F2A44"/>
                </a:solidFill>
                <a:latin typeface="Arial"/>
              </a:rPr>
              <a:t>Output: τ̂ with a full-pipeline bootstrap confidence interval that re-runs the entire screen on each resample (so selection uncertainty is propagated).</a:t>
            </a:r>
          </a:p>
        </p:txBody>
      </p:sp>
      <p:sp>
        <p:nvSpPr>
          <p:cNvPr id="9" name="TextBox 8"/>
          <p:cNvSpPr txBox="1"/>
          <p:nvPr/>
        </p:nvSpPr>
        <p:spPr>
          <a:xfrm>
            <a:off x="11094415" y="6455664"/>
            <a:ext cx="914400" cy="320040"/>
          </a:xfrm>
          <a:prstGeom prst="rect">
            <a:avLst/>
          </a:prstGeom>
          <a:noFill/>
        </p:spPr>
        <p:txBody>
          <a:bodyPr wrap="square" anchor="t">
            <a:spAutoFit/>
          </a:bodyPr>
          <a:lstStyle/>
          <a:p>
            <a:pPr algn="r"/>
            <a:r>
              <a:rPr sz="1100" b="0" i="0">
                <a:solidFill>
                  <a:srgbClr val="6B7280"/>
                </a:solidFill>
                <a:latin typeface="Arial"/>
              </a:rPr>
              <a:t>20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61488"/>
            <a:ext cx="12191695" cy="45720"/>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148840"/>
            <a:ext cx="10180015" cy="2011680"/>
          </a:xfrm>
          <a:prstGeom prst="rect">
            <a:avLst/>
          </a:prstGeom>
          <a:noFill/>
        </p:spPr>
        <p:txBody>
          <a:bodyPr wrap="square" anchor="t">
            <a:spAutoFit/>
          </a:bodyPr>
          <a:lstStyle/>
          <a:p>
            <a:pPr>
              <a:spcAft>
                <a:spcPts val="600"/>
              </a:spcAft>
            </a:pPr>
            <a:r>
              <a:rPr sz="1700" b="1" i="0">
                <a:solidFill>
                  <a:srgbClr val="2F7DC8"/>
                </a:solidFill>
                <a:latin typeface="Arial"/>
              </a:rPr>
              <a:t>PART III</a:t>
            </a:r>
          </a:p>
          <a:p>
            <a:r>
              <a:rPr sz="4000" b="1" i="0">
                <a:solidFill>
                  <a:srgbClr val="FFFFFF"/>
                </a:solidFill>
                <a:latin typeface="Arial"/>
              </a:rPr>
              <a:t>Simulation</a:t>
            </a:r>
          </a:p>
          <a:p>
            <a:pPr>
              <a:spcBef>
                <a:spcPts val="800"/>
              </a:spcBef>
            </a:pPr>
            <a:r>
              <a:rPr sz="1600" b="0" i="1">
                <a:solidFill>
                  <a:srgbClr val="C9D4E4"/>
                </a:solidFill>
                <a:latin typeface="Arial"/>
              </a:rPr>
              <a:t>A transparent longitudinal data-generating process, and the results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5855" cy="932688"/>
          </a:xfrm>
          <a:prstGeom prst="rect">
            <a:avLst/>
          </a:prstGeom>
          <a:noFill/>
        </p:spPr>
        <p:txBody>
          <a:bodyPr wrap="square" anchor="t">
            <a:spAutoFit/>
          </a:bodyPr>
          <a:lstStyle/>
          <a:p>
            <a:pPr>
              <a:spcAft>
                <a:spcPts val="200"/>
              </a:spcAft>
            </a:pPr>
            <a:r>
              <a:rPr sz="1250" b="1" i="0">
                <a:solidFill>
                  <a:srgbClr val="2F7DC8"/>
                </a:solidFill>
                <a:latin typeface="Arial"/>
              </a:rPr>
              <a:t>SIMULATION SETUP</a:t>
            </a:r>
          </a:p>
          <a:p>
            <a:r>
              <a:rPr sz="2700" b="1" i="0">
                <a:solidFill>
                  <a:srgbClr val="1F2A44"/>
                </a:solidFill>
                <a:latin typeface="Arial"/>
              </a:rPr>
              <a:t>Simulation: the data-generating process</a:t>
            </a:r>
          </a:p>
        </p:txBody>
      </p:sp>
      <p:sp>
        <p:nvSpPr>
          <p:cNvPr id="4" name="Rectangle 3"/>
          <p:cNvSpPr/>
          <p:nvPr/>
        </p:nvSpPr>
        <p:spPr>
          <a:xfrm>
            <a:off x="521207" y="1225296"/>
            <a:ext cx="2103120" cy="41148"/>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0"/>
            <a:ext cx="11247120" cy="822960"/>
          </a:xfrm>
          <a:prstGeom prst="rect">
            <a:avLst/>
          </a:prstGeom>
          <a:noFill/>
        </p:spPr>
        <p:txBody>
          <a:bodyPr wrap="square" anchor="t">
            <a:spAutoFit/>
          </a:bodyPr>
          <a:lstStyle/>
          <a:p>
            <a:pPr>
              <a:spcAft>
                <a:spcPts val="800"/>
              </a:spcAft>
            </a:pPr>
            <a:r>
              <a:rPr sz="1450" b="0" i="0">
                <a:solidFill>
                  <a:srgbClr val="333740"/>
                </a:solidFill>
                <a:latin typeface="Arial"/>
              </a:rPr>
              <a:t>Four visits, one binary severity covariate X. Randomized and external covariate mixes differ (shift, overlap preserved):</a:t>
            </a:r>
          </a:p>
        </p:txBody>
      </p:sp>
      <p:sp>
        <p:nvSpPr>
          <p:cNvPr id="6" name="Rectangle 5"/>
          <p:cNvSpPr/>
          <p:nvPr/>
        </p:nvSpPr>
        <p:spPr>
          <a:xfrm>
            <a:off x="530352" y="1985783"/>
            <a:ext cx="8997696" cy="7101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q_dgp_shift.png"/>
          <p:cNvPicPr>
            <a:picLocks noChangeAspect="1"/>
          </p:cNvPicPr>
          <p:nvPr/>
        </p:nvPicPr>
        <p:blipFill>
          <a:blip r:embed="rId2"/>
          <a:stretch>
            <a:fillRect/>
          </a:stretch>
        </p:blipFill>
        <p:spPr>
          <a:xfrm>
            <a:off x="640080" y="2077223"/>
            <a:ext cx="8778240" cy="527280"/>
          </a:xfrm>
          <a:prstGeom prst="rect">
            <a:avLst/>
          </a:prstGeom>
        </p:spPr>
      </p:pic>
      <p:sp>
        <p:nvSpPr>
          <p:cNvPr id="8" name="TextBox 7"/>
          <p:cNvSpPr txBox="1"/>
          <p:nvPr/>
        </p:nvSpPr>
        <p:spPr>
          <a:xfrm>
            <a:off x="502920" y="2743200"/>
            <a:ext cx="11247120" cy="640080"/>
          </a:xfrm>
          <a:prstGeom prst="rect">
            <a:avLst/>
          </a:prstGeom>
          <a:noFill/>
        </p:spPr>
        <p:txBody>
          <a:bodyPr wrap="square" anchor="t">
            <a:spAutoFit/>
          </a:bodyPr>
          <a:lstStyle/>
          <a:p>
            <a:pPr>
              <a:spcAft>
                <a:spcPts val="800"/>
              </a:spcAft>
            </a:pPr>
            <a:r>
              <a:rPr sz="1450" b="0" i="0">
                <a:solidFill>
                  <a:srgbClr val="333740"/>
                </a:solidFill>
                <a:latin typeface="Arial"/>
              </a:rPr>
              <a:t>Untreated control trajectory (random intercept + AR(1) errors), heteroscedastic scale, and the treatment effect:</a:t>
            </a:r>
          </a:p>
        </p:txBody>
      </p:sp>
      <p:sp>
        <p:nvSpPr>
          <p:cNvPr id="9" name="Rectangle 8"/>
          <p:cNvSpPr/>
          <p:nvPr/>
        </p:nvSpPr>
        <p:spPr>
          <a:xfrm>
            <a:off x="530352" y="3246120"/>
            <a:ext cx="8808509" cy="7315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eq_dgp_y.png"/>
          <p:cNvPicPr>
            <a:picLocks noChangeAspect="1"/>
          </p:cNvPicPr>
          <p:nvPr/>
        </p:nvPicPr>
        <p:blipFill>
          <a:blip r:embed="rId3"/>
          <a:stretch>
            <a:fillRect/>
          </a:stretch>
        </p:blipFill>
        <p:spPr>
          <a:xfrm>
            <a:off x="640080" y="3337560"/>
            <a:ext cx="8589053" cy="548640"/>
          </a:xfrm>
          <a:prstGeom prst="rect">
            <a:avLst/>
          </a:prstGeom>
        </p:spPr>
      </p:pic>
      <p:sp>
        <p:nvSpPr>
          <p:cNvPr id="11" name="Rectangle 10"/>
          <p:cNvSpPr/>
          <p:nvPr/>
        </p:nvSpPr>
        <p:spPr>
          <a:xfrm>
            <a:off x="530352" y="3886200"/>
            <a:ext cx="6333904" cy="6858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eq_dgp_sig.png"/>
          <p:cNvPicPr>
            <a:picLocks noChangeAspect="1"/>
          </p:cNvPicPr>
          <p:nvPr/>
        </p:nvPicPr>
        <p:blipFill>
          <a:blip r:embed="rId4"/>
          <a:stretch>
            <a:fillRect/>
          </a:stretch>
        </p:blipFill>
        <p:spPr>
          <a:xfrm>
            <a:off x="640080" y="3977639"/>
            <a:ext cx="6114448" cy="502920"/>
          </a:xfrm>
          <a:prstGeom prst="rect">
            <a:avLst/>
          </a:prstGeom>
        </p:spPr>
      </p:pic>
      <p:sp>
        <p:nvSpPr>
          <p:cNvPr id="13" name="TextBox 12"/>
          <p:cNvSpPr txBox="1"/>
          <p:nvPr/>
        </p:nvSpPr>
        <p:spPr>
          <a:xfrm>
            <a:off x="502920" y="4617720"/>
            <a:ext cx="11247120" cy="640080"/>
          </a:xfrm>
          <a:prstGeom prst="rect">
            <a:avLst/>
          </a:prstGeom>
          <a:noFill/>
        </p:spPr>
        <p:txBody>
          <a:bodyPr wrap="square" anchor="t">
            <a:spAutoFit/>
          </a:bodyPr>
          <a:lstStyle/>
          <a:p>
            <a:pPr>
              <a:spcAft>
                <a:spcPts val="800"/>
              </a:spcAft>
            </a:pPr>
            <a:r>
              <a:rPr sz="1450" b="0" i="0">
                <a:solidFill>
                  <a:srgbClr val="333740"/>
                </a:solidFill>
                <a:latin typeface="Arial"/>
              </a:rPr>
              <a:t>A fraction π_B of external controls are incompatible, with drift magnitude Δ (the signal-to-noise knob):</a:t>
            </a:r>
          </a:p>
        </p:txBody>
      </p:sp>
      <p:sp>
        <p:nvSpPr>
          <p:cNvPr id="14" name="Rectangle 13"/>
          <p:cNvSpPr/>
          <p:nvPr/>
        </p:nvSpPr>
        <p:spPr>
          <a:xfrm>
            <a:off x="530352" y="5120640"/>
            <a:ext cx="9505696" cy="7315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eq_dgp_contam.png"/>
          <p:cNvPicPr>
            <a:picLocks noChangeAspect="1"/>
          </p:cNvPicPr>
          <p:nvPr/>
        </p:nvPicPr>
        <p:blipFill>
          <a:blip r:embed="rId5"/>
          <a:stretch>
            <a:fillRect/>
          </a:stretch>
        </p:blipFill>
        <p:spPr>
          <a:xfrm>
            <a:off x="640080" y="5212080"/>
            <a:ext cx="9286240" cy="548640"/>
          </a:xfrm>
          <a:prstGeom prst="rect">
            <a:avLst/>
          </a:prstGeom>
        </p:spPr>
      </p:pic>
      <p:sp>
        <p:nvSpPr>
          <p:cNvPr id="16" name="TextBox 15"/>
          <p:cNvSpPr txBox="1"/>
          <p:nvPr/>
        </p:nvSpPr>
        <p:spPr>
          <a:xfrm>
            <a:off x="502920" y="5806440"/>
            <a:ext cx="11247120" cy="822960"/>
          </a:xfrm>
          <a:prstGeom prst="rect">
            <a:avLst/>
          </a:prstGeom>
          <a:noFill/>
        </p:spPr>
        <p:txBody>
          <a:bodyPr wrap="square" anchor="t">
            <a:spAutoFit/>
          </a:bodyPr>
          <a:lstStyle/>
          <a:p>
            <a:pPr>
              <a:spcAft>
                <a:spcPts val="800"/>
              </a:spcAft>
            </a:pPr>
            <a:r>
              <a:rPr sz="1350" b="1" i="0">
                <a:solidFill>
                  <a:srgbClr val="1F2A44"/>
                </a:solidFill>
                <a:latin typeface="Arial"/>
              </a:rPr>
              <a:t>Reference cell (everything is one axis away from it):  n₁=120 treated, n₀=60 RCT controls, 200 ECs, π_B=0.3, pattern A (global shift), Δ=8, estimand c₂, weighted CV+, correct model.</a:t>
            </a:r>
          </a:p>
        </p:txBody>
      </p:sp>
      <p:sp>
        <p:nvSpPr>
          <p:cNvPr id="17" name="TextBox 16"/>
          <p:cNvSpPr txBox="1"/>
          <p:nvPr/>
        </p:nvSpPr>
        <p:spPr>
          <a:xfrm>
            <a:off x="11094415" y="6455664"/>
            <a:ext cx="914400" cy="320040"/>
          </a:xfrm>
          <a:prstGeom prst="rect">
            <a:avLst/>
          </a:prstGeom>
          <a:noFill/>
        </p:spPr>
        <p:txBody>
          <a:bodyPr wrap="square" anchor="t">
            <a:spAutoFit/>
          </a:bodyPr>
          <a:lstStyle/>
          <a:p>
            <a:pPr algn="r"/>
            <a:r>
              <a:rPr sz="1100" b="0" i="0">
                <a:solidFill>
                  <a:srgbClr val="6B7280"/>
                </a:solidFill>
                <a:latin typeface="Arial"/>
              </a:rPr>
              <a:t>21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5855" cy="932688"/>
          </a:xfrm>
          <a:prstGeom prst="rect">
            <a:avLst/>
          </a:prstGeom>
          <a:noFill/>
        </p:spPr>
        <p:txBody>
          <a:bodyPr wrap="square" anchor="t">
            <a:spAutoFit/>
          </a:bodyPr>
          <a:lstStyle/>
          <a:p>
            <a:pPr>
              <a:spcAft>
                <a:spcPts val="200"/>
              </a:spcAft>
            </a:pPr>
            <a:r>
              <a:rPr sz="1250" b="1" i="0">
                <a:solidFill>
                  <a:srgbClr val="2F7DC8"/>
                </a:solidFill>
                <a:latin typeface="Arial"/>
              </a:rPr>
              <a:t>SIMULATION SETUP</a:t>
            </a:r>
          </a:p>
          <a:p>
            <a:r>
              <a:rPr sz="2700" b="1" i="0">
                <a:solidFill>
                  <a:srgbClr val="1F2A44"/>
                </a:solidFill>
                <a:latin typeface="Arial"/>
              </a:rPr>
              <a:t>The screen in action (one draw at the reference cell)</a:t>
            </a:r>
          </a:p>
        </p:txBody>
      </p:sp>
      <p:sp>
        <p:nvSpPr>
          <p:cNvPr id="4" name="Rectangle 3"/>
          <p:cNvSpPr/>
          <p:nvPr/>
        </p:nvSpPr>
        <p:spPr>
          <a:xfrm>
            <a:off x="521207" y="1225296"/>
            <a:ext cx="2103120" cy="41148"/>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outcome.png"/>
          <p:cNvPicPr>
            <a:picLocks noChangeAspect="1"/>
          </p:cNvPicPr>
          <p:nvPr/>
        </p:nvPicPr>
        <p:blipFill>
          <a:blip r:embed="rId2"/>
          <a:stretch>
            <a:fillRect/>
          </a:stretch>
        </p:blipFill>
        <p:spPr>
          <a:xfrm>
            <a:off x="6321612" y="1417320"/>
            <a:ext cx="5279014" cy="2331720"/>
          </a:xfrm>
          <a:prstGeom prst="rect">
            <a:avLst/>
          </a:prstGeom>
        </p:spPr>
      </p:pic>
      <p:pic>
        <p:nvPicPr>
          <p:cNvPr id="6" name="Picture 5" descr="fig_pval.png"/>
          <p:cNvPicPr>
            <a:picLocks noChangeAspect="1"/>
          </p:cNvPicPr>
          <p:nvPr/>
        </p:nvPicPr>
        <p:blipFill>
          <a:blip r:embed="rId3"/>
          <a:stretch>
            <a:fillRect/>
          </a:stretch>
        </p:blipFill>
        <p:spPr>
          <a:xfrm>
            <a:off x="6321612" y="3886200"/>
            <a:ext cx="5279014" cy="2331720"/>
          </a:xfrm>
          <a:prstGeom prst="rect">
            <a:avLst/>
          </a:prstGeom>
        </p:spPr>
      </p:pic>
      <p:sp>
        <p:nvSpPr>
          <p:cNvPr id="7" name="TextBox 6"/>
          <p:cNvSpPr txBox="1"/>
          <p:nvPr/>
        </p:nvSpPr>
        <p:spPr>
          <a:xfrm>
            <a:off x="502920" y="1371600"/>
            <a:ext cx="5486400" cy="5029200"/>
          </a:xfrm>
          <a:prstGeom prst="rect">
            <a:avLst/>
          </a:prstGeom>
          <a:noFill/>
        </p:spPr>
        <p:txBody>
          <a:bodyPr wrap="square" anchor="t">
            <a:spAutoFit/>
          </a:bodyPr>
          <a:lstStyle/>
          <a:p>
            <a:pPr>
              <a:spcBef>
                <a:spcPts val="400"/>
              </a:spcBef>
              <a:spcAft>
                <a:spcPts val="900"/>
              </a:spcAft>
            </a:pPr>
            <a:r>
              <a:rPr sz="1500" b="1" i="0">
                <a:solidFill>
                  <a:srgbClr val="2F7DC8"/>
                </a:solidFill>
                <a:latin typeface="Arial"/>
              </a:rPr>
              <a:t>Top — raw outcome</a:t>
            </a:r>
          </a:p>
          <a:p>
            <a:pPr>
              <a:spcAft>
                <a:spcPts val="800"/>
              </a:spcAft>
            </a:pPr>
            <a:r>
              <a:rPr sz="1350" b="1" i="0">
                <a:solidFill>
                  <a:srgbClr val="2F7DC8"/>
                </a:solidFill>
                <a:latin typeface="Arial"/>
              </a:rPr>
              <a:t>▪  </a:t>
            </a:r>
            <a:r>
              <a:rPr sz="1350" b="0" i="0">
                <a:solidFill>
                  <a:srgbClr val="333740"/>
                </a:solidFill>
                <a:latin typeface="Arial"/>
              </a:rPr>
              <a:t>Compatible ECs (blue) overlap the RCT controls (gray) but sit slightly higher, purely because the external mix carries more severe subjects (covariate shift, NOT incompatibility).</a:t>
            </a:r>
          </a:p>
          <a:p>
            <a:pPr>
              <a:spcAft>
                <a:spcPts val="800"/>
              </a:spcAft>
            </a:pPr>
            <a:r>
              <a:rPr sz="1350" b="1" i="0">
                <a:solidFill>
                  <a:srgbClr val="2F7DC8"/>
                </a:solidFill>
                <a:latin typeface="Arial"/>
              </a:rPr>
              <a:t>▪  </a:t>
            </a:r>
            <a:r>
              <a:rPr sz="1350" b="0" i="0">
                <a:solidFill>
                  <a:srgbClr val="333740"/>
                </a:solidFill>
                <a:latin typeface="Arial"/>
              </a:rPr>
              <a:t>Contaminated ECs (amber) sit far to the right. A raw-outcome threshold would confound shift with contamination.</a:t>
            </a:r>
          </a:p>
          <a:p>
            <a:pPr>
              <a:spcBef>
                <a:spcPts val="400"/>
              </a:spcBef>
              <a:spcAft>
                <a:spcPts val="900"/>
              </a:spcAft>
            </a:pPr>
            <a:r>
              <a:rPr sz="1500" b="1" i="0">
                <a:solidFill>
                  <a:srgbClr val="2F7DC8"/>
                </a:solidFill>
                <a:latin typeface="Arial"/>
              </a:rPr>
              <a:t>Bottom — weighted residual-rank p-values</a:t>
            </a:r>
          </a:p>
          <a:p>
            <a:pPr>
              <a:spcAft>
                <a:spcPts val="800"/>
              </a:spcAft>
            </a:pPr>
            <a:r>
              <a:rPr sz="1350" b="1" i="0">
                <a:solidFill>
                  <a:srgbClr val="2F7DC8"/>
                </a:solidFill>
                <a:latin typeface="Arial"/>
              </a:rPr>
              <a:t>▪  </a:t>
            </a:r>
            <a:r>
              <a:rPr sz="1350" b="0" i="0">
                <a:solidFill>
                  <a:srgbClr val="333740"/>
                </a:solidFill>
                <a:latin typeface="Arial"/>
              </a:rPr>
              <a:t>Contaminated ECs pile up near p = 0 and fall below γ — all screened out.</a:t>
            </a:r>
          </a:p>
          <a:p>
            <a:pPr>
              <a:spcAft>
                <a:spcPts val="800"/>
              </a:spcAft>
            </a:pPr>
            <a:r>
              <a:rPr sz="1350" b="1" i="0">
                <a:solidFill>
                  <a:srgbClr val="2F7DC8"/>
                </a:solidFill>
                <a:latin typeface="Arial"/>
              </a:rPr>
              <a:t>▪  </a:t>
            </a:r>
            <a:r>
              <a:rPr sz="1350" b="0" i="0">
                <a:solidFill>
                  <a:srgbClr val="333740"/>
                </a:solidFill>
                <a:latin typeface="Arial"/>
              </a:rPr>
              <a:t>Compatible ECs are roughly uniform on (0,1] and are kept; only about 6% fall below γ.</a:t>
            </a:r>
          </a:p>
          <a:p>
            <a:pPr>
              <a:spcAft>
                <a:spcPts val="800"/>
              </a:spcAft>
            </a:pPr>
            <a:r>
              <a:rPr sz="1350" b="1" i="0">
                <a:solidFill>
                  <a:srgbClr val="1F2A44"/>
                </a:solidFill>
                <a:latin typeface="Arial"/>
              </a:rPr>
              <a:t>The screen truncates the calibrated p-value scale at γ, not the raw outcome.</a:t>
            </a:r>
          </a:p>
        </p:txBody>
      </p:sp>
      <p:sp>
        <p:nvSpPr>
          <p:cNvPr id="8" name="TextBox 7"/>
          <p:cNvSpPr txBox="1"/>
          <p:nvPr/>
        </p:nvSpPr>
        <p:spPr>
          <a:xfrm>
            <a:off x="11094415" y="6455664"/>
            <a:ext cx="914400" cy="320040"/>
          </a:xfrm>
          <a:prstGeom prst="rect">
            <a:avLst/>
          </a:prstGeom>
          <a:noFill/>
        </p:spPr>
        <p:txBody>
          <a:bodyPr wrap="square" anchor="t">
            <a:spAutoFit/>
          </a:bodyPr>
          <a:lstStyle/>
          <a:p>
            <a:pPr algn="r"/>
            <a:r>
              <a:rPr sz="1100" b="0" i="0">
                <a:solidFill>
                  <a:srgbClr val="6B7280"/>
                </a:solidFill>
                <a:latin typeface="Arial"/>
              </a:rPr>
              <a:t>22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5855" cy="932688"/>
          </a:xfrm>
          <a:prstGeom prst="rect">
            <a:avLst/>
          </a:prstGeom>
          <a:noFill/>
        </p:spPr>
        <p:txBody>
          <a:bodyPr wrap="square" anchor="t">
            <a:spAutoFit/>
          </a:bodyPr>
          <a:lstStyle/>
          <a:p>
            <a:pPr>
              <a:spcAft>
                <a:spcPts val="200"/>
              </a:spcAft>
            </a:pPr>
            <a:r>
              <a:rPr sz="1250" b="1" i="0">
                <a:solidFill>
                  <a:srgbClr val="2F7DC8"/>
                </a:solidFill>
                <a:latin typeface="Arial"/>
              </a:rPr>
              <a:t>SIMULATION SETUP</a:t>
            </a:r>
          </a:p>
          <a:p>
            <a:r>
              <a:rPr sz="2700" b="1" i="0">
                <a:solidFill>
                  <a:srgbClr val="1F2A44"/>
                </a:solidFill>
                <a:latin typeface="Arial"/>
              </a:rPr>
              <a:t>When can the screen detect contamination?</a:t>
            </a:r>
          </a:p>
        </p:txBody>
      </p:sp>
      <p:sp>
        <p:nvSpPr>
          <p:cNvPr id="4" name="Rectangle 3"/>
          <p:cNvSpPr/>
          <p:nvPr/>
        </p:nvSpPr>
        <p:spPr>
          <a:xfrm>
            <a:off x="521207" y="1225296"/>
            <a:ext cx="2103120" cy="41148"/>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17320"/>
            <a:ext cx="11155680" cy="2103120"/>
          </a:xfrm>
          <a:prstGeom prst="rect">
            <a:avLst/>
          </a:prstGeom>
          <a:noFill/>
        </p:spPr>
        <p:txBody>
          <a:bodyPr wrap="square" anchor="t">
            <a:spAutoFit/>
          </a:bodyPr>
          <a:lstStyle/>
          <a:p>
            <a:pPr>
              <a:spcAft>
                <a:spcPts val="800"/>
              </a:spcAft>
            </a:pPr>
            <a:r>
              <a:rPr sz="1500" b="1" i="0">
                <a:solidFill>
                  <a:srgbClr val="2F7DC8"/>
                </a:solidFill>
                <a:latin typeface="Arial"/>
              </a:rPr>
              <a:t>▪  </a:t>
            </a:r>
            <a:r>
              <a:rPr sz="1500" b="0" i="0">
                <a:solidFill>
                  <a:srgbClr val="333740"/>
                </a:solidFill>
                <a:latin typeface="Arial"/>
              </a:rPr>
              <a:t>Detection is limited by the drift's signal-to-noise ratio Δ / σ:</a:t>
            </a:r>
          </a:p>
          <a:p>
            <a:pPr lvl="1">
              <a:spcAft>
                <a:spcPts val="600"/>
              </a:spcAft>
            </a:pPr>
            <a:r>
              <a:rPr sz="1400" b="0" i="0">
                <a:solidFill>
                  <a:srgbClr val="6B7280"/>
                </a:solidFill>
                <a:latin typeface="Arial"/>
              </a:rPr>
              <a:t>–  </a:t>
            </a:r>
            <a:r>
              <a:rPr sz="1400" b="0" i="0">
                <a:solidFill>
                  <a:srgbClr val="333740"/>
                </a:solidFill>
                <a:latin typeface="Arial"/>
              </a:rPr>
              <a:t>Low Δ/σ — contamination is buried in the noise and leaks through ANY screen.</a:t>
            </a:r>
          </a:p>
          <a:p>
            <a:pPr lvl="1">
              <a:spcAft>
                <a:spcPts val="600"/>
              </a:spcAft>
            </a:pPr>
            <a:r>
              <a:rPr sz="1400" b="0" i="0">
                <a:solidFill>
                  <a:srgbClr val="6B7280"/>
                </a:solidFill>
                <a:latin typeface="Arial"/>
              </a:rPr>
              <a:t>–  </a:t>
            </a:r>
            <a:r>
              <a:rPr sz="1400" b="0" i="0">
                <a:solidFill>
                  <a:srgbClr val="333740"/>
                </a:solidFill>
                <a:latin typeface="Arial"/>
              </a:rPr>
              <a:t>High Δ/σ — cleanly separable and reliably removed.</a:t>
            </a:r>
          </a:p>
          <a:p>
            <a:pPr>
              <a:spcAft>
                <a:spcPts val="800"/>
              </a:spcAft>
            </a:pPr>
            <a:r>
              <a:rPr sz="1500" b="1" i="0">
                <a:solidFill>
                  <a:srgbClr val="1F2A44"/>
                </a:solidFill>
                <a:latin typeface="Arial"/>
              </a:rPr>
              <a:t>So borrowing is safest precisely when incompatibility is either absent, or large enough to catch.</a:t>
            </a:r>
          </a:p>
          <a:p>
            <a:pPr>
              <a:spcAft>
                <a:spcPts val="800"/>
              </a:spcAft>
            </a:pPr>
            <a:r>
              <a:rPr sz="1500" b="0" i="0">
                <a:solidFill>
                  <a:srgbClr val="333740"/>
                </a:solidFill>
                <a:latin typeface="Arial"/>
              </a:rPr>
              <a:t>This also bounds the gain: the screen can only remove what it can see.</a:t>
            </a:r>
          </a:p>
        </p:txBody>
      </p:sp>
      <p:pic>
        <p:nvPicPr>
          <p:cNvPr id="6" name="Picture 5" descr="fig_snr.png"/>
          <p:cNvPicPr>
            <a:picLocks noChangeAspect="1"/>
          </p:cNvPicPr>
          <p:nvPr/>
        </p:nvPicPr>
        <p:blipFill>
          <a:blip r:embed="rId2"/>
          <a:stretch>
            <a:fillRect/>
          </a:stretch>
        </p:blipFill>
        <p:spPr>
          <a:xfrm>
            <a:off x="3750564" y="3566160"/>
            <a:ext cx="4660392" cy="2834640"/>
          </a:xfrm>
          <a:prstGeom prst="rect">
            <a:avLst/>
          </a:prstGeom>
        </p:spPr>
      </p:pic>
      <p:sp>
        <p:nvSpPr>
          <p:cNvPr id="7" name="TextBox 6"/>
          <p:cNvSpPr txBox="1"/>
          <p:nvPr/>
        </p:nvSpPr>
        <p:spPr>
          <a:xfrm>
            <a:off x="11094415" y="6455664"/>
            <a:ext cx="914400" cy="320040"/>
          </a:xfrm>
          <a:prstGeom prst="rect">
            <a:avLst/>
          </a:prstGeom>
          <a:noFill/>
        </p:spPr>
        <p:txBody>
          <a:bodyPr wrap="square" anchor="t">
            <a:spAutoFit/>
          </a:bodyPr>
          <a:lstStyle/>
          <a:p>
            <a:pPr algn="r"/>
            <a:r>
              <a:rPr sz="1100" b="0" i="0">
                <a:solidFill>
                  <a:srgbClr val="6B7280"/>
                </a:solidFill>
                <a:latin typeface="Arial"/>
              </a:rPr>
              <a:t>23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5855" cy="932688"/>
          </a:xfrm>
          <a:prstGeom prst="rect">
            <a:avLst/>
          </a:prstGeom>
          <a:noFill/>
        </p:spPr>
        <p:txBody>
          <a:bodyPr wrap="square" anchor="t">
            <a:spAutoFit/>
          </a:bodyPr>
          <a:lstStyle/>
          <a:p>
            <a:pPr>
              <a:spcAft>
                <a:spcPts val="200"/>
              </a:spcAft>
            </a:pPr>
            <a:r>
              <a:rPr sz="1250" b="1" i="0">
                <a:solidFill>
                  <a:srgbClr val="2F7DC8"/>
                </a:solidFill>
                <a:latin typeface="Arial"/>
              </a:rPr>
              <a:t>SIMULATION RESULTS</a:t>
            </a:r>
          </a:p>
          <a:p>
            <a:r>
              <a:rPr sz="2700" b="1" i="0">
                <a:solidFill>
                  <a:srgbClr val="1F2A44"/>
                </a:solidFill>
                <a:latin typeface="Arial"/>
              </a:rPr>
              <a:t>Result: beats RCT-only on all four criteria at once</a:t>
            </a:r>
          </a:p>
        </p:txBody>
      </p:sp>
      <p:sp>
        <p:nvSpPr>
          <p:cNvPr id="4" name="Rectangle 3"/>
          <p:cNvSpPr/>
          <p:nvPr/>
        </p:nvSpPr>
        <p:spPr>
          <a:xfrm>
            <a:off x="521207" y="1225296"/>
            <a:ext cx="2103120" cy="41148"/>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940674" y="1371600"/>
            <a:ext cx="8371610" cy="25146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ab_ref.png"/>
          <p:cNvPicPr>
            <a:picLocks noChangeAspect="1"/>
          </p:cNvPicPr>
          <p:nvPr/>
        </p:nvPicPr>
        <p:blipFill>
          <a:blip r:embed="rId2"/>
          <a:stretch>
            <a:fillRect/>
          </a:stretch>
        </p:blipFill>
        <p:spPr>
          <a:xfrm>
            <a:off x="2050402" y="1463040"/>
            <a:ext cx="8152154" cy="2331720"/>
          </a:xfrm>
          <a:prstGeom prst="rect">
            <a:avLst/>
          </a:prstGeom>
        </p:spPr>
      </p:pic>
      <p:sp>
        <p:nvSpPr>
          <p:cNvPr id="7" name="TextBox 6"/>
          <p:cNvSpPr txBox="1"/>
          <p:nvPr/>
        </p:nvSpPr>
        <p:spPr>
          <a:xfrm>
            <a:off x="502920" y="4023360"/>
            <a:ext cx="11247120" cy="2377440"/>
          </a:xfrm>
          <a:prstGeom prst="rect">
            <a:avLst/>
          </a:prstGeom>
          <a:noFill/>
        </p:spPr>
        <p:txBody>
          <a:bodyPr wrap="square" anchor="t">
            <a:spAutoFit/>
          </a:bodyPr>
          <a:lstStyle/>
          <a:p>
            <a:pPr>
              <a:spcAft>
                <a:spcPts val="800"/>
              </a:spcAft>
            </a:pPr>
            <a:r>
              <a:rPr sz="1450" b="1" i="0">
                <a:solidFill>
                  <a:srgbClr val="1F2A44"/>
                </a:solidFill>
                <a:latin typeface="Arial"/>
              </a:rPr>
              <a:t>sym-ada (our default screen) is the only ATTAINABLE method that beats RCT-only on all four criteria simultaneously: unbiased (0.00), lower RMSE (0.18 vs 0.20), type-I no worse than RCT-only (0.06), higher power (0.73 vs 0.64).</a:t>
            </a:r>
          </a:p>
          <a:p>
            <a:pPr>
              <a:spcAft>
                <a:spcPts val="800"/>
              </a:spcAft>
            </a:pPr>
            <a:r>
              <a:rPr sz="1450" b="0" i="0">
                <a:solidFill>
                  <a:srgbClr val="333740"/>
                </a:solidFill>
                <a:latin typeface="Arial"/>
              </a:rPr>
              <a:t>It reaches most of the way to the UNATTAINABLE oracle (0.78 power, 0.17 RMSE) — which knows the true labels.</a:t>
            </a:r>
          </a:p>
          <a:p>
            <a:pPr>
              <a:spcAft>
                <a:spcPts val="800"/>
              </a:spcAft>
            </a:pPr>
            <a:r>
              <a:rPr sz="1450" b="0" i="0">
                <a:solidFill>
                  <a:srgbClr val="B02E2E"/>
                </a:solidFill>
                <a:latin typeface="Arial"/>
              </a:rPr>
              <a:t>Full borrowing is catastrophic: bias −0.42, type-I 0.42, coverage collapses.</a:t>
            </a:r>
          </a:p>
          <a:p>
            <a:pPr lvl="1">
              <a:spcAft>
                <a:spcPts val="600"/>
              </a:spcAft>
            </a:pPr>
            <a:r>
              <a:rPr sz="1350" b="0" i="0">
                <a:solidFill>
                  <a:srgbClr val="6B7280"/>
                </a:solidFill>
                <a:latin typeface="Arial"/>
              </a:rPr>
              <a:t>–  </a:t>
            </a:r>
            <a:r>
              <a:rPr sz="1350" b="0" i="0">
                <a:solidFill>
                  <a:srgbClr val="333740"/>
                </a:solidFill>
                <a:latin typeface="Arial"/>
              </a:rPr>
              <a:t>300 replicates, B = 500 full-pipeline bootstraps; read type-I relative to the RCT-only column (a shared bootstrap-CI floor).</a:t>
            </a:r>
          </a:p>
        </p:txBody>
      </p:sp>
      <p:sp>
        <p:nvSpPr>
          <p:cNvPr id="8" name="TextBox 7"/>
          <p:cNvSpPr txBox="1"/>
          <p:nvPr/>
        </p:nvSpPr>
        <p:spPr>
          <a:xfrm>
            <a:off x="11094415" y="6455664"/>
            <a:ext cx="914400" cy="320040"/>
          </a:xfrm>
          <a:prstGeom prst="rect">
            <a:avLst/>
          </a:prstGeom>
          <a:noFill/>
        </p:spPr>
        <p:txBody>
          <a:bodyPr wrap="square" anchor="t">
            <a:spAutoFit/>
          </a:bodyPr>
          <a:lstStyle/>
          <a:p>
            <a:pPr algn="r"/>
            <a:r>
              <a:rPr sz="1100" b="0" i="0">
                <a:solidFill>
                  <a:srgbClr val="6B7280"/>
                </a:solidFill>
                <a:latin typeface="Arial"/>
              </a:rPr>
              <a:t>24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5855" cy="932688"/>
          </a:xfrm>
          <a:prstGeom prst="rect">
            <a:avLst/>
          </a:prstGeom>
          <a:noFill/>
        </p:spPr>
        <p:txBody>
          <a:bodyPr wrap="square" anchor="t">
            <a:spAutoFit/>
          </a:bodyPr>
          <a:lstStyle/>
          <a:p>
            <a:pPr>
              <a:spcAft>
                <a:spcPts val="200"/>
              </a:spcAft>
            </a:pPr>
            <a:r>
              <a:rPr sz="1250" b="1" i="0">
                <a:solidFill>
                  <a:srgbClr val="2F7DC8"/>
                </a:solidFill>
                <a:latin typeface="Arial"/>
              </a:rPr>
              <a:t>SIMULATION RESULTS</a:t>
            </a:r>
          </a:p>
          <a:p>
            <a:r>
              <a:rPr sz="2700" b="1" i="0">
                <a:solidFill>
                  <a:srgbClr val="1F2A44"/>
                </a:solidFill>
                <a:latin typeface="Arial"/>
              </a:rPr>
              <a:t>Result: robust — and CV+ is the efficiency lever</a:t>
            </a:r>
          </a:p>
        </p:txBody>
      </p:sp>
      <p:sp>
        <p:nvSpPr>
          <p:cNvPr id="4" name="Rectangle 3"/>
          <p:cNvSpPr/>
          <p:nvPr/>
        </p:nvSpPr>
        <p:spPr>
          <a:xfrm>
            <a:off x="521207" y="1225296"/>
            <a:ext cx="2103120" cy="41148"/>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755240" y="1371600"/>
            <a:ext cx="8742478" cy="23317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ab_robust.png"/>
          <p:cNvPicPr>
            <a:picLocks noChangeAspect="1"/>
          </p:cNvPicPr>
          <p:nvPr/>
        </p:nvPicPr>
        <p:blipFill>
          <a:blip r:embed="rId2"/>
          <a:stretch>
            <a:fillRect/>
          </a:stretch>
        </p:blipFill>
        <p:spPr>
          <a:xfrm>
            <a:off x="1864968" y="1463040"/>
            <a:ext cx="8523022" cy="2148840"/>
          </a:xfrm>
          <a:prstGeom prst="rect">
            <a:avLst/>
          </a:prstGeom>
        </p:spPr>
      </p:pic>
      <p:sp>
        <p:nvSpPr>
          <p:cNvPr id="7" name="TextBox 6"/>
          <p:cNvSpPr txBox="1"/>
          <p:nvPr/>
        </p:nvSpPr>
        <p:spPr>
          <a:xfrm>
            <a:off x="502920" y="3840480"/>
            <a:ext cx="11247120" cy="2560320"/>
          </a:xfrm>
          <a:prstGeom prst="rect">
            <a:avLst/>
          </a:prstGeom>
          <a:noFill/>
        </p:spPr>
        <p:txBody>
          <a:bodyPr wrap="square" anchor="t">
            <a:spAutoFit/>
          </a:bodyPr>
          <a:lstStyle/>
          <a:p>
            <a:pPr>
              <a:spcAft>
                <a:spcPts val="800"/>
              </a:spcAft>
            </a:pPr>
            <a:r>
              <a:rPr sz="1450" b="0" i="0">
                <a:solidFill>
                  <a:srgbClr val="333740"/>
                </a:solidFill>
                <a:latin typeface="Arial"/>
              </a:rPr>
              <a:t>Robust to model misspecification: even dropping the covariate from the working mean model barely moves bias or power — the shared model error is absorbed by the RCT-control calibration.</a:t>
            </a:r>
          </a:p>
          <a:p>
            <a:pPr>
              <a:spcAft>
                <a:spcPts val="800"/>
              </a:spcAft>
            </a:pPr>
            <a:r>
              <a:rPr sz="1450" b="0" i="0">
                <a:solidFill>
                  <a:srgbClr val="333740"/>
                </a:solidFill>
                <a:latin typeface="Arial"/>
              </a:rPr>
              <a:t>Weighting is a low-cost safeguard: a near no-op under the correct model; it earns its keep under misspecification and at low signal-to-noise.</a:t>
            </a:r>
          </a:p>
          <a:p>
            <a:pPr>
              <a:spcAft>
                <a:spcPts val="800"/>
              </a:spcAft>
            </a:pPr>
            <a:r>
              <a:rPr sz="1450" b="1" i="0">
                <a:solidFill>
                  <a:srgbClr val="1F2A44"/>
                </a:solidFill>
                <a:latin typeface="Arial"/>
              </a:rPr>
              <a:t>CV+ vs one-time split: +0.06 power (0.71 vs 0.65) at controlled type-I — simply by not wasting the scarce randomized controls.</a:t>
            </a:r>
          </a:p>
        </p:txBody>
      </p:sp>
      <p:sp>
        <p:nvSpPr>
          <p:cNvPr id="8" name="TextBox 7"/>
          <p:cNvSpPr txBox="1"/>
          <p:nvPr/>
        </p:nvSpPr>
        <p:spPr>
          <a:xfrm>
            <a:off x="11094415" y="6455664"/>
            <a:ext cx="914400" cy="320040"/>
          </a:xfrm>
          <a:prstGeom prst="rect">
            <a:avLst/>
          </a:prstGeom>
          <a:noFill/>
        </p:spPr>
        <p:txBody>
          <a:bodyPr wrap="square" anchor="t">
            <a:spAutoFit/>
          </a:bodyPr>
          <a:lstStyle/>
          <a:p>
            <a:pPr algn="r"/>
            <a:r>
              <a:rPr sz="1100" b="0" i="0">
                <a:solidFill>
                  <a:srgbClr val="6B7280"/>
                </a:solidFill>
                <a:latin typeface="Arial"/>
              </a:rPr>
              <a:t>25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61488"/>
            <a:ext cx="12191695" cy="45720"/>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148840"/>
            <a:ext cx="10180015" cy="2011680"/>
          </a:xfrm>
          <a:prstGeom prst="rect">
            <a:avLst/>
          </a:prstGeom>
          <a:noFill/>
        </p:spPr>
        <p:txBody>
          <a:bodyPr wrap="square" anchor="t">
            <a:spAutoFit/>
          </a:bodyPr>
          <a:lstStyle/>
          <a:p>
            <a:pPr>
              <a:spcAft>
                <a:spcPts val="600"/>
              </a:spcAft>
            </a:pPr>
            <a:r>
              <a:rPr sz="1700" b="1" i="0">
                <a:solidFill>
                  <a:srgbClr val="2F7DC8"/>
                </a:solidFill>
                <a:latin typeface="Arial"/>
              </a:rPr>
              <a:t>PART IV</a:t>
            </a:r>
          </a:p>
          <a:p>
            <a:r>
              <a:rPr sz="4000" b="1" i="0">
                <a:solidFill>
                  <a:srgbClr val="FFFFFF"/>
                </a:solidFill>
                <a:latin typeface="Arial"/>
              </a:rPr>
              <a:t>Discussion</a:t>
            </a:r>
          </a:p>
          <a:p>
            <a:pPr>
              <a:spcBef>
                <a:spcPts val="800"/>
              </a:spcBef>
            </a:pPr>
            <a:r>
              <a:rPr sz="1600" b="0" i="1">
                <a:solidFill>
                  <a:srgbClr val="C9D4E4"/>
                </a:solidFill>
                <a:latin typeface="Arial"/>
              </a:rPr>
              <a:t>Scope, limits, and open problems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5855" cy="932688"/>
          </a:xfrm>
          <a:prstGeom prst="rect">
            <a:avLst/>
          </a:prstGeom>
          <a:noFill/>
        </p:spPr>
        <p:txBody>
          <a:bodyPr wrap="square" anchor="t">
            <a:spAutoFit/>
          </a:bodyPr>
          <a:lstStyle/>
          <a:p>
            <a:pPr>
              <a:spcAft>
                <a:spcPts val="200"/>
              </a:spcAft>
            </a:pPr>
            <a:r>
              <a:rPr sz="1250" b="1" i="0">
                <a:solidFill>
                  <a:srgbClr val="2F7DC8"/>
                </a:solidFill>
                <a:latin typeface="Arial"/>
              </a:rPr>
              <a:t>DISCUSSION</a:t>
            </a:r>
          </a:p>
          <a:p>
            <a:r>
              <a:rPr sz="2700" b="1" i="0">
                <a:solidFill>
                  <a:srgbClr val="1F2A44"/>
                </a:solidFill>
                <a:latin typeface="Arial"/>
              </a:rPr>
              <a:t>Scope, limits, and positioning</a:t>
            </a:r>
          </a:p>
        </p:txBody>
      </p:sp>
      <p:sp>
        <p:nvSpPr>
          <p:cNvPr id="4" name="Rectangle 3"/>
          <p:cNvSpPr/>
          <p:nvPr/>
        </p:nvSpPr>
        <p:spPr>
          <a:xfrm>
            <a:off x="521207" y="1225296"/>
            <a:ext cx="2103120" cy="41148"/>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17320"/>
            <a:ext cx="11247120" cy="4937760"/>
          </a:xfrm>
          <a:prstGeom prst="rect">
            <a:avLst/>
          </a:prstGeom>
          <a:noFill/>
        </p:spPr>
        <p:txBody>
          <a:bodyPr wrap="square" anchor="t">
            <a:spAutoFit/>
          </a:bodyPr>
          <a:lstStyle/>
          <a:p>
            <a:pPr>
              <a:spcAft>
                <a:spcPts val="800"/>
              </a:spcAft>
            </a:pPr>
            <a:r>
              <a:rPr sz="1450" b="1" i="0">
                <a:solidFill>
                  <a:srgbClr val="1F2A44"/>
                </a:solidFill>
                <a:latin typeface="Arial"/>
              </a:rPr>
              <a:t>Insurance, not a free lunch: residual-rank screening turns naive full-borrow's catastrophic bias into VALID, ROBUST inference, with a modest but real efficiency gain when the randomized arm is underpowered.</a:t>
            </a:r>
          </a:p>
          <a:p>
            <a:pPr>
              <a:spcBef>
                <a:spcPts val="400"/>
              </a:spcBef>
              <a:spcAft>
                <a:spcPts val="900"/>
              </a:spcAft>
            </a:pPr>
            <a:r>
              <a:rPr sz="1600" b="1" i="0">
                <a:solidFill>
                  <a:srgbClr val="2F7DC8"/>
                </a:solidFill>
                <a:latin typeface="Arial"/>
              </a:rPr>
              <a:t>The upside is bounded</a:t>
            </a:r>
          </a:p>
          <a:p>
            <a:pPr>
              <a:spcAft>
                <a:spcPts val="800"/>
              </a:spcAft>
            </a:pPr>
            <a:r>
              <a:rPr sz="1450" b="1" i="0">
                <a:solidFill>
                  <a:srgbClr val="2F7DC8"/>
                </a:solidFill>
                <a:latin typeface="Arial"/>
              </a:rPr>
              <a:t>▪  </a:t>
            </a:r>
            <a:r>
              <a:rPr sz="1450" b="0" i="0">
                <a:solidFill>
                  <a:srgbClr val="333740"/>
                </a:solidFill>
                <a:latin typeface="Arial"/>
              </a:rPr>
              <a:t>An oracle-ceiling limits the gain to ≈ 15–25% RMSE: the treated arm is not borrowable, so the borrowable share of variance is  n(R,1) / (n(R,0)+n(R,1)).</a:t>
            </a:r>
          </a:p>
          <a:p>
            <a:pPr>
              <a:spcAft>
                <a:spcPts val="800"/>
              </a:spcAft>
            </a:pPr>
            <a:r>
              <a:rPr sz="1450" b="1" i="0">
                <a:solidFill>
                  <a:srgbClr val="2F7DC8"/>
                </a:solidFill>
                <a:latin typeface="Arial"/>
              </a:rPr>
              <a:t>▪  </a:t>
            </a:r>
            <a:r>
              <a:rPr sz="1450" b="0" i="0">
                <a:solidFill>
                  <a:srgbClr val="333740"/>
                </a:solidFill>
                <a:latin typeface="Arial"/>
              </a:rPr>
              <a:t>Borrowing helps most when randomized controls are scarce — but the screen also needs enough controls to calibrate; CV+ widens this window.</a:t>
            </a:r>
          </a:p>
          <a:p>
            <a:pPr>
              <a:spcBef>
                <a:spcPts val="400"/>
              </a:spcBef>
              <a:spcAft>
                <a:spcPts val="900"/>
              </a:spcAft>
            </a:pPr>
            <a:r>
              <a:rPr sz="1600" b="1" i="0">
                <a:solidFill>
                  <a:srgbClr val="2F7DC8"/>
                </a:solidFill>
                <a:latin typeface="Arial"/>
              </a:rPr>
              <a:t>Two things you must choose well</a:t>
            </a:r>
          </a:p>
          <a:p>
            <a:pPr>
              <a:spcAft>
                <a:spcPts val="800"/>
              </a:spcAft>
            </a:pPr>
            <a:r>
              <a:rPr sz="1450" b="1" i="0">
                <a:solidFill>
                  <a:srgbClr val="2F7DC8"/>
                </a:solidFill>
                <a:latin typeface="Arial"/>
              </a:rPr>
              <a:t>▪  </a:t>
            </a:r>
            <a:r>
              <a:rPr sz="1450" b="0" i="0">
                <a:solidFill>
                  <a:srgbClr val="333740"/>
                </a:solidFill>
                <a:latin typeface="Arial"/>
              </a:rPr>
              <a:t>The score must match the anticipated drift shape (a mismatched contrast is blind to the drift).</a:t>
            </a:r>
          </a:p>
          <a:p>
            <a:pPr>
              <a:spcAft>
                <a:spcPts val="800"/>
              </a:spcAft>
            </a:pPr>
            <a:r>
              <a:rPr sz="1450" b="1" i="0">
                <a:solidFill>
                  <a:srgbClr val="2F7DC8"/>
                </a:solidFill>
                <a:latin typeface="Arial"/>
              </a:rPr>
              <a:t>▪  </a:t>
            </a:r>
            <a:r>
              <a:rPr sz="1450" b="0" i="0">
                <a:solidFill>
                  <a:srgbClr val="333740"/>
                </a:solidFill>
                <a:latin typeface="Arial"/>
              </a:rPr>
              <a:t>Detection is signal-to-noise-limited; residual undetected low-SNR drift is the main risk.</a:t>
            </a:r>
          </a:p>
        </p:txBody>
      </p:sp>
      <p:sp>
        <p:nvSpPr>
          <p:cNvPr id="6" name="TextBox 5"/>
          <p:cNvSpPr txBox="1"/>
          <p:nvPr/>
        </p:nvSpPr>
        <p:spPr>
          <a:xfrm>
            <a:off x="11094415" y="6455664"/>
            <a:ext cx="914400" cy="320040"/>
          </a:xfrm>
          <a:prstGeom prst="rect">
            <a:avLst/>
          </a:prstGeom>
          <a:noFill/>
        </p:spPr>
        <p:txBody>
          <a:bodyPr wrap="square" anchor="t">
            <a:spAutoFit/>
          </a:bodyPr>
          <a:lstStyle/>
          <a:p>
            <a:pPr algn="r"/>
            <a:r>
              <a:rPr sz="1100" b="0" i="0">
                <a:solidFill>
                  <a:srgbClr val="6B7280"/>
                </a:solidFill>
                <a:latin typeface="Arial"/>
              </a:rPr>
              <a:t>26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5855" cy="932688"/>
          </a:xfrm>
          <a:prstGeom prst="rect">
            <a:avLst/>
          </a:prstGeom>
          <a:noFill/>
        </p:spPr>
        <p:txBody>
          <a:bodyPr wrap="square" anchor="t">
            <a:spAutoFit/>
          </a:bodyPr>
          <a:lstStyle/>
          <a:p>
            <a:pPr>
              <a:spcAft>
                <a:spcPts val="200"/>
              </a:spcAft>
            </a:pPr>
            <a:r>
              <a:rPr sz="1250" b="1" i="0">
                <a:solidFill>
                  <a:srgbClr val="2F7DC8"/>
                </a:solidFill>
                <a:latin typeface="Arial"/>
              </a:rPr>
              <a:t>DISCUSSION</a:t>
            </a:r>
          </a:p>
          <a:p>
            <a:r>
              <a:rPr sz="2700" b="1" i="0">
                <a:solidFill>
                  <a:srgbClr val="1F2A44"/>
                </a:solidFill>
                <a:latin typeface="Arial"/>
              </a:rPr>
              <a:t>Two design questions the theory raises</a:t>
            </a:r>
          </a:p>
        </p:txBody>
      </p:sp>
      <p:sp>
        <p:nvSpPr>
          <p:cNvPr id="4" name="Rectangle 3"/>
          <p:cNvSpPr/>
          <p:nvPr/>
        </p:nvSpPr>
        <p:spPr>
          <a:xfrm>
            <a:off x="521207" y="1225296"/>
            <a:ext cx="2103120" cy="41148"/>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17320"/>
            <a:ext cx="11247120" cy="2651760"/>
          </a:xfrm>
          <a:prstGeom prst="rect">
            <a:avLst/>
          </a:prstGeom>
          <a:noFill/>
        </p:spPr>
        <p:txBody>
          <a:bodyPr wrap="square" anchor="t">
            <a:spAutoFit/>
          </a:bodyPr>
          <a:lstStyle/>
          <a:p>
            <a:pPr>
              <a:spcBef>
                <a:spcPts val="400"/>
              </a:spcBef>
              <a:spcAft>
                <a:spcPts val="900"/>
              </a:spcAft>
            </a:pPr>
            <a:r>
              <a:rPr sz="1500" b="1" i="0">
                <a:solidFill>
                  <a:srgbClr val="2F7DC8"/>
                </a:solidFill>
                <a:latin typeface="Arial"/>
              </a:rPr>
              <a:t>1) Which nonconformity score?</a:t>
            </a:r>
          </a:p>
          <a:p>
            <a:pPr>
              <a:spcAft>
                <a:spcPts val="800"/>
              </a:spcAft>
            </a:pPr>
            <a:r>
              <a:rPr sz="1350" b="1" i="0">
                <a:solidFill>
                  <a:srgbClr val="2F7DC8"/>
                </a:solidFill>
                <a:latin typeface="Arial"/>
              </a:rPr>
              <a:t>▪  </a:t>
            </a:r>
            <a:r>
              <a:rPr sz="1350" b="0" i="0">
                <a:solidFill>
                  <a:srgbClr val="333740"/>
                </a:solidFill>
                <a:latin typeface="Arial"/>
              </a:rPr>
              <a:t>FIRST the estimator, then the drift. c is fixed by the functional the estimator uses — not by the estimand label. A last-visit ATE gives c=(−1,0,0,1) only if the estimator ignores the earlier visits; impose longitudinal structure for efficiency (GLS / MMRM / shared trajectory) and c must span the visits.</a:t>
            </a:r>
          </a:p>
          <a:p>
            <a:pPr>
              <a:spcAft>
                <a:spcPts val="800"/>
              </a:spcAft>
            </a:pPr>
            <a:r>
              <a:rPr sz="1350" b="1" i="0">
                <a:solidFill>
                  <a:srgbClr val="2F7DC8"/>
                </a:solidFill>
                <a:latin typeface="Arial"/>
              </a:rPr>
              <a:t>▪  </a:t>
            </a:r>
            <a:r>
              <a:rPr sz="1350" b="0" i="0">
                <a:solidFill>
                  <a:srgbClr val="333740"/>
                </a:solidFill>
                <a:latin typeface="Arial"/>
              </a:rPr>
              <a:t>Then align to the anticipated drift: contrast score for global / level shifts; Mahalanobis (trajectory-shape) for ramps, curvature, transient dips; max for a single-visit spike. A score blind to the drift has no power — pick by the expected departure, and pre-specify it.</a:t>
            </a:r>
          </a:p>
          <a:p>
            <a:pPr>
              <a:spcAft>
                <a:spcPts val="800"/>
              </a:spcAft>
            </a:pPr>
            <a:r>
              <a:rPr sz="1350" b="1" i="0">
                <a:solidFill>
                  <a:srgbClr val="2F7DC8"/>
                </a:solidFill>
                <a:latin typeface="Arial"/>
              </a:rPr>
              <a:t>▪  </a:t>
            </a:r>
            <a:r>
              <a:rPr sz="1350" b="0" i="0">
                <a:solidFill>
                  <a:srgbClr val="333740"/>
                </a:solidFill>
                <a:latin typeface="Arial"/>
              </a:rPr>
              <a:t>Detection is not identification: a richer (VME-level) score catches more kinds of drift but can over-exclude compatible ECs; the estimand needs only ME-c — indexed by the estimator's a, not by the estimand's contrast.</a:t>
            </a:r>
          </a:p>
        </p:txBody>
      </p:sp>
      <p:sp>
        <p:nvSpPr>
          <p:cNvPr id="6" name="TextBox 5"/>
          <p:cNvSpPr txBox="1"/>
          <p:nvPr/>
        </p:nvSpPr>
        <p:spPr>
          <a:xfrm>
            <a:off x="502920" y="4114800"/>
            <a:ext cx="11247120" cy="2331720"/>
          </a:xfrm>
          <a:prstGeom prst="rect">
            <a:avLst/>
          </a:prstGeom>
          <a:noFill/>
        </p:spPr>
        <p:txBody>
          <a:bodyPr wrap="square" anchor="t">
            <a:spAutoFit/>
          </a:bodyPr>
          <a:lstStyle/>
          <a:p>
            <a:pPr>
              <a:spcBef>
                <a:spcPts val="400"/>
              </a:spcBef>
              <a:spcAft>
                <a:spcPts val="900"/>
              </a:spcAft>
            </a:pPr>
            <a:r>
              <a:rPr sz="1500" b="1" i="0">
                <a:solidFill>
                  <a:srgbClr val="2F7DC8"/>
                </a:solidFill>
                <a:latin typeface="Arial"/>
              </a:rPr>
              <a:t>2) The assumption hierarchy — what is actually sufficient</a:t>
            </a:r>
          </a:p>
          <a:p>
            <a:pPr>
              <a:spcAft>
                <a:spcPts val="800"/>
              </a:spcAft>
            </a:pPr>
            <a:r>
              <a:rPr sz="1350" b="1" i="0">
                <a:solidFill>
                  <a:srgbClr val="2F7DC8"/>
                </a:solidFill>
                <a:latin typeface="Arial"/>
              </a:rPr>
              <a:t>▪  </a:t>
            </a:r>
            <a:r>
              <a:rPr sz="1350" b="0" i="0">
                <a:solidFill>
                  <a:srgbClr val="333740"/>
                </a:solidFill>
                <a:latin typeface="Arial"/>
              </a:rPr>
              <a:t>Identifying the effect needs only ME-c (the one-contrast conditional mean); VME and DE are strictly stronger and are NOT required.</a:t>
            </a:r>
          </a:p>
          <a:p>
            <a:pPr>
              <a:spcAft>
                <a:spcPts val="800"/>
              </a:spcAft>
            </a:pPr>
            <a:r>
              <a:rPr sz="1350" b="1" i="0">
                <a:solidFill>
                  <a:srgbClr val="2F7DC8"/>
                </a:solidFill>
                <a:latin typeface="Arial"/>
              </a:rPr>
              <a:t>▪  </a:t>
            </a:r>
            <a:r>
              <a:rPr sz="1350" b="0" i="0">
                <a:solidFill>
                  <a:srgbClr val="333740"/>
                </a:solidFill>
                <a:latin typeface="Arial"/>
              </a:rPr>
              <a:t>Ordinary conformal validity nominally needs the full law DE; our screen relaxes this — it checks only the SCORE distribution (between ME-c and VME), a SUFFICIENT screen without assuming DE.</a:t>
            </a:r>
          </a:p>
          <a:p>
            <a:pPr>
              <a:spcAft>
                <a:spcPts val="800"/>
              </a:spcAft>
            </a:pPr>
            <a:r>
              <a:rPr sz="1350" b="1" i="0">
                <a:solidFill>
                  <a:srgbClr val="1F2A44"/>
                </a:solidFill>
                <a:latin typeface="Arial"/>
              </a:rPr>
              <a:t>The crux is the gap between what identification NEEDS (ME-c), what the screen CHECKS (the score law), and what the chosen score is SENSITIVE to — pick the score so “score-compatible” implies “ME-c-compatible.”</a:t>
            </a:r>
          </a:p>
        </p:txBody>
      </p:sp>
      <p:sp>
        <p:nvSpPr>
          <p:cNvPr id="7" name="TextBox 6"/>
          <p:cNvSpPr txBox="1"/>
          <p:nvPr/>
        </p:nvSpPr>
        <p:spPr>
          <a:xfrm>
            <a:off x="11094415" y="6455664"/>
            <a:ext cx="914400" cy="320040"/>
          </a:xfrm>
          <a:prstGeom prst="rect">
            <a:avLst/>
          </a:prstGeom>
          <a:noFill/>
        </p:spPr>
        <p:txBody>
          <a:bodyPr wrap="square" anchor="t">
            <a:spAutoFit/>
          </a:bodyPr>
          <a:lstStyle/>
          <a:p>
            <a:pPr algn="r"/>
            <a:r>
              <a:rPr sz="1100" b="0" i="0">
                <a:solidFill>
                  <a:srgbClr val="6B7280"/>
                </a:solidFill>
                <a:latin typeface="Arial"/>
              </a:rPr>
              <a:t>27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5855" cy="932688"/>
          </a:xfrm>
          <a:prstGeom prst="rect">
            <a:avLst/>
          </a:prstGeom>
          <a:noFill/>
        </p:spPr>
        <p:txBody>
          <a:bodyPr wrap="square" anchor="t">
            <a:spAutoFit/>
          </a:bodyPr>
          <a:lstStyle/>
          <a:p>
            <a:pPr>
              <a:spcAft>
                <a:spcPts val="200"/>
              </a:spcAft>
            </a:pPr>
            <a:r>
              <a:rPr sz="1250" b="1" i="0">
                <a:solidFill>
                  <a:srgbClr val="2F7DC8"/>
                </a:solidFill>
                <a:latin typeface="Arial"/>
              </a:rPr>
              <a:t>DISCUSSION &amp; PROBLEMS</a:t>
            </a:r>
          </a:p>
          <a:p>
            <a:r>
              <a:rPr sz="2700" b="1" i="0">
                <a:solidFill>
                  <a:srgbClr val="1F2A44"/>
                </a:solidFill>
                <a:latin typeface="Arial"/>
              </a:rPr>
              <a:t>Open problems</a:t>
            </a:r>
          </a:p>
        </p:txBody>
      </p:sp>
      <p:sp>
        <p:nvSpPr>
          <p:cNvPr id="4" name="Rectangle 3"/>
          <p:cNvSpPr/>
          <p:nvPr/>
        </p:nvSpPr>
        <p:spPr>
          <a:xfrm>
            <a:off x="521207" y="1225296"/>
            <a:ext cx="2103120" cy="41148"/>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17320"/>
            <a:ext cx="11247120" cy="4937760"/>
          </a:xfrm>
          <a:prstGeom prst="rect">
            <a:avLst/>
          </a:prstGeom>
          <a:noFill/>
        </p:spPr>
        <p:txBody>
          <a:bodyPr wrap="square" anchor="t">
            <a:spAutoFit/>
          </a:bodyPr>
          <a:lstStyle/>
          <a:p>
            <a:pPr>
              <a:spcAft>
                <a:spcPts val="800"/>
              </a:spcAft>
            </a:pPr>
            <a:r>
              <a:rPr sz="1500" b="1" i="0">
                <a:solidFill>
                  <a:srgbClr val="2F7DC8"/>
                </a:solidFill>
                <a:latin typeface="Arial"/>
              </a:rPr>
              <a:t>▪  </a:t>
            </a:r>
            <a:r>
              <a:rPr sz="1500" b="0" i="0">
                <a:solidFill>
                  <a:srgbClr val="333740"/>
                </a:solidFill>
                <a:latin typeface="Arial"/>
              </a:rPr>
              <a:t>Soft / continuous borrowing: down-weight rather than hard keep/drop, to remove the selection bias scalably (the current screen trades a little bias for robustness).</a:t>
            </a:r>
          </a:p>
          <a:p>
            <a:pPr>
              <a:spcAft>
                <a:spcPts val="800"/>
              </a:spcAft>
            </a:pPr>
            <a:r>
              <a:rPr sz="1500" b="1" i="0">
                <a:solidFill>
                  <a:srgbClr val="2F7DC8"/>
                </a:solidFill>
                <a:latin typeface="Arial"/>
              </a:rPr>
              <a:t>▪  </a:t>
            </a:r>
            <a:r>
              <a:rPr sz="1500" b="0" i="0">
                <a:solidFill>
                  <a:srgbClr val="333740"/>
                </a:solidFill>
                <a:latin typeface="Arial"/>
              </a:rPr>
              <a:t>Nested bootstrap for the adaptive-γ confidence interval: the current re-use of the point-selected γ inside the bootstrap is mildly anti-conservative.</a:t>
            </a:r>
          </a:p>
          <a:p>
            <a:pPr>
              <a:spcAft>
                <a:spcPts val="800"/>
              </a:spcAft>
            </a:pPr>
            <a:r>
              <a:rPr sz="1500" b="1" i="0">
                <a:solidFill>
                  <a:srgbClr val="2F7DC8"/>
                </a:solidFill>
                <a:latin typeface="Arial"/>
              </a:rPr>
              <a:t>▪  </a:t>
            </a:r>
            <a:r>
              <a:rPr sz="1500" b="0" i="0">
                <a:solidFill>
                  <a:srgbClr val="333740"/>
                </a:solidFill>
                <a:latin typeface="Arial"/>
              </a:rPr>
              <a:t>Type-I is reported RELATIVE to RCT-only — both share a percentile-bootstrap floor set by the number of resamples B; larger B pulls the absolute value to nominal.</a:t>
            </a:r>
          </a:p>
          <a:p>
            <a:pPr>
              <a:spcAft>
                <a:spcPts val="800"/>
              </a:spcAft>
            </a:pPr>
            <a:r>
              <a:rPr sz="1500" b="1" i="0">
                <a:solidFill>
                  <a:srgbClr val="2F7DC8"/>
                </a:solidFill>
                <a:latin typeface="Arial"/>
              </a:rPr>
              <a:t>▪  </a:t>
            </a:r>
            <a:r>
              <a:rPr sz="1500" b="0" i="0">
                <a:solidFill>
                  <a:srgbClr val="333740"/>
                </a:solidFill>
                <a:latin typeface="Arial"/>
              </a:rPr>
              <a:t>Multiplicity / FDR across many external controls (family-wise exclusion of at least one compatible EC is common).</a:t>
            </a:r>
          </a:p>
          <a:p>
            <a:pPr>
              <a:spcAft>
                <a:spcPts val="800"/>
              </a:spcAft>
            </a:pPr>
            <a:r>
              <a:rPr sz="1500" b="1" i="0">
                <a:solidFill>
                  <a:srgbClr val="2F7DC8"/>
                </a:solidFill>
                <a:latin typeface="Arial"/>
              </a:rPr>
              <a:t>▪  </a:t>
            </a:r>
            <a:r>
              <a:rPr sz="1500" b="0" i="0">
                <a:solidFill>
                  <a:srgbClr val="333740"/>
                </a:solidFill>
                <a:latin typeface="Arial"/>
              </a:rPr>
              <a:t>Validation on a covariate-driven (plasmode) design, beyond the analytic binary toy, to show the conclusions are not an artifact of the toy.</a:t>
            </a:r>
          </a:p>
        </p:txBody>
      </p:sp>
      <p:sp>
        <p:nvSpPr>
          <p:cNvPr id="6" name="TextBox 5"/>
          <p:cNvSpPr txBox="1"/>
          <p:nvPr/>
        </p:nvSpPr>
        <p:spPr>
          <a:xfrm>
            <a:off x="11094415" y="6455664"/>
            <a:ext cx="914400" cy="320040"/>
          </a:xfrm>
          <a:prstGeom prst="rect">
            <a:avLst/>
          </a:prstGeom>
          <a:noFill/>
        </p:spPr>
        <p:txBody>
          <a:bodyPr wrap="square" anchor="t">
            <a:spAutoFit/>
          </a:bodyPr>
          <a:lstStyle/>
          <a:p>
            <a:pPr algn="r"/>
            <a:r>
              <a:rPr sz="1100" b="0" i="0">
                <a:solidFill>
                  <a:srgbClr val="6B7280"/>
                </a:solidFill>
                <a:latin typeface="Arial"/>
              </a:rPr>
              <a:t>28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5855" cy="932688"/>
          </a:xfrm>
          <a:prstGeom prst="rect">
            <a:avLst/>
          </a:prstGeom>
          <a:noFill/>
        </p:spPr>
        <p:txBody>
          <a:bodyPr wrap="square" anchor="t">
            <a:spAutoFit/>
          </a:bodyPr>
          <a:lstStyle/>
          <a:p>
            <a:pPr>
              <a:spcAft>
                <a:spcPts val="200"/>
              </a:spcAft>
            </a:pPr>
            <a:r>
              <a:rPr sz="1250" b="1" i="0">
                <a:solidFill>
                  <a:srgbClr val="2F7DC8"/>
                </a:solidFill>
                <a:latin typeface="Arial"/>
              </a:rPr>
              <a:t>TAKEAWAYS</a:t>
            </a:r>
          </a:p>
          <a:p>
            <a:r>
              <a:rPr sz="2700" b="1" i="0">
                <a:solidFill>
                  <a:srgbClr val="1F2A44"/>
                </a:solidFill>
                <a:latin typeface="Arial"/>
              </a:rPr>
              <a:t>Summary</a:t>
            </a:r>
          </a:p>
        </p:txBody>
      </p:sp>
      <p:sp>
        <p:nvSpPr>
          <p:cNvPr id="4" name="Rectangle 3"/>
          <p:cNvSpPr/>
          <p:nvPr/>
        </p:nvSpPr>
        <p:spPr>
          <a:xfrm>
            <a:off x="521207" y="1225296"/>
            <a:ext cx="2103120" cy="41148"/>
          </a:xfrm>
          <a:prstGeom prst="rect">
            <a:avLst/>
          </a:prstGeom>
          <a:solidFill>
            <a:srgbClr val="2F7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71600"/>
            <a:ext cx="11247120" cy="5120640"/>
          </a:xfrm>
          <a:prstGeom prst="rect">
            <a:avLst/>
          </a:prstGeom>
          <a:noFill/>
        </p:spPr>
        <p:txBody>
          <a:bodyPr wrap="square" anchor="t">
            <a:spAutoFit/>
          </a:bodyPr>
          <a:lstStyle/>
          <a:p>
            <a:pPr>
              <a:spcBef>
                <a:spcPts val="400"/>
              </a:spcBef>
              <a:spcAft>
                <a:spcPts val="900"/>
              </a:spcAft>
            </a:pPr>
            <a:r>
              <a:rPr sz="1600" b="1" i="0">
                <a:solidFill>
                  <a:srgbClr val="2F7DC8"/>
                </a:solidFill>
                <a:latin typeface="Arial"/>
              </a:rPr>
              <a:t>Problem</a:t>
            </a:r>
          </a:p>
          <a:p>
            <a:pPr>
              <a:spcAft>
                <a:spcPts val="800"/>
              </a:spcAft>
            </a:pPr>
            <a:r>
              <a:rPr sz="1450" b="1" i="0">
                <a:solidFill>
                  <a:srgbClr val="2F7DC8"/>
                </a:solidFill>
                <a:latin typeface="Arial"/>
              </a:rPr>
              <a:t>▪  </a:t>
            </a:r>
            <a:r>
              <a:rPr sz="1450" b="0" i="0">
                <a:solidFill>
                  <a:srgbClr val="333740"/>
                </a:solidFill>
                <a:latin typeface="Arial"/>
              </a:rPr>
              <a:t>Borrow external controls to sharpen a hybrid trial — without importing bias from incompatible ones.</a:t>
            </a:r>
          </a:p>
          <a:p>
            <a:pPr>
              <a:spcBef>
                <a:spcPts val="400"/>
              </a:spcBef>
              <a:spcAft>
                <a:spcPts val="900"/>
              </a:spcAft>
            </a:pPr>
            <a:r>
              <a:rPr sz="1600" b="1" i="0">
                <a:solidFill>
                  <a:srgbClr val="2F7DC8"/>
                </a:solidFill>
                <a:latin typeface="Arial"/>
              </a:rPr>
              <a:t>Idea</a:t>
            </a:r>
          </a:p>
          <a:p>
            <a:pPr>
              <a:spcAft>
                <a:spcPts val="800"/>
              </a:spcAft>
            </a:pPr>
            <a:r>
              <a:rPr sz="1450" b="1" i="0">
                <a:solidFill>
                  <a:srgbClr val="2F7DC8"/>
                </a:solidFill>
                <a:latin typeface="Arial"/>
              </a:rPr>
              <a:t>▪  </a:t>
            </a:r>
            <a:r>
              <a:rPr sz="1450" b="0" i="0">
                <a:solidFill>
                  <a:srgbClr val="333740"/>
                </a:solidFill>
                <a:latin typeface="Arial"/>
              </a:rPr>
              <a:t>Rank each EC's longitudinal residual score among the randomized controls — weighted to absorb covariate shift — and borrow only the conforming ones through a transported AIPW.</a:t>
            </a:r>
          </a:p>
          <a:p>
            <a:pPr>
              <a:spcBef>
                <a:spcPts val="400"/>
              </a:spcBef>
              <a:spcAft>
                <a:spcPts val="900"/>
              </a:spcAft>
            </a:pPr>
            <a:r>
              <a:rPr sz="1600" b="1" i="0">
                <a:solidFill>
                  <a:srgbClr val="2F7DC8"/>
                </a:solidFill>
                <a:latin typeface="Arial"/>
              </a:rPr>
              <a:t>Three design choices that make it work</a:t>
            </a:r>
          </a:p>
          <a:p>
            <a:pPr lvl="1">
              <a:spcAft>
                <a:spcPts val="600"/>
              </a:spcAft>
            </a:pPr>
            <a:r>
              <a:rPr sz="1350" b="0" i="0">
                <a:solidFill>
                  <a:srgbClr val="6B7280"/>
                </a:solidFill>
                <a:latin typeface="Arial"/>
              </a:rPr>
              <a:t>–  </a:t>
            </a:r>
            <a:r>
              <a:rPr sz="1350" b="0" i="0">
                <a:solidFill>
                  <a:srgbClr val="333740"/>
                </a:solidFill>
                <a:latin typeface="Arial"/>
              </a:rPr>
              <a:t>Symmetric trimming → the borrowed control mean stays unbiased.</a:t>
            </a:r>
          </a:p>
          <a:p>
            <a:pPr lvl="1">
              <a:spcAft>
                <a:spcPts val="600"/>
              </a:spcAft>
            </a:pPr>
            <a:r>
              <a:rPr sz="1350" b="0" i="0">
                <a:solidFill>
                  <a:srgbClr val="6B7280"/>
                </a:solidFill>
                <a:latin typeface="Arial"/>
              </a:rPr>
              <a:t>–  </a:t>
            </a:r>
            <a:r>
              <a:rPr sz="1350" b="0" i="0">
                <a:solidFill>
                  <a:srgbClr val="333740"/>
                </a:solidFill>
                <a:latin typeface="Arial"/>
              </a:rPr>
              <a:t>CV+ rank calibration → does not waste the scarce randomized controls (the efficiency lever).</a:t>
            </a:r>
          </a:p>
          <a:p>
            <a:pPr lvl="1">
              <a:spcAft>
                <a:spcPts val="600"/>
              </a:spcAft>
            </a:pPr>
            <a:r>
              <a:rPr sz="1350" b="0" i="0">
                <a:solidFill>
                  <a:srgbClr val="6B7280"/>
                </a:solidFill>
                <a:latin typeface="Arial"/>
              </a:rPr>
              <a:t>–  </a:t>
            </a:r>
            <a:r>
              <a:rPr sz="1350" b="0" i="0">
                <a:solidFill>
                  <a:srgbClr val="333740"/>
                </a:solidFill>
                <a:latin typeface="Arial"/>
              </a:rPr>
              <a:t>Estimator-matched score (c = the estimator's a) → detects the drift that actually matters.</a:t>
            </a:r>
          </a:p>
          <a:p>
            <a:pPr>
              <a:spcBef>
                <a:spcPts val="400"/>
              </a:spcBef>
              <a:spcAft>
                <a:spcPts val="900"/>
              </a:spcAft>
            </a:pPr>
            <a:r>
              <a:rPr sz="1600" b="1" i="0">
                <a:solidFill>
                  <a:srgbClr val="2F7DC8"/>
                </a:solidFill>
                <a:latin typeface="Arial"/>
              </a:rPr>
              <a:t>Why rank, not a raw residual</a:t>
            </a:r>
          </a:p>
          <a:p>
            <a:pPr>
              <a:spcAft>
                <a:spcPts val="800"/>
              </a:spcAft>
            </a:pPr>
            <a:r>
              <a:rPr sz="1450" b="1" i="0">
                <a:solidFill>
                  <a:srgbClr val="1F2A44"/>
                </a:solidFill>
                <a:latin typeface="Arial"/>
              </a:rPr>
              <a:t>Rank calibration is distribution-free and robust to model misspecification — the core reason. Result: safe, valid, robust borrowing that beats RCT-only and approaches the oracle.</a:t>
            </a:r>
          </a:p>
        </p:txBody>
      </p:sp>
      <p:sp>
        <p:nvSpPr>
          <p:cNvPr id="6" name="TextBox 5"/>
          <p:cNvSpPr txBox="1"/>
          <p:nvPr/>
        </p:nvSpPr>
        <p:spPr>
          <a:xfrm>
            <a:off x="11094415" y="6455664"/>
            <a:ext cx="914400" cy="320040"/>
          </a:xfrm>
          <a:prstGeom prst="rect">
            <a:avLst/>
          </a:prstGeom>
          <a:noFill/>
        </p:spPr>
        <p:txBody>
          <a:bodyPr wrap="square" anchor="t">
            <a:spAutoFit/>
          </a:bodyPr>
          <a:lstStyle/>
          <a:p>
            <a:pPr algn="r"/>
            <a:r>
              <a:rPr sz="1100" b="0" i="0">
                <a:solidFill>
                  <a:srgbClr val="6B7280"/>
                </a:solidFill>
                <a:latin typeface="Arial"/>
              </a:rPr>
              <a:t>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
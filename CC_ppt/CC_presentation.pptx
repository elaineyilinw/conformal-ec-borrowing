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29.png"/><Relationship Id="rId4" Type="http://schemas.openxmlformats.org/officeDocument/2006/relationships/image" Target="../media/image30.png"/><Relationship Id="rId5" Type="http://schemas.openxmlformats.org/officeDocument/2006/relationships/image" Target="../media/image3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image" Target="../media/image3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0"/>
            <a:ext cx="12191695" cy="54864"/>
          </a:xfrm>
          <a:prstGeom prst="rect">
            <a:avLst/>
          </a:prstGeom>
          <a:solidFill>
            <a:srgbClr val="2F7D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54480"/>
            <a:ext cx="10362895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Safe Borrowing of External Controls</a:t>
            </a:r>
          </a:p>
          <a:p>
            <a:r>
              <a:rPr sz="2200" b="0" i="0">
                <a:solidFill>
                  <a:srgbClr val="8FB0DE"/>
                </a:solidFill>
                <a:latin typeface="Arial"/>
              </a:rPr>
              <a:t>via Covariate-Shift-Adjusted Longitudinal Residual-Rank Screening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343400"/>
            <a:ext cx="10362895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/>
          <a:p>
            <a:pPr>
              <a:spcAft>
                <a:spcPts val="400"/>
              </a:spcAft>
            </a:pPr>
            <a:r>
              <a:rPr sz="1600" b="0" i="0">
                <a:solidFill>
                  <a:srgbClr val="C9D4E4"/>
                </a:solidFill>
                <a:latin typeface="Arial"/>
              </a:rPr>
              <a:t>A conformal screen for hybrid controlled trials</a:t>
            </a:r>
          </a:p>
          <a:p>
            <a:pPr>
              <a:spcAft>
                <a:spcPts val="400"/>
              </a:spcAft>
            </a:pPr>
            <a:r>
              <a:rPr sz="1400" b="0" i="1">
                <a:solidFill>
                  <a:srgbClr val="9AA7BC"/>
                </a:solidFill>
                <a:latin typeface="Arial"/>
              </a:rPr>
              <a:t>Keep the compatible external controls · drop the incompatible ones · borrow safely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61488"/>
            <a:ext cx="12191695" cy="45720"/>
          </a:xfrm>
          <a:prstGeom prst="rect">
            <a:avLst/>
          </a:prstGeom>
          <a:solidFill>
            <a:srgbClr val="2F7D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148840"/>
            <a:ext cx="10180015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1700" b="1" i="0">
                <a:solidFill>
                  <a:srgbClr val="2F7DC8"/>
                </a:solidFill>
                <a:latin typeface="Arial"/>
              </a:rPr>
              <a:t>PART I</a:t>
            </a:r>
          </a:p>
          <a:p>
            <a:r>
              <a:rPr sz="4000" b="1" i="0">
                <a:solidFill>
                  <a:srgbClr val="FFFFFF"/>
                </a:solidFill>
                <a:latin typeface="Arial"/>
              </a:rPr>
              <a:t>The Problem &amp; Background</a:t>
            </a:r>
          </a:p>
          <a:p>
            <a:pPr>
              <a:spcBef>
                <a:spcPts val="800"/>
              </a:spcBef>
            </a:pPr>
            <a:r>
              <a:rPr sz="1600" b="0" i="1">
                <a:solidFill>
                  <a:srgbClr val="C9D4E4"/>
                </a:solidFill>
                <a:latin typeface="Arial"/>
              </a:rPr>
              <a:t>Why borrow external controls, and when is it dangerous?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F7D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9326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200"/>
              </a:spcAft>
            </a:pPr>
            <a:r>
              <a:rPr sz="1250" b="1" i="0">
                <a:solidFill>
                  <a:srgbClr val="2F7DC8"/>
                </a:solidFill>
                <a:latin typeface="Arial"/>
              </a:rPr>
              <a:t>SCIENTIFIC MOTIVATION</a:t>
            </a:r>
          </a:p>
          <a:p>
            <a:r>
              <a:rPr sz="2700" b="1" i="0">
                <a:solidFill>
                  <a:srgbClr val="1F2A44"/>
                </a:solidFill>
                <a:latin typeface="Arial"/>
              </a:rPr>
              <a:t>Hybrid trials: borrowing external controls</a:t>
            </a:r>
          </a:p>
        </p:txBody>
      </p:sp>
      <p:sp>
        <p:nvSpPr>
          <p:cNvPr id="4" name="Rectangle 3"/>
          <p:cNvSpPr/>
          <p:nvPr/>
        </p:nvSpPr>
        <p:spPr>
          <a:xfrm>
            <a:off x="521207" y="1225296"/>
            <a:ext cx="2103120" cy="41148"/>
          </a:xfrm>
          <a:prstGeom prst="rect">
            <a:avLst/>
          </a:prstGeom>
          <a:solidFill>
            <a:srgbClr val="2F7D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17320"/>
            <a:ext cx="598932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Bef>
                <a:spcPts val="400"/>
              </a:spcBef>
              <a:spcAft>
                <a:spcPts val="900"/>
              </a:spcAft>
            </a:pPr>
            <a:r>
              <a:rPr sz="1600" b="1" i="0">
                <a:solidFill>
                  <a:srgbClr val="2F7DC8"/>
                </a:solidFill>
                <a:latin typeface="Arial"/>
              </a:rPr>
              <a:t>The setting</a:t>
            </a:r>
          </a:p>
          <a:p>
            <a:pPr>
              <a:spcAft>
                <a:spcPts val="800"/>
              </a:spcAft>
            </a:pPr>
            <a:r>
              <a:rPr sz="1450" b="1" i="0">
                <a:solidFill>
                  <a:srgbClr val="2F7DC8"/>
                </a:solidFill>
                <a:latin typeface="Arial"/>
              </a:rPr>
              <a:t>▪  </a:t>
            </a:r>
            <a:r>
              <a:rPr sz="1450" b="0" i="0">
                <a:solidFill>
                  <a:srgbClr val="333740"/>
                </a:solidFill>
                <a:latin typeface="Arial"/>
              </a:rPr>
              <a:t>A randomized trial (RCT) gives unbiased treatment-effect estimates — but its control arm is often small, so precision and power are limited.</a:t>
            </a:r>
          </a:p>
          <a:p>
            <a:pPr>
              <a:spcAft>
                <a:spcPts val="800"/>
              </a:spcAft>
            </a:pPr>
            <a:r>
              <a:rPr sz="1450" b="1" i="0">
                <a:solidFill>
                  <a:srgbClr val="2F7DC8"/>
                </a:solidFill>
                <a:latin typeface="Arial"/>
              </a:rPr>
              <a:t>▪  </a:t>
            </a:r>
            <a:r>
              <a:rPr sz="1450" b="0" i="0">
                <a:solidFill>
                  <a:srgbClr val="333740"/>
                </a:solidFill>
                <a:latin typeface="Arial"/>
              </a:rPr>
              <a:t>Registries, historical trial arms, and electronic health records offer many external controls (ECs) that could sharpen the control comparison.</a:t>
            </a:r>
          </a:p>
          <a:p>
            <a:pPr>
              <a:spcBef>
                <a:spcPts val="400"/>
              </a:spcBef>
              <a:spcAft>
                <a:spcPts val="900"/>
              </a:spcAft>
            </a:pPr>
            <a:r>
              <a:rPr sz="1600" b="1" i="0">
                <a:solidFill>
                  <a:srgbClr val="2F7DC8"/>
                </a:solidFill>
                <a:latin typeface="Arial"/>
              </a:rPr>
              <a:t>The danger</a:t>
            </a:r>
          </a:p>
          <a:p>
            <a:pPr>
              <a:spcAft>
                <a:spcPts val="800"/>
              </a:spcAft>
            </a:pPr>
            <a:r>
              <a:rPr sz="1450" b="1" i="0">
                <a:solidFill>
                  <a:srgbClr val="2F7DC8"/>
                </a:solidFill>
                <a:latin typeface="Arial"/>
              </a:rPr>
              <a:t>▪  </a:t>
            </a:r>
            <a:r>
              <a:rPr sz="1450" b="0" i="0">
                <a:solidFill>
                  <a:srgbClr val="333740"/>
                </a:solidFill>
                <a:latin typeface="Arial"/>
              </a:rPr>
              <a:t>Borrowing ALL of them is risky: if a hidden subset is incompatible (their control-outcome law really differs), the borrowed control mean is biased and confidence-interval coverage collapses.</a:t>
            </a:r>
          </a:p>
          <a:p>
            <a:pPr>
              <a:spcAft>
                <a:spcPts val="800"/>
              </a:spcAft>
            </a:pPr>
            <a:r>
              <a:rPr sz="1450" b="1" i="0">
                <a:solidFill>
                  <a:srgbClr val="2F7DC8"/>
                </a:solidFill>
                <a:latin typeface="Arial"/>
              </a:rPr>
              <a:t>▪  </a:t>
            </a:r>
            <a:r>
              <a:rPr sz="1450" b="0" i="0">
                <a:solidFill>
                  <a:srgbClr val="333740"/>
                </a:solidFill>
                <a:latin typeface="Arial"/>
              </a:rPr>
              <a:t>RCT-only is always valid but discards the external information — precision left on the table.</a:t>
            </a:r>
          </a:p>
          <a:p>
            <a:pPr>
              <a:spcAft>
                <a:spcPts val="800"/>
              </a:spcAft>
            </a:pPr>
            <a:r>
              <a:rPr sz="1450" b="1" i="0">
                <a:solidFill>
                  <a:srgbClr val="1F2A44"/>
                </a:solidFill>
                <a:latin typeface="Arial"/>
              </a:rPr>
              <a:t>Goal: screen the external controls for outcome compatibility — keep the compatible ones, drop the rest — then borrow. “Screen, then borrow.”</a:t>
            </a:r>
          </a:p>
        </p:txBody>
      </p:sp>
      <p:pic>
        <p:nvPicPr>
          <p:cNvPr id="6" name="Picture 5" descr="fig_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2409211"/>
            <a:ext cx="5120640" cy="27710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094415" y="6455664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6B7280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F7D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9326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200"/>
              </a:spcAft>
            </a:pPr>
            <a:r>
              <a:rPr sz="1250" b="1" i="0">
                <a:solidFill>
                  <a:srgbClr val="2F7DC8"/>
                </a:solidFill>
                <a:latin typeface="Arial"/>
              </a:rPr>
              <a:t>SCIENTIFIC MOTIVATION</a:t>
            </a:r>
          </a:p>
          <a:p>
            <a:r>
              <a:rPr sz="2700" b="1" i="0">
                <a:solidFill>
                  <a:srgbClr val="1F2A44"/>
                </a:solidFill>
                <a:latin typeface="Arial"/>
              </a:rPr>
              <a:t>Why longitudinal outcomes matter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21207" y="1225296"/>
            <a:ext cx="2103120" cy="41148"/>
          </a:xfrm>
          <a:prstGeom prst="rect">
            <a:avLst/>
          </a:prstGeom>
          <a:solidFill>
            <a:srgbClr val="2F7D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371600"/>
            <a:ext cx="5943600" cy="4937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400" b="1" i="0">
                <a:solidFill>
                  <a:srgbClr val="2F7DC8"/>
                </a:solidFill>
                <a:latin typeface="Arial"/>
              </a:rPr>
              <a:t>▪  </a:t>
            </a:r>
            <a:r>
              <a:rPr sz="1400" b="0" i="0">
                <a:solidFill>
                  <a:srgbClr val="333740"/>
                </a:solidFill>
                <a:latin typeface="Arial"/>
              </a:rPr>
              <a:t>Outcomes are trajectories over visits, not a single number. The estimand is a prespecified linear contrast of the trajectory (formula at right):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6B7280"/>
                </a:solidFill>
                <a:latin typeface="Arial"/>
              </a:rPr>
              <a:t>–  </a:t>
            </a:r>
            <a:r>
              <a:rPr sz="1300" b="0" i="0">
                <a:solidFill>
                  <a:srgbClr val="333740"/>
                </a:solidFill>
                <a:latin typeface="Arial"/>
              </a:rPr>
              <a:t>examples of the contrast c: final visit · final-minus-baseline · visit average · slope · area-under-the-curve.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2F7DC8"/>
                </a:solidFill>
                <a:latin typeface="Arial"/>
              </a:rPr>
              <a:t>▪  </a:t>
            </a:r>
            <a:r>
              <a:rPr sz="1400" b="0" i="0">
                <a:solidFill>
                  <a:srgbClr val="333740"/>
                </a:solidFill>
                <a:latin typeface="Arial"/>
              </a:rPr>
              <a:t>Longitudinal data reveal the temporal PATTERN of response: two sources can agree at the last visit yet differ in early decline, slope, curvature, or recovery.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2F7DC8"/>
                </a:solidFill>
                <a:latin typeface="Arial"/>
              </a:rPr>
              <a:t>▪  </a:t>
            </a:r>
            <a:r>
              <a:rPr sz="1400" b="0" i="0">
                <a:solidFill>
                  <a:srgbClr val="333740"/>
                </a:solidFill>
                <a:latin typeface="Arial"/>
              </a:rPr>
              <a:t>Such discrepancies can matter clinically — and can expose incompatibility that a single scalar endpoint cannot see.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2F7DC8"/>
                </a:solidFill>
                <a:latin typeface="Arial"/>
              </a:rPr>
              <a:t>▪  </a:t>
            </a:r>
            <a:r>
              <a:rPr sz="1400" b="0" i="0">
                <a:solidFill>
                  <a:srgbClr val="333740"/>
                </a:solidFill>
                <a:latin typeface="Arial"/>
              </a:rPr>
              <a:t>It is also harder to model: within-subject correlation, irregular visit timing, missingness, dropout.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1F2A44"/>
                </a:solidFill>
                <a:latin typeface="Arial"/>
              </a:rPr>
              <a:t>Key takeaway: a single endpoint can hide incompatibility that the full trajectory reveals — so the screen compares whole trajectories, not one number.</a:t>
            </a:r>
          </a:p>
        </p:txBody>
      </p:sp>
      <p:pic>
        <p:nvPicPr>
          <p:cNvPr id="6" name="Picture 5" descr="fig_lo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2022278"/>
            <a:ext cx="5257800" cy="189904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834287" y="4892040"/>
            <a:ext cx="4527984" cy="9144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eq_estima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4015" y="4983480"/>
            <a:ext cx="4308528" cy="7315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094415" y="6455664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6B7280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F7D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9326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200"/>
              </a:spcAft>
            </a:pPr>
            <a:r>
              <a:rPr sz="1250" b="1" i="0">
                <a:solidFill>
                  <a:srgbClr val="2F7DC8"/>
                </a:solidFill>
                <a:latin typeface="Arial"/>
              </a:rPr>
              <a:t>SCIENTIFIC MOTIVATION</a:t>
            </a:r>
          </a:p>
          <a:p>
            <a:r>
              <a:rPr sz="2700" b="1" i="0">
                <a:solidFill>
                  <a:srgbClr val="1F2A44"/>
                </a:solidFill>
                <a:latin typeface="Arial"/>
              </a:rPr>
              <a:t>Real-world external controls differ in many ways</a:t>
            </a:r>
          </a:p>
        </p:txBody>
      </p:sp>
      <p:sp>
        <p:nvSpPr>
          <p:cNvPr id="4" name="Rectangle 3"/>
          <p:cNvSpPr/>
          <p:nvPr/>
        </p:nvSpPr>
        <p:spPr>
          <a:xfrm>
            <a:off x="521207" y="1225296"/>
            <a:ext cx="2103120" cy="41148"/>
          </a:xfrm>
          <a:prstGeom prst="rect">
            <a:avLst/>
          </a:prstGeom>
          <a:solidFill>
            <a:srgbClr val="2F7D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17320"/>
            <a:ext cx="5669280" cy="4937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Bef>
                <a:spcPts val="400"/>
              </a:spcBef>
              <a:spcAft>
                <a:spcPts val="900"/>
              </a:spcAft>
            </a:pPr>
            <a:r>
              <a:rPr sz="1650" b="1" i="0">
                <a:solidFill>
                  <a:srgbClr val="2F7DC8"/>
                </a:solidFill>
                <a:latin typeface="Arial"/>
              </a:rPr>
              <a:t>Ways compatible-looking ECs can actually differ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F7DC8"/>
                </a:solidFill>
                <a:latin typeface="Arial"/>
              </a:rPr>
              <a:t>▪  </a:t>
            </a:r>
            <a:r>
              <a:rPr sz="1500" b="0" i="0">
                <a:solidFill>
                  <a:srgbClr val="333740"/>
                </a:solidFill>
                <a:latin typeface="Arial"/>
              </a:rPr>
              <a:t>Baseline disease severity and prognostic factors;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F7DC8"/>
                </a:solidFill>
                <a:latin typeface="Arial"/>
              </a:rPr>
              <a:t>▪  </a:t>
            </a:r>
            <a:r>
              <a:rPr sz="1500" b="0" i="0">
                <a:solidFill>
                  <a:srgbClr val="333740"/>
                </a:solidFill>
                <a:latin typeface="Arial"/>
              </a:rPr>
              <a:t>Visit schedules and observation frequency;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F7DC8"/>
                </a:solidFill>
                <a:latin typeface="Arial"/>
              </a:rPr>
              <a:t>▪  </a:t>
            </a:r>
            <a:r>
              <a:rPr sz="1500" b="0" i="0">
                <a:solidFill>
                  <a:srgbClr val="333740"/>
                </a:solidFill>
                <a:latin typeface="Arial"/>
              </a:rPr>
              <a:t>Endpoint collection, measurement error, and adjudication;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F7DC8"/>
                </a:solidFill>
                <a:latin typeface="Arial"/>
              </a:rPr>
              <a:t>▪  </a:t>
            </a:r>
            <a:r>
              <a:rPr sz="1500" b="0" i="0">
                <a:solidFill>
                  <a:srgbClr val="333740"/>
                </a:solidFill>
                <a:latin typeface="Arial"/>
              </a:rPr>
              <a:t>Missingness and dropout mechanisms;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F7DC8"/>
                </a:solidFill>
                <a:latin typeface="Arial"/>
              </a:rPr>
              <a:t>▪  </a:t>
            </a:r>
            <a:r>
              <a:rPr sz="1500" b="0" i="0">
                <a:solidFill>
                  <a:srgbClr val="333740"/>
                </a:solidFill>
                <a:latin typeface="Arial"/>
              </a:rPr>
              <a:t>Calendar time, standard of care, concomitant treatment;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F7DC8"/>
                </a:solidFill>
                <a:latin typeface="Arial"/>
              </a:rPr>
              <a:t>▪  </a:t>
            </a:r>
            <a:r>
              <a:rPr sz="1500" b="0" i="0">
                <a:solidFill>
                  <a:srgbClr val="333740"/>
                </a:solidFill>
                <a:latin typeface="Arial"/>
              </a:rPr>
              <a:t>Conditional outcome means, variances, correlations, or tails.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46520" y="1417320"/>
            <a:ext cx="5303520" cy="4937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Bef>
                <a:spcPts val="400"/>
              </a:spcBef>
              <a:spcAft>
                <a:spcPts val="900"/>
              </a:spcAft>
            </a:pPr>
            <a:r>
              <a:rPr sz="1650" b="1" i="0">
                <a:solidFill>
                  <a:srgbClr val="2F7DC8"/>
                </a:solidFill>
                <a:latin typeface="Arial"/>
              </a:rPr>
              <a:t>The consequence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740"/>
                </a:solidFill>
                <a:latin typeface="Arial"/>
              </a:rPr>
              <a:t>Full borrowing improves precision ONLY if the ECs are compatible; otherwise it injects bias.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1F2A44"/>
                </a:solidFill>
                <a:latin typeface="Arial"/>
              </a:rPr>
              <a:t>So the scientific question is not WHETHER to use external data, but WHICH external subjects carry credible information for the trial population.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740"/>
                </a:solidFill>
                <a:latin typeface="Arial"/>
              </a:rPr>
              <a:t>Our answer: screen at the OUTCOME level (residual trajectories) — complementary to design-stage covariate balancing.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55664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6B7280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F7D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9326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200"/>
              </a:spcAft>
            </a:pPr>
            <a:r>
              <a:rPr sz="1250" b="1" i="0">
                <a:solidFill>
                  <a:srgbClr val="2F7DC8"/>
                </a:solidFill>
                <a:latin typeface="Arial"/>
              </a:rPr>
              <a:t>IDENTIFICATION ASSUMPTIONS &amp; DIAGNOSTIC TARGETS</a:t>
            </a:r>
          </a:p>
          <a:p>
            <a:r>
              <a:rPr sz="2700" b="1" i="0">
                <a:solidFill>
                  <a:srgbClr val="1F2A44"/>
                </a:solidFill>
                <a:latin typeface="Arial"/>
              </a:rPr>
              <a:t>Identification: notation and the target</a:t>
            </a:r>
          </a:p>
        </p:txBody>
      </p:sp>
      <p:sp>
        <p:nvSpPr>
          <p:cNvPr id="4" name="Rectangle 3"/>
          <p:cNvSpPr/>
          <p:nvPr/>
        </p:nvSpPr>
        <p:spPr>
          <a:xfrm>
            <a:off x="521207" y="1225296"/>
            <a:ext cx="2103120" cy="41148"/>
          </a:xfrm>
          <a:prstGeom prst="rect">
            <a:avLst/>
          </a:prstGeom>
          <a:solidFill>
            <a:srgbClr val="2F7D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17320"/>
            <a:ext cx="640080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Bef>
                <a:spcPts val="400"/>
              </a:spcBef>
              <a:spcAft>
                <a:spcPts val="900"/>
              </a:spcAft>
            </a:pPr>
            <a:r>
              <a:rPr sz="1650" b="1" i="0">
                <a:solidFill>
                  <a:srgbClr val="2F7DC8"/>
                </a:solidFill>
                <a:latin typeface="Arial"/>
              </a:rPr>
              <a:t>Notation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F7DC8"/>
                </a:solidFill>
                <a:latin typeface="Arial"/>
              </a:rPr>
              <a:t>▪  </a:t>
            </a:r>
            <a:r>
              <a:rPr sz="1500" b="0" i="0">
                <a:solidFill>
                  <a:srgbClr val="333740"/>
                </a:solidFill>
                <a:latin typeface="Arial"/>
              </a:rPr>
              <a:t>S = 1 the randomized trial, S = 0 the external source; within the trial A = 1 treated, A = 0 control.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F7DC8"/>
                </a:solidFill>
                <a:latin typeface="Arial"/>
              </a:rPr>
              <a:t>▪  </a:t>
            </a:r>
            <a:r>
              <a:rPr sz="1500" b="0" i="0">
                <a:solidFill>
                  <a:srgbClr val="333740"/>
                </a:solidFill>
                <a:latin typeface="Arial"/>
              </a:rPr>
              <a:t>Screening compares randomized controls (S=1, A=0) with external controls (S=0), both observed under control.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F7DC8"/>
                </a:solidFill>
                <a:latin typeface="Arial"/>
              </a:rPr>
              <a:t>▪  </a:t>
            </a:r>
            <a:r>
              <a:rPr sz="1500" b="0" i="0">
                <a:solidFill>
                  <a:srgbClr val="333740"/>
                </a:solidFill>
                <a:latin typeface="Arial"/>
              </a:rPr>
              <a:t>X = baseline covariates measured comparably in both sources.</a:t>
            </a:r>
          </a:p>
          <a:p>
            <a:pPr>
              <a:spcBef>
                <a:spcPts val="400"/>
              </a:spcBef>
              <a:spcAft>
                <a:spcPts val="900"/>
              </a:spcAft>
            </a:pPr>
            <a:r>
              <a:rPr sz="1650" b="1" i="0">
                <a:solidFill>
                  <a:srgbClr val="2F7DC8"/>
                </a:solidFill>
                <a:latin typeface="Arial"/>
              </a:rPr>
              <a:t>The causal target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F7DC8"/>
                </a:solidFill>
                <a:latin typeface="Arial"/>
              </a:rPr>
              <a:t>▪  </a:t>
            </a:r>
            <a:r>
              <a:rPr sz="1500" b="0" i="0">
                <a:solidFill>
                  <a:srgbClr val="333740"/>
                </a:solidFill>
                <a:latin typeface="Arial"/>
              </a:rPr>
              <a:t>A prespecified contrast of the trajectory, in the randomized-trial population: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4160520"/>
            <a:ext cx="4527984" cy="9144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eq_estima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4251960"/>
            <a:ext cx="4308528" cy="731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5166360"/>
            <a:ext cx="109728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400" b="1" i="0">
                <a:solidFill>
                  <a:srgbClr val="1F2A44"/>
                </a:solidFill>
                <a:latin typeface="Arial"/>
              </a:rPr>
              <a:t>Central discipline of this work: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6B7280"/>
                </a:solidFill>
                <a:latin typeface="Arial"/>
              </a:rPr>
              <a:t>–  </a:t>
            </a:r>
            <a:r>
              <a:rPr sz="1300" b="0" i="0">
                <a:solidFill>
                  <a:srgbClr val="333740"/>
                </a:solidFill>
                <a:latin typeface="Arial"/>
              </a:rPr>
              <a:t>separate the causal IDENTIFICATION assumptions (below) from the weaker object a chosen score actually SCREENS.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6B7280"/>
                </a:solidFill>
                <a:latin typeface="Arial"/>
              </a:rPr>
              <a:t>–  </a:t>
            </a:r>
            <a:r>
              <a:rPr sz="1300" b="0" i="0">
                <a:solidFill>
                  <a:srgbClr val="333740"/>
                </a:solidFill>
                <a:latin typeface="Arial"/>
              </a:rPr>
              <a:t>The two are not the same — conflating them is a common error.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455664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6B7280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F7D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9326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200"/>
              </a:spcAft>
            </a:pPr>
            <a:r>
              <a:rPr sz="1250" b="1" i="0">
                <a:solidFill>
                  <a:srgbClr val="2F7DC8"/>
                </a:solidFill>
                <a:latin typeface="Arial"/>
              </a:rPr>
              <a:t>IDENTIFICATION ASSUMPTIONS &amp; DIAGNOSTIC TARGETS</a:t>
            </a:r>
          </a:p>
          <a:p>
            <a:r>
              <a:rPr sz="2700" b="1" i="0">
                <a:solidFill>
                  <a:srgbClr val="1F2A44"/>
                </a:solidFill>
                <a:latin typeface="Arial"/>
              </a:rPr>
              <a:t>Assumptions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521207" y="1225296"/>
            <a:ext cx="2103120" cy="41148"/>
          </a:xfrm>
          <a:prstGeom prst="rect">
            <a:avLst/>
          </a:prstGeom>
          <a:solidFill>
            <a:srgbClr val="2F7D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371600"/>
            <a:ext cx="64465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Bef>
                <a:spcPts val="400"/>
              </a:spcBef>
              <a:spcAft>
                <a:spcPts val="900"/>
              </a:spcAft>
            </a:pPr>
            <a:r>
              <a:rPr sz="1550" b="1" i="0">
                <a:solidFill>
                  <a:srgbClr val="2F7DC8"/>
                </a:solidFill>
                <a:latin typeface="Arial"/>
              </a:rPr>
              <a:t>Assumption 0 — covariate overlap (support)</a:t>
            </a:r>
          </a:p>
          <a:p>
            <a:pPr>
              <a:spcAft>
                <a:spcPts val="800"/>
              </a:spcAft>
            </a:pPr>
            <a:r>
              <a:rPr sz="1400" b="0" i="0">
                <a:solidFill>
                  <a:srgbClr val="333740"/>
                </a:solidFill>
                <a:latin typeface="Arial"/>
              </a:rPr>
              <a:t>The trial's covariate support must be covered by the external source. The covariate DISTRIBUTIONS may still differ — that is covariate shift, which is allowed and corrected by weighting (Part II).</a:t>
            </a:r>
          </a:p>
        </p:txBody>
      </p:sp>
      <p:sp>
        <p:nvSpPr>
          <p:cNvPr id="6" name="Rectangle 5"/>
          <p:cNvSpPr/>
          <p:nvPr/>
        </p:nvSpPr>
        <p:spPr>
          <a:xfrm>
            <a:off x="484632" y="2606040"/>
            <a:ext cx="6478016" cy="73152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eq_overl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2697480"/>
            <a:ext cx="6258560" cy="5486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3474720"/>
            <a:ext cx="649224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Bef>
                <a:spcPts val="400"/>
              </a:spcBef>
              <a:spcAft>
                <a:spcPts val="900"/>
              </a:spcAft>
            </a:pPr>
            <a:r>
              <a:rPr sz="1500" b="1" i="0">
                <a:solidFill>
                  <a:srgbClr val="2F7DC8"/>
                </a:solidFill>
                <a:latin typeface="Arial"/>
              </a:rPr>
              <a:t>Compatibility of the control outcome law (nested, weakest → strongest)</a:t>
            </a:r>
          </a:p>
          <a:p>
            <a:pPr lvl="1">
              <a:spcAft>
                <a:spcPts val="600"/>
              </a:spcAft>
            </a:pPr>
            <a:r>
              <a:rPr sz="1250" b="0" i="0">
                <a:solidFill>
                  <a:srgbClr val="6B7280"/>
                </a:solidFill>
                <a:latin typeface="Arial"/>
              </a:rPr>
              <a:t>–  </a:t>
            </a:r>
            <a:r>
              <a:rPr sz="1250" b="0" i="0">
                <a:solidFill>
                  <a:srgbClr val="333740"/>
                </a:solidFill>
                <a:latin typeface="Arial"/>
              </a:rPr>
              <a:t>ME-c: the mean of the ONE estimand contrast is equal — all that IDENTIFICATION needs.</a:t>
            </a:r>
          </a:p>
          <a:p>
            <a:pPr lvl="1">
              <a:spcAft>
                <a:spcPts val="600"/>
              </a:spcAft>
            </a:pPr>
            <a:r>
              <a:rPr sz="1250" b="0" i="0">
                <a:solidFill>
                  <a:srgbClr val="6B7280"/>
                </a:solidFill>
                <a:latin typeface="Arial"/>
              </a:rPr>
              <a:t>–  </a:t>
            </a:r>
            <a:r>
              <a:rPr sz="1250" b="0" i="0">
                <a:solidFill>
                  <a:srgbClr val="333740"/>
                </a:solidFill>
                <a:latin typeface="Arial"/>
              </a:rPr>
              <a:t>VME: the full mean vector is equal at every visit.</a:t>
            </a:r>
          </a:p>
          <a:p>
            <a:pPr lvl="1">
              <a:spcAft>
                <a:spcPts val="600"/>
              </a:spcAft>
            </a:pPr>
            <a:r>
              <a:rPr sz="1250" b="0" i="0">
                <a:solidFill>
                  <a:srgbClr val="6B7280"/>
                </a:solidFill>
                <a:latin typeface="Arial"/>
              </a:rPr>
              <a:t>–  </a:t>
            </a:r>
            <a:r>
              <a:rPr sz="1250" b="0" i="0">
                <a:solidFill>
                  <a:srgbClr val="333740"/>
                </a:solidFill>
                <a:latin typeface="Arial"/>
              </a:rPr>
              <a:t>DE: the full conditional distribution is equal (what ordinary conformal validity nominally asks).</a:t>
            </a:r>
          </a:p>
        </p:txBody>
      </p:sp>
      <p:pic>
        <p:nvPicPr>
          <p:cNvPr id="9" name="Picture 8" descr="eq_n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5760720"/>
            <a:ext cx="5699760" cy="502920"/>
          </a:xfrm>
          <a:prstGeom prst="rect">
            <a:avLst/>
          </a:prstGeom>
        </p:spPr>
      </p:pic>
      <p:pic>
        <p:nvPicPr>
          <p:cNvPr id="10" name="Picture 9" descr="fig_compa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86600" y="3030222"/>
            <a:ext cx="4709160" cy="171195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094415" y="6455664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6B7280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F7D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9326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200"/>
              </a:spcAft>
            </a:pPr>
            <a:r>
              <a:rPr sz="1250" b="1" i="0">
                <a:solidFill>
                  <a:srgbClr val="2F7DC8"/>
                </a:solidFill>
                <a:latin typeface="Arial"/>
              </a:rPr>
              <a:t>EXISTING DESIGN-STAGE SCREEN</a:t>
            </a:r>
          </a:p>
          <a:p>
            <a:r>
              <a:rPr sz="2700" b="1" i="0">
                <a:solidFill>
                  <a:srgbClr val="1F2A44"/>
                </a:solidFill>
                <a:latin typeface="Arial"/>
              </a:rPr>
              <a:t>Existing tool: design-stage propensity-score trimming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21207" y="1225296"/>
            <a:ext cx="2103120" cy="41148"/>
          </a:xfrm>
          <a:prstGeom prst="rect">
            <a:avLst/>
          </a:prstGeom>
          <a:solidFill>
            <a:srgbClr val="2F7D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17320"/>
            <a:ext cx="6400800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Bef>
                <a:spcPts val="400"/>
              </a:spcBef>
              <a:spcAft>
                <a:spcPts val="900"/>
              </a:spcAft>
            </a:pPr>
            <a:r>
              <a:rPr sz="1650" b="1" i="0">
                <a:solidFill>
                  <a:srgbClr val="2F7DC8"/>
                </a:solidFill>
                <a:latin typeface="Arial"/>
              </a:rPr>
              <a:t>What it does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F7DC8"/>
                </a:solidFill>
                <a:latin typeface="Arial"/>
              </a:rPr>
              <a:t>▪  </a:t>
            </a:r>
            <a:r>
              <a:rPr sz="1500" b="0" i="0">
                <a:solidFill>
                  <a:srgbClr val="333740"/>
                </a:solidFill>
                <a:latin typeface="Arial"/>
              </a:rPr>
              <a:t>The source propensity score e(X) = Pr(S=1 | X); matching / weighting / trimming balance measured baseline covariates.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F7DC8"/>
                </a:solidFill>
                <a:latin typeface="Arial"/>
              </a:rPr>
              <a:t>▪  </a:t>
            </a:r>
            <a:r>
              <a:rPr sz="1500" b="0" i="0">
                <a:solidFill>
                  <a:srgbClr val="333740"/>
                </a:solidFill>
                <a:latin typeface="Arial"/>
              </a:rPr>
              <a:t>Extreme e(X) flags regions where one source has little density relative to the other: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2971800"/>
            <a:ext cx="4969875" cy="86868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eq_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063240"/>
            <a:ext cx="4750419" cy="6858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3977639"/>
            <a:ext cx="11247120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Bef>
                <a:spcPts val="400"/>
              </a:spcBef>
              <a:spcAft>
                <a:spcPts val="900"/>
              </a:spcAft>
            </a:pPr>
            <a:r>
              <a:rPr sz="1600" b="1" i="0">
                <a:solidFill>
                  <a:srgbClr val="2F7DC8"/>
                </a:solidFill>
                <a:latin typeface="Arial"/>
              </a:rPr>
              <a:t>What it does NOT do</a:t>
            </a:r>
          </a:p>
          <a:p>
            <a:pPr>
              <a:spcAft>
                <a:spcPts val="800"/>
              </a:spcAft>
            </a:pPr>
            <a:r>
              <a:rPr sz="1450" b="1" i="0">
                <a:solidFill>
                  <a:srgbClr val="2F7DC8"/>
                </a:solidFill>
                <a:latin typeface="Arial"/>
              </a:rPr>
              <a:t>▪  </a:t>
            </a:r>
            <a:r>
              <a:rPr sz="1450" b="0" i="0">
                <a:solidFill>
                  <a:srgbClr val="333740"/>
                </a:solidFill>
                <a:latin typeface="Arial"/>
              </a:rPr>
              <a:t>Propensity trimming targets covariate OVERLAP / positivity only (Assumption 0).</a:t>
            </a:r>
          </a:p>
          <a:p>
            <a:pPr>
              <a:spcAft>
                <a:spcPts val="800"/>
              </a:spcAft>
            </a:pPr>
            <a:r>
              <a:rPr sz="1450" b="1" i="0">
                <a:solidFill>
                  <a:srgbClr val="2F7DC8"/>
                </a:solidFill>
                <a:latin typeface="Arial"/>
              </a:rPr>
              <a:t>▪  </a:t>
            </a:r>
            <a:r>
              <a:rPr sz="1450" b="0" i="0">
                <a:solidFill>
                  <a:srgbClr val="333740"/>
                </a:solidFill>
                <a:latin typeface="Arial"/>
              </a:rPr>
              <a:t>It does not assess whether the control OUTCOME law Y(0) | X is actually compatible across sources.</a:t>
            </a:r>
          </a:p>
          <a:p>
            <a:pPr>
              <a:spcAft>
                <a:spcPts val="800"/>
              </a:spcAft>
            </a:pPr>
            <a:r>
              <a:rPr sz="1450" b="1" i="0">
                <a:solidFill>
                  <a:srgbClr val="1F2A44"/>
                </a:solidFill>
                <a:latin typeface="Arial"/>
              </a:rPr>
              <a:t>Complementary, not competing:</a:t>
            </a:r>
          </a:p>
          <a:p>
            <a:pPr lvl="1">
              <a:spcAft>
                <a:spcPts val="600"/>
              </a:spcAft>
            </a:pPr>
            <a:r>
              <a:rPr sz="1350" b="0" i="0">
                <a:solidFill>
                  <a:srgbClr val="6B7280"/>
                </a:solidFill>
                <a:latin typeface="Arial"/>
              </a:rPr>
              <a:t>–  </a:t>
            </a:r>
            <a:r>
              <a:rPr sz="1350" b="0" i="0">
                <a:solidFill>
                  <a:srgbClr val="333740"/>
                </a:solidFill>
                <a:latin typeface="Arial"/>
              </a:rPr>
              <a:t>propensity trimming  →  X-overlap;   residual-rank screening  →  outcome-compatibility through the score V.</a:t>
            </a:r>
          </a:p>
          <a:p>
            <a:pPr lvl="1">
              <a:spcAft>
                <a:spcPts val="600"/>
              </a:spcAft>
            </a:pPr>
            <a:r>
              <a:rPr sz="1350" b="0" i="0">
                <a:solidFill>
                  <a:srgbClr val="6B7280"/>
                </a:solidFill>
                <a:latin typeface="Arial"/>
              </a:rPr>
              <a:t>–  </a:t>
            </a:r>
            <a:r>
              <a:rPr sz="1350" b="0" i="0">
                <a:solidFill>
                  <a:srgbClr val="333740"/>
                </a:solidFill>
                <a:latin typeface="Arial"/>
              </a:rPr>
              <a:t>Units outside the X-support should not be rescued by an outcome screen; units WITH good X-support may still have incompatible trajectories — that is what our screen catches next.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455664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6B7280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F7D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9326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200"/>
              </a:spcAft>
            </a:pPr>
            <a:r>
              <a:rPr sz="1250" b="1" i="0">
                <a:solidFill>
                  <a:srgbClr val="2F7DC8"/>
                </a:solidFill>
                <a:latin typeface="Arial"/>
              </a:rPr>
              <a:t>IDENTIFICATION ASSUMPTIONS &amp; DIAGNOSTIC TARGETS</a:t>
            </a:r>
          </a:p>
          <a:p>
            <a:r>
              <a:rPr sz="2700" b="1" i="0">
                <a:solidFill>
                  <a:srgbClr val="1F2A44"/>
                </a:solidFill>
                <a:latin typeface="Arial"/>
              </a:rPr>
              <a:t>What a residual-rank screen actually checks</a:t>
            </a:r>
          </a:p>
        </p:txBody>
      </p:sp>
      <p:sp>
        <p:nvSpPr>
          <p:cNvPr id="4" name="Rectangle 3"/>
          <p:cNvSpPr/>
          <p:nvPr/>
        </p:nvSpPr>
        <p:spPr>
          <a:xfrm>
            <a:off x="521207" y="1225296"/>
            <a:ext cx="2103120" cy="41148"/>
          </a:xfrm>
          <a:prstGeom prst="rect">
            <a:avLst/>
          </a:prstGeom>
          <a:solidFill>
            <a:srgbClr val="2F7D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17320"/>
            <a:ext cx="11247120" cy="4937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Bef>
                <a:spcPts val="400"/>
              </a:spcBef>
              <a:spcAft>
                <a:spcPts val="900"/>
              </a:spcAft>
            </a:pPr>
            <a:r>
              <a:rPr sz="1600" b="1" i="0">
                <a:solidFill>
                  <a:srgbClr val="2F7DC8"/>
                </a:solidFill>
                <a:latin typeface="Arial"/>
              </a:rPr>
              <a:t>The object actually screened</a:t>
            </a:r>
          </a:p>
          <a:p>
            <a:pPr>
              <a:spcAft>
                <a:spcPts val="800"/>
              </a:spcAft>
            </a:pPr>
            <a:r>
              <a:rPr sz="1450" b="1" i="0">
                <a:solidFill>
                  <a:srgbClr val="2F7DC8"/>
                </a:solidFill>
                <a:latin typeface="Arial"/>
              </a:rPr>
              <a:t>▪  </a:t>
            </a:r>
            <a:r>
              <a:rPr sz="1450" b="0" i="0">
                <a:solidFill>
                  <a:srgbClr val="333740"/>
                </a:solidFill>
                <a:latin typeface="Arial"/>
              </a:rPr>
              <a:t>A residual-rank screen tests the distribution of the nonconformity SCORE V — an object as strong as ME-c or VME depending on the score, but NEVER the full law DE.</a:t>
            </a:r>
          </a:p>
          <a:p>
            <a:pPr>
              <a:spcAft>
                <a:spcPts val="800"/>
              </a:spcAft>
            </a:pPr>
            <a:r>
              <a:rPr sz="1450" b="1" i="0">
                <a:solidFill>
                  <a:srgbClr val="2F7DC8"/>
                </a:solidFill>
                <a:latin typeface="Arial"/>
              </a:rPr>
              <a:t>▪  </a:t>
            </a:r>
            <a:r>
              <a:rPr sz="1450" b="0" i="0">
                <a:solidFill>
                  <a:srgbClr val="333740"/>
                </a:solidFill>
                <a:latin typeface="Arial"/>
              </a:rPr>
              <a:t>So it controls borrowing bias for the estimand without asserting the (essentially unfalsifiable) full-law equality: it sits between what identification NEEDS (ME-c) and the too-strong DE.</a:t>
            </a:r>
          </a:p>
          <a:p>
            <a:pPr>
              <a:spcBef>
                <a:spcPts val="400"/>
              </a:spcBef>
              <a:spcAft>
                <a:spcPts val="900"/>
              </a:spcAft>
            </a:pPr>
            <a:r>
              <a:rPr sz="1600" b="1" i="0">
                <a:solidFill>
                  <a:srgbClr val="2F7DC8"/>
                </a:solidFill>
                <a:latin typeface="Arial"/>
              </a:rPr>
              <a:t>The score decides what you can see</a:t>
            </a:r>
          </a:p>
          <a:p>
            <a:pPr>
              <a:spcAft>
                <a:spcPts val="800"/>
              </a:spcAft>
            </a:pPr>
            <a:r>
              <a:rPr sz="1450" b="1" i="0">
                <a:solidFill>
                  <a:srgbClr val="2F7DC8"/>
                </a:solidFill>
                <a:latin typeface="Arial"/>
              </a:rPr>
              <a:t>▪  </a:t>
            </a:r>
            <a:r>
              <a:rPr sz="1450" b="0" i="0">
                <a:solidFill>
                  <a:srgbClr val="333740"/>
                </a:solidFill>
                <a:latin typeface="Arial"/>
              </a:rPr>
              <a:t>WHICH score you rank on determines which departures the screen detects: a score aligned to the drift is powerful, a score blind to it has no power (we define and choose the score in Part II).</a:t>
            </a:r>
          </a:p>
          <a:p>
            <a:pPr>
              <a:spcAft>
                <a:spcPts val="800"/>
              </a:spcAft>
            </a:pPr>
            <a:r>
              <a:rPr sz="1450" b="1" i="0">
                <a:solidFill>
                  <a:srgbClr val="1F2A44"/>
                </a:solidFill>
                <a:latin typeface="Arial"/>
              </a:rPr>
              <a:t>Design target: choose the score so that “looks compatible on the score” implies “compatible for your estimand (ME-c).”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55664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6B7280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61488"/>
            <a:ext cx="12191695" cy="45720"/>
          </a:xfrm>
          <a:prstGeom prst="rect">
            <a:avLst/>
          </a:prstGeom>
          <a:solidFill>
            <a:srgbClr val="2F7D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148840"/>
            <a:ext cx="10180015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1700" b="1" i="0">
                <a:solidFill>
                  <a:srgbClr val="2F7DC8"/>
                </a:solidFill>
                <a:latin typeface="Arial"/>
              </a:rPr>
              <a:t>PART II</a:t>
            </a:r>
          </a:p>
          <a:p>
            <a:r>
              <a:rPr sz="4000" b="1" i="0">
                <a:solidFill>
                  <a:srgbClr val="FFFFFF"/>
                </a:solidFill>
                <a:latin typeface="Arial"/>
              </a:rPr>
              <a:t>The Method, Step by Step</a:t>
            </a:r>
          </a:p>
          <a:p>
            <a:pPr>
              <a:spcBef>
                <a:spcPts val="800"/>
              </a:spcBef>
            </a:pPr>
            <a:r>
              <a:rPr sz="1600" b="0" i="1">
                <a:solidFill>
                  <a:srgbClr val="C9D4E4"/>
                </a:solidFill>
                <a:latin typeface="Arial"/>
              </a:rPr>
              <a:t>From a broad-audience idea to the full formulation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F7D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9326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200"/>
              </a:spcAft>
            </a:pPr>
            <a:r>
              <a:rPr sz="1250" b="1" i="0">
                <a:solidFill>
                  <a:srgbClr val="2F7DC8"/>
                </a:solidFill>
                <a:latin typeface="Arial"/>
              </a:rPr>
              <a:t>BASIC IDEA FOR A BROAD AUDIENCE</a:t>
            </a:r>
          </a:p>
          <a:p>
            <a:r>
              <a:rPr sz="2700" b="1" i="0">
                <a:solidFill>
                  <a:srgbClr val="1F2A44"/>
                </a:solidFill>
                <a:latin typeface="Arial"/>
              </a:rPr>
              <a:t>Building blocks: nonconformity scores &amp; split conformal</a:t>
            </a:r>
          </a:p>
        </p:txBody>
      </p:sp>
      <p:sp>
        <p:nvSpPr>
          <p:cNvPr id="4" name="Rectangle 3"/>
          <p:cNvSpPr/>
          <p:nvPr/>
        </p:nvSpPr>
        <p:spPr>
          <a:xfrm>
            <a:off x="521207" y="1225296"/>
            <a:ext cx="2103120" cy="41148"/>
          </a:xfrm>
          <a:prstGeom prst="rect">
            <a:avLst/>
          </a:prstGeom>
          <a:solidFill>
            <a:srgbClr val="2F7D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1129284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Bef>
                <a:spcPts val="400"/>
              </a:spcBef>
              <a:spcAft>
                <a:spcPts val="900"/>
              </a:spcAft>
            </a:pPr>
            <a:r>
              <a:rPr sz="1350" b="1" i="0">
                <a:solidFill>
                  <a:srgbClr val="2F7DC8"/>
                </a:solidFill>
                <a:latin typeface="Arial"/>
              </a:rPr>
              <a:t>A nonconformity score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740"/>
                </a:solidFill>
                <a:latin typeface="Arial"/>
              </a:rPr>
              <a:t>A scalar V = s(Y, X; model): how UNUSUAL a point is given the fitted model (e.g. a standardized residual; large |V| = far from expected).</a:t>
            </a:r>
          </a:p>
          <a:p>
            <a:pPr>
              <a:spcBef>
                <a:spcPts val="400"/>
              </a:spcBef>
              <a:spcAft>
                <a:spcPts val="900"/>
              </a:spcAft>
            </a:pPr>
            <a:r>
              <a:rPr sz="1350" b="1" i="0">
                <a:solidFill>
                  <a:srgbClr val="2F7DC8"/>
                </a:solidFill>
                <a:latin typeface="Arial"/>
              </a:rPr>
              <a:t>Split conformal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740"/>
                </a:solidFill>
                <a:latin typeface="Arial"/>
              </a:rPr>
              <a:t>Fit on a TRAINING fold; score a held-out CALIBRATION fold; rank a new point's score among those calibration scores.</a:t>
            </a:r>
          </a:p>
          <a:p>
            <a:pPr>
              <a:spcBef>
                <a:spcPts val="400"/>
              </a:spcBef>
              <a:spcAft>
                <a:spcPts val="900"/>
              </a:spcAft>
            </a:pPr>
            <a:r>
              <a:rPr sz="1350" b="1" i="0">
                <a:solidFill>
                  <a:srgbClr val="2F7DC8"/>
                </a:solidFill>
                <a:latin typeface="Arial"/>
              </a:rPr>
              <a:t>Why it is valid — and robust to a wrong model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740"/>
                </a:solidFill>
                <a:latin typeface="Arial"/>
              </a:rPr>
              <a:t>Under compatibility the new point is EXCHANGEABLE with the calibration controls → uniform rank → valid p-value, for ANY score.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E7A1E"/>
                </a:solidFill>
                <a:latin typeface="Arial"/>
              </a:rPr>
              <a:t>Even if the model is MISSPECIFIED, controls and compatible ECs share the SAME score pattern → ranks unchanged → still valid. Misspecification costs POWER, not validity.</a:t>
            </a:r>
          </a:p>
        </p:txBody>
      </p:sp>
      <p:pic>
        <p:nvPicPr>
          <p:cNvPr id="6" name="Picture 5" descr="fig_conformal_int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8163" y="4315968"/>
            <a:ext cx="5805192" cy="21945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094415" y="6455664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6B7280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F7D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9326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200"/>
              </a:spcAft>
            </a:pPr>
            <a:r>
              <a:rPr sz="1250" b="1" i="0">
                <a:solidFill>
                  <a:srgbClr val="2F7DC8"/>
                </a:solidFill>
                <a:latin typeface="Arial"/>
              </a:rPr>
              <a:t>BASIC IDEA FOR A BROAD AUDIENCE</a:t>
            </a:r>
          </a:p>
          <a:p>
            <a:r>
              <a:rPr sz="2700" b="1" i="0">
                <a:solidFill>
                  <a:srgbClr val="1F2A44"/>
                </a:solidFill>
                <a:latin typeface="Arial"/>
              </a:rPr>
              <a:t>The core idea, applied to the external controls</a:t>
            </a:r>
          </a:p>
        </p:txBody>
      </p:sp>
      <p:sp>
        <p:nvSpPr>
          <p:cNvPr id="4" name="Rectangle 3"/>
          <p:cNvSpPr/>
          <p:nvPr/>
        </p:nvSpPr>
        <p:spPr>
          <a:xfrm>
            <a:off x="521207" y="1225296"/>
            <a:ext cx="2103120" cy="41148"/>
          </a:xfrm>
          <a:prstGeom prst="rect">
            <a:avLst/>
          </a:prstGeom>
          <a:solidFill>
            <a:srgbClr val="2F7D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17320"/>
            <a:ext cx="603504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F7DC8"/>
                </a:solidFill>
                <a:latin typeface="Arial"/>
              </a:rPr>
              <a:t>▪  </a:t>
            </a:r>
            <a:r>
              <a:rPr sz="1500" b="0" i="0">
                <a:solidFill>
                  <a:srgbClr val="333740"/>
                </a:solidFill>
                <a:latin typeface="Arial"/>
              </a:rPr>
              <a:t>For each external control, compute the same score and RANK it among the randomized-control scores — a conformal p-value: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2286000"/>
            <a:ext cx="3797248" cy="1234439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eq_pbas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377440"/>
            <a:ext cx="3577792" cy="10515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3657600"/>
            <a:ext cx="6126480" cy="1691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Bef>
                <a:spcPts val="400"/>
              </a:spcBef>
              <a:spcAft>
                <a:spcPts val="900"/>
              </a:spcAft>
            </a:pPr>
            <a:r>
              <a:rPr sz="1500" b="1" i="0">
                <a:solidFill>
                  <a:srgbClr val="2F7DC8"/>
                </a:solidFill>
                <a:latin typeface="Arial"/>
              </a:rPr>
              <a:t>Keep the middle, drop BOTH tails</a:t>
            </a:r>
          </a:p>
          <a:p>
            <a:pPr>
              <a:spcAft>
                <a:spcPts val="800"/>
              </a:spcAft>
            </a:pPr>
            <a:r>
              <a:rPr sz="1350" b="0" i="0">
                <a:solidFill>
                  <a:srgbClr val="B02E2E"/>
                </a:solidFill>
                <a:latin typeface="Arial"/>
              </a:rPr>
              <a:t>A score that is extreme in EITHER direction — unusually high OR unusually low — signals incompatibility. So drop an EC whose p-value is too small OR too large, and keep the central band: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5225345"/>
            <a:ext cx="6574536" cy="522108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eq_keepba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5316785"/>
            <a:ext cx="6355080" cy="3392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02920" y="5897880"/>
            <a:ext cx="6126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300" b="1" i="0">
                <a:solidFill>
                  <a:srgbClr val="1F2A44"/>
                </a:solidFill>
                <a:latin typeface="Arial"/>
              </a:rPr>
              <a:t>The fitted model supplies the ORDERING; the randomized controls supply how extreme that ordering is.</a:t>
            </a:r>
          </a:p>
        </p:txBody>
      </p:sp>
      <p:pic>
        <p:nvPicPr>
          <p:cNvPr id="12" name="Picture 11" descr="fig_ran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6520" y="2731981"/>
            <a:ext cx="5349240" cy="2216997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1094415" y="6455664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6B7280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F7D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9326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200"/>
              </a:spcAft>
            </a:pPr>
            <a:r>
              <a:rPr sz="1250" b="1" i="0">
                <a:solidFill>
                  <a:srgbClr val="2F7DC8"/>
                </a:solidFill>
                <a:latin typeface="Arial"/>
              </a:rPr>
              <a:t>WHY RANK CALIBRATION IS PREFERABLE</a:t>
            </a:r>
          </a:p>
          <a:p>
            <a:r>
              <a:rPr sz="2700" b="1" i="0">
                <a:solidFill>
                  <a:srgbClr val="1F2A44"/>
                </a:solidFill>
                <a:latin typeface="Arial"/>
              </a:rPr>
              <a:t>Why rank, not a raw residual — (1) distribution-free</a:t>
            </a:r>
          </a:p>
        </p:txBody>
      </p:sp>
      <p:sp>
        <p:nvSpPr>
          <p:cNvPr id="4" name="Rectangle 3"/>
          <p:cNvSpPr/>
          <p:nvPr/>
        </p:nvSpPr>
        <p:spPr>
          <a:xfrm>
            <a:off x="521207" y="1225296"/>
            <a:ext cx="2103120" cy="41148"/>
          </a:xfrm>
          <a:prstGeom prst="rect">
            <a:avLst/>
          </a:prstGeom>
          <a:solidFill>
            <a:srgbClr val="2F7D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371600"/>
            <a:ext cx="60350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F7DC8"/>
                </a:solidFill>
                <a:latin typeface="Arial"/>
              </a:rPr>
              <a:t>▪  </a:t>
            </a:r>
            <a:r>
              <a:rPr sz="1500" b="0" i="0">
                <a:solidFill>
                  <a:srgbClr val="333740"/>
                </a:solidFill>
                <a:latin typeface="Arial"/>
              </a:rPr>
              <a:t>After cross-fitting, regard the working model as fixed. Under compatibility the control and EC scores are EXCHANGEABLE, so their conditional CDFs match:</a:t>
            </a:r>
          </a:p>
        </p:txBody>
      </p:sp>
      <p:sp>
        <p:nvSpPr>
          <p:cNvPr id="6" name="Rectangle 5"/>
          <p:cNvSpPr/>
          <p:nvPr/>
        </p:nvSpPr>
        <p:spPr>
          <a:xfrm>
            <a:off x="438912" y="2660123"/>
            <a:ext cx="6254496" cy="577633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eq_ex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751563"/>
            <a:ext cx="6035040" cy="39475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3520440"/>
            <a:ext cx="603504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400" b="1" i="0">
                <a:solidFill>
                  <a:srgbClr val="1F2A44"/>
                </a:solidFill>
                <a:latin typeface="Arial"/>
              </a:rPr>
              <a:t>This holds for ANY fixed score — even one from a misspecified model.</a:t>
            </a:r>
          </a:p>
          <a:p>
            <a:pPr>
              <a:spcAft>
                <a:spcPts val="800"/>
              </a:spcAft>
            </a:pPr>
            <a:r>
              <a:rPr sz="1400" b="0" i="0">
                <a:solidFill>
                  <a:srgbClr val="333740"/>
                </a:solidFill>
                <a:latin typeface="Arial"/>
              </a:rPr>
              <a:t>⇒ the rank is uniform, the p-value super-uniform (valid): no normality, no chi-square reference, no numeric threshold to trust.</a:t>
            </a:r>
          </a:p>
          <a:p>
            <a:pPr>
              <a:spcBef>
                <a:spcPts val="400"/>
              </a:spcBef>
              <a:spcAft>
                <a:spcPts val="900"/>
              </a:spcAft>
            </a:pPr>
            <a:r>
              <a:rPr sz="1550" b="1" i="0">
                <a:solidFill>
                  <a:srgbClr val="2F7DC8"/>
                </a:solidFill>
                <a:latin typeface="Arial"/>
              </a:rPr>
              <a:t>Contrast with a fixed residual cutoff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2F7DC8"/>
                </a:solidFill>
                <a:latin typeface="Arial"/>
              </a:rPr>
              <a:t>▪  </a:t>
            </a:r>
            <a:r>
              <a:rPr sz="1400" b="0" i="0">
                <a:solidFill>
                  <a:srgbClr val="333740"/>
                </a:solidFill>
                <a:latin typeface="Arial"/>
              </a:rPr>
              <a:t>A cutoff |r| &gt; 2σ̂ must trust the model's SCALE σ̂. If the model understates the spread, the cutoff excludes many COMPATIBLE controls (right).</a:t>
            </a:r>
          </a:p>
        </p:txBody>
      </p:sp>
      <p:pic>
        <p:nvPicPr>
          <p:cNvPr id="9" name="Picture 8" descr="fig_rankr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6520" y="2767576"/>
            <a:ext cx="5349240" cy="141428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1094415" y="6455664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6B7280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F7D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9326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200"/>
              </a:spcAft>
            </a:pPr>
            <a:r>
              <a:rPr sz="1250" b="1" i="0">
                <a:solidFill>
                  <a:srgbClr val="2F7DC8"/>
                </a:solidFill>
                <a:latin typeface="Arial"/>
              </a:rPr>
              <a:t>THE CORE REASON TO RANK, NOT THRESHOLD</a:t>
            </a:r>
          </a:p>
          <a:p>
            <a:r>
              <a:rPr sz="2700" b="1" i="0">
                <a:solidFill>
                  <a:srgbClr val="1F2A44"/>
                </a:solidFill>
                <a:latin typeface="Arial"/>
              </a:rPr>
              <a:t>Why rank — (2) robust to model misspecification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21207" y="1225296"/>
            <a:ext cx="2103120" cy="41148"/>
          </a:xfrm>
          <a:prstGeom prst="rect">
            <a:avLst/>
          </a:prstGeom>
          <a:solidFill>
            <a:srgbClr val="2F7D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371600"/>
            <a:ext cx="11247120" cy="2651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Bef>
                <a:spcPts val="400"/>
              </a:spcBef>
              <a:spcAft>
                <a:spcPts val="900"/>
              </a:spcAft>
            </a:pPr>
            <a:r>
              <a:rPr sz="1600" b="1" i="0">
                <a:solidFill>
                  <a:srgbClr val="2F7DC8"/>
                </a:solidFill>
                <a:latin typeface="Arial"/>
              </a:rPr>
              <a:t>The deeper reason to rank rather than threshold the residual value</a:t>
            </a:r>
          </a:p>
          <a:p>
            <a:pPr>
              <a:spcAft>
                <a:spcPts val="800"/>
              </a:spcAft>
            </a:pPr>
            <a:r>
              <a:rPr sz="1450" b="1" i="0">
                <a:solidFill>
                  <a:srgbClr val="2F7DC8"/>
                </a:solidFill>
                <a:latin typeface="Arial"/>
              </a:rPr>
              <a:t>▪  </a:t>
            </a:r>
            <a:r>
              <a:rPr sz="1450" b="0" i="0">
                <a:solidFill>
                  <a:srgbClr val="333740"/>
                </a:solidFill>
                <a:latin typeface="Arial"/>
              </a:rPr>
              <a:t>A wrong working mean model shifts EVERY compatible residual — randomized controls AND compatible ECs alike — by the SAME bias b (they share the true conditional law, so the same misspecified score map applies to both).</a:t>
            </a:r>
          </a:p>
          <a:p>
            <a:pPr>
              <a:spcAft>
                <a:spcPts val="800"/>
              </a:spcAft>
            </a:pPr>
            <a:r>
              <a:rPr sz="1450" b="0" i="0">
                <a:solidFill>
                  <a:srgbClr val="B02E2E"/>
                </a:solidFill>
                <a:latin typeface="Arial"/>
              </a:rPr>
              <a:t>A fixed cutoff reads that shared bias as incompatibility  →  excludes most compatible controls.</a:t>
            </a:r>
          </a:p>
          <a:p>
            <a:pPr>
              <a:spcAft>
                <a:spcPts val="800"/>
              </a:spcAft>
            </a:pPr>
            <a:r>
              <a:rPr sz="1450" b="0" i="0">
                <a:solidFill>
                  <a:srgbClr val="3E7A1E"/>
                </a:solidFill>
                <a:latin typeface="Arial"/>
              </a:rPr>
              <a:t>Ranking against the controls: their quantile carries the same bias, so it MOVES with them  →  the shared error cancels  →  only genuinely different ECs are flagged.</a:t>
            </a:r>
          </a:p>
          <a:p>
            <a:pPr>
              <a:spcAft>
                <a:spcPts val="800"/>
              </a:spcAft>
            </a:pPr>
            <a:r>
              <a:rPr sz="1450" b="1" i="0">
                <a:solidFill>
                  <a:srgbClr val="1F2A44"/>
                </a:solidFill>
                <a:latin typeface="Arial"/>
              </a:rPr>
              <a:t>This is the conformal exchangeability guarantee — valid p-values under ANY working model, correct or not. Scale-robustness (previous slide) is a special case.</a:t>
            </a:r>
          </a:p>
        </p:txBody>
      </p:sp>
      <p:pic>
        <p:nvPicPr>
          <p:cNvPr id="6" name="Picture 5" descr="fig_misspe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8658" y="4114800"/>
            <a:ext cx="8284203" cy="2286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094415" y="6455664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6B7280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F7D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9326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200"/>
              </a:spcAft>
            </a:pPr>
            <a:r>
              <a:rPr sz="1250" b="1" i="0">
                <a:solidFill>
                  <a:srgbClr val="2F7DC8"/>
                </a:solidFill>
                <a:latin typeface="Arial"/>
              </a:rPr>
              <a:t>PROPOSED FULL METHOD</a:t>
            </a:r>
          </a:p>
          <a:p>
            <a:r>
              <a:rPr sz="2700" b="1" i="0">
                <a:solidFill>
                  <a:srgbClr val="1F2A44"/>
                </a:solidFill>
                <a:latin typeface="Arial"/>
              </a:rPr>
              <a:t>The full method: six steps</a:t>
            </a:r>
          </a:p>
        </p:txBody>
      </p:sp>
      <p:sp>
        <p:nvSpPr>
          <p:cNvPr id="4" name="Rectangle 3"/>
          <p:cNvSpPr/>
          <p:nvPr/>
        </p:nvSpPr>
        <p:spPr>
          <a:xfrm>
            <a:off x="521207" y="1225296"/>
            <a:ext cx="2103120" cy="41148"/>
          </a:xfrm>
          <a:prstGeom prst="rect">
            <a:avLst/>
          </a:prstGeom>
          <a:solidFill>
            <a:srgbClr val="2F7D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ig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83407"/>
            <a:ext cx="11247120" cy="211958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4343400"/>
            <a:ext cx="109728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450" b="0" i="0">
                <a:solidFill>
                  <a:srgbClr val="333740"/>
                </a:solidFill>
                <a:latin typeface="Arial"/>
              </a:rPr>
              <a:t>LEARN what a normal control looks like:  (1) fit a control-mean model on RCT controls,  (2) residualize,  (3) reduce to an estimand-aligned score.</a:t>
            </a:r>
          </a:p>
          <a:p>
            <a:pPr>
              <a:spcAft>
                <a:spcPts val="800"/>
              </a:spcAft>
            </a:pPr>
            <a:r>
              <a:rPr sz="1450" b="0" i="0">
                <a:solidFill>
                  <a:srgbClr val="333740"/>
                </a:solidFill>
                <a:latin typeface="Arial"/>
              </a:rPr>
              <a:t>FLAG the abnormal ECs:  (4) rank each EC against the RCT controls with covariate-shift weighting,  (5) screen with a symmetric, adaptive threshold.</a:t>
            </a:r>
          </a:p>
          <a:p>
            <a:pPr>
              <a:spcAft>
                <a:spcPts val="800"/>
              </a:spcAft>
            </a:pPr>
            <a:r>
              <a:rPr sz="1450" b="1" i="0">
                <a:solidFill>
                  <a:srgbClr val="1F2A44"/>
                </a:solidFill>
                <a:latin typeface="Arial"/>
              </a:rPr>
              <a:t>BORROW the rest:  (6) refit a transported AIPW on RCT controls + retained ECs  →  τ̂ with a confidence interval.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55664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6B7280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F7D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9326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200"/>
              </a:spcAft>
            </a:pPr>
            <a:r>
              <a:rPr sz="1250" b="1" i="0">
                <a:solidFill>
                  <a:srgbClr val="2F7DC8"/>
                </a:solidFill>
                <a:latin typeface="Arial"/>
              </a:rPr>
              <a:t>PROPOSED FULL METHOD</a:t>
            </a:r>
          </a:p>
          <a:p>
            <a:r>
              <a:rPr sz="2700" b="1" i="0">
                <a:solidFill>
                  <a:srgbClr val="1F2A44"/>
                </a:solidFill>
                <a:latin typeface="Arial"/>
              </a:rPr>
              <a:t>Steps 1–2: estimand and working models</a:t>
            </a:r>
          </a:p>
        </p:txBody>
      </p:sp>
      <p:sp>
        <p:nvSpPr>
          <p:cNvPr id="4" name="Rectangle 3"/>
          <p:cNvSpPr/>
          <p:nvPr/>
        </p:nvSpPr>
        <p:spPr>
          <a:xfrm>
            <a:off x="521207" y="1225296"/>
            <a:ext cx="2103120" cy="41148"/>
          </a:xfrm>
          <a:prstGeom prst="rect">
            <a:avLst/>
          </a:prstGeom>
          <a:solidFill>
            <a:srgbClr val="2F7D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17320"/>
            <a:ext cx="1115568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Bef>
                <a:spcPts val="400"/>
              </a:spcBef>
              <a:spcAft>
                <a:spcPts val="900"/>
              </a:spcAft>
            </a:pPr>
            <a:r>
              <a:rPr sz="1650" b="1" i="0">
                <a:solidFill>
                  <a:srgbClr val="2F7DC8"/>
                </a:solidFill>
                <a:latin typeface="Arial"/>
              </a:rPr>
              <a:t>Step 1 — prespecify the estimand &amp; harmonize the data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F7DC8"/>
                </a:solidFill>
                <a:latin typeface="Arial"/>
              </a:rPr>
              <a:t>▪  </a:t>
            </a:r>
            <a:r>
              <a:rPr sz="1500" b="0" i="0">
                <a:solidFill>
                  <a:srgbClr val="333740"/>
                </a:solidFill>
                <a:latin typeface="Arial"/>
              </a:rPr>
              <a:t>Choose the primary contrast c and target τ_c; two contrasts are used later so a given drift projects onto them differently: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2834640"/>
            <a:ext cx="7732259" cy="822959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eq_estiman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926080"/>
            <a:ext cx="7512803" cy="6400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3749039"/>
            <a:ext cx="11247120" cy="2651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lvl="1">
              <a:spcAft>
                <a:spcPts val="600"/>
              </a:spcAft>
            </a:pPr>
            <a:r>
              <a:rPr sz="1350" b="0" i="0">
                <a:solidFill>
                  <a:srgbClr val="6B7280"/>
                </a:solidFill>
                <a:latin typeface="Arial"/>
              </a:rPr>
              <a:t>–  </a:t>
            </a:r>
            <a:r>
              <a:rPr sz="1350" b="0" i="0">
                <a:solidFill>
                  <a:srgbClr val="333740"/>
                </a:solidFill>
                <a:latin typeface="Arial"/>
              </a:rPr>
              <a:t>Align eligibility, endpoint definitions, visit windows, baseline covariates, data-quality rules; check X-overlap.</a:t>
            </a:r>
          </a:p>
          <a:p>
            <a:pPr>
              <a:spcBef>
                <a:spcPts val="400"/>
              </a:spcBef>
              <a:spcAft>
                <a:spcPts val="900"/>
              </a:spcAft>
            </a:pPr>
            <a:r>
              <a:rPr sz="1600" b="1" i="0">
                <a:solidFill>
                  <a:srgbClr val="2F7DC8"/>
                </a:solidFill>
                <a:latin typeface="Arial"/>
              </a:rPr>
              <a:t>Step 2 — fit working longitudinal models on the randomized controls</a:t>
            </a:r>
          </a:p>
          <a:p>
            <a:pPr>
              <a:spcAft>
                <a:spcPts val="800"/>
              </a:spcAft>
            </a:pPr>
            <a:r>
              <a:rPr sz="1450" b="1" i="0">
                <a:solidFill>
                  <a:srgbClr val="2F7DC8"/>
                </a:solidFill>
                <a:latin typeface="Arial"/>
              </a:rPr>
              <a:t>▪  </a:t>
            </a:r>
            <a:r>
              <a:rPr sz="1450" b="0" i="0">
                <a:solidFill>
                  <a:srgbClr val="333740"/>
                </a:solidFill>
                <a:latin typeface="Arial"/>
              </a:rPr>
              <a:t>Fit the control mean (and scale / covariance) models by K-fold CROSS-FITTING, so in-sample residuals are not over-optimistic.</a:t>
            </a:r>
          </a:p>
          <a:p>
            <a:pPr>
              <a:spcAft>
                <a:spcPts val="800"/>
              </a:spcAft>
            </a:pPr>
            <a:r>
              <a:rPr sz="1450" b="1" i="0">
                <a:solidFill>
                  <a:srgbClr val="1F2A44"/>
                </a:solidFill>
                <a:latin typeface="Arial"/>
              </a:rPr>
              <a:t>The model need only supply a useful ordering — rank calibration handles the rest, even under misspecification.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455664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6B7280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F7D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9326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200"/>
              </a:spcAft>
            </a:pPr>
            <a:r>
              <a:rPr sz="1250" b="1" i="0">
                <a:solidFill>
                  <a:srgbClr val="2F7DC8"/>
                </a:solidFill>
                <a:latin typeface="Arial"/>
              </a:rPr>
              <a:t>PROPOSED FULL METHOD</a:t>
            </a:r>
          </a:p>
          <a:p>
            <a:r>
              <a:rPr sz="2700" b="1" i="0">
                <a:solidFill>
                  <a:srgbClr val="1F2A44"/>
                </a:solidFill>
                <a:latin typeface="Arial"/>
              </a:rPr>
              <a:t>Step 3: the longitudinal nonconformity score</a:t>
            </a:r>
          </a:p>
        </p:txBody>
      </p:sp>
      <p:sp>
        <p:nvSpPr>
          <p:cNvPr id="4" name="Rectangle 3"/>
          <p:cNvSpPr/>
          <p:nvPr/>
        </p:nvSpPr>
        <p:spPr>
          <a:xfrm>
            <a:off x="521207" y="1225296"/>
            <a:ext cx="2103120" cy="41148"/>
          </a:xfrm>
          <a:prstGeom prst="rect">
            <a:avLst/>
          </a:prstGeom>
          <a:solidFill>
            <a:srgbClr val="2F7D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371600"/>
            <a:ext cx="111556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F7DC8"/>
                </a:solidFill>
                <a:latin typeface="Arial"/>
              </a:rPr>
              <a:t>▪  </a:t>
            </a:r>
            <a:r>
              <a:rPr sz="1500" b="0" i="0">
                <a:solidFill>
                  <a:srgbClr val="333740"/>
                </a:solidFill>
                <a:latin typeface="Arial"/>
              </a:rPr>
              <a:t>Residualize the trajectory,  r = Y − m̂(X),  then reduce it to a single scalar score. Three options: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2103120"/>
            <a:ext cx="7794096" cy="96012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eq_sco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194560"/>
            <a:ext cx="7574640" cy="7772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3246120"/>
            <a:ext cx="1124712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740"/>
                </a:solidFill>
                <a:latin typeface="Arial"/>
              </a:rPr>
              <a:t>Contrast score (aligned to the estimand c): most powerful when the drift is along c — global shifts, level changes.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740"/>
                </a:solidFill>
                <a:latin typeface="Arial"/>
              </a:rPr>
              <a:t>Max standardized residual: sensitive to a spike at any single visit.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740"/>
                </a:solidFill>
                <a:latin typeface="Arial"/>
              </a:rPr>
              <a:t>Common-reference Mahalanobis: aggregates the whole trajectory shape — best for ramps / curvature / transient dips.</a:t>
            </a:r>
          </a:p>
          <a:p>
            <a:pPr>
              <a:spcBef>
                <a:spcPts val="400"/>
              </a:spcBef>
              <a:spcAft>
                <a:spcPts val="900"/>
              </a:spcAft>
            </a:pPr>
            <a:r>
              <a:rPr sz="1650" b="1" i="0">
                <a:solidFill>
                  <a:srgbClr val="2F7DC8"/>
                </a:solidFill>
                <a:latin typeface="Arial"/>
              </a:rPr>
              <a:t>Design principle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1F2A44"/>
                </a:solidFill>
                <a:latin typeface="Arial"/>
              </a:rPr>
              <a:t>Choose the score to match the ANTICIPATED drift shape. A contrast blind to the drift will not detect it (we show this in simulation).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455664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6B7280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F7D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9326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200"/>
              </a:spcAft>
            </a:pPr>
            <a:r>
              <a:rPr sz="1250" b="1" i="0">
                <a:solidFill>
                  <a:srgbClr val="2F7DC8"/>
                </a:solidFill>
                <a:latin typeface="Arial"/>
              </a:rPr>
              <a:t>PROPOSED FULL METHOD</a:t>
            </a:r>
          </a:p>
          <a:p>
            <a:r>
              <a:rPr sz="2700" b="1" i="0">
                <a:solidFill>
                  <a:srgbClr val="1F2A44"/>
                </a:solidFill>
                <a:latin typeface="Arial"/>
              </a:rPr>
              <a:t>Steps 4–5: covariate-shift weighting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21207" y="1225296"/>
            <a:ext cx="2103120" cy="41148"/>
          </a:xfrm>
          <a:prstGeom prst="rect">
            <a:avLst/>
          </a:prstGeom>
          <a:solidFill>
            <a:srgbClr val="2F7D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371600"/>
            <a:ext cx="6035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450" b="1" i="0">
                <a:solidFill>
                  <a:srgbClr val="2F7DC8"/>
                </a:solidFill>
                <a:latin typeface="Arial"/>
              </a:rPr>
              <a:t>▪  </a:t>
            </a:r>
            <a:r>
              <a:rPr sz="1450" b="0" i="0">
                <a:solidFill>
                  <a:srgbClr val="333740"/>
                </a:solidFill>
                <a:latin typeface="Arial"/>
              </a:rPr>
              <a:t>Randomized and external covariate mixes differ, so we reweight the calibration ranks by the density ratio:</a:t>
            </a:r>
          </a:p>
        </p:txBody>
      </p:sp>
      <p:sp>
        <p:nvSpPr>
          <p:cNvPr id="6" name="Rectangle 5"/>
          <p:cNvSpPr/>
          <p:nvPr/>
        </p:nvSpPr>
        <p:spPr>
          <a:xfrm>
            <a:off x="484632" y="2057400"/>
            <a:ext cx="4647716" cy="749808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eq_omeg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2148840"/>
            <a:ext cx="4428260" cy="566928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484632" y="2788920"/>
            <a:ext cx="4765852" cy="118872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eq_wpv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2880360"/>
            <a:ext cx="4546396" cy="10058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2920" y="3977639"/>
            <a:ext cx="61264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350" b="0" i="0">
                <a:solidFill>
                  <a:srgbClr val="333740"/>
                </a:solidFill>
                <a:latin typeface="Arial"/>
              </a:rPr>
              <a:t>Transport identity — weighted RCT scores represent the compatible-EC score law: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84632" y="4633617"/>
            <a:ext cx="6254496" cy="608285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eq_transpo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" y="4725057"/>
            <a:ext cx="6035040" cy="42540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02920" y="5440680"/>
            <a:ext cx="61264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350" b="1" i="0">
                <a:solidFill>
                  <a:srgbClr val="1F2A44"/>
                </a:solidFill>
                <a:latin typeface="Arial"/>
              </a:rPr>
              <a:t>Without weighting, high-severity compatible ECs look “extreme” only because they are over-represented externally → false exclusions. Weighting removes exactly this (right).</a:t>
            </a:r>
          </a:p>
        </p:txBody>
      </p:sp>
      <p:pic>
        <p:nvPicPr>
          <p:cNvPr id="14" name="Picture 13" descr="fig_shif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0" y="2185746"/>
            <a:ext cx="5120640" cy="340090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1094415" y="6455664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6B7280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F7D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9326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200"/>
              </a:spcAft>
            </a:pPr>
            <a:r>
              <a:rPr sz="1250" b="1" i="0">
                <a:solidFill>
                  <a:srgbClr val="2F7DC8"/>
                </a:solidFill>
                <a:latin typeface="Arial"/>
              </a:rPr>
              <a:t>PROPOSED FULL METHOD</a:t>
            </a:r>
          </a:p>
          <a:p>
            <a:r>
              <a:rPr sz="2700" b="1" i="0">
                <a:solidFill>
                  <a:srgbClr val="1F2A44"/>
                </a:solidFill>
                <a:latin typeface="Arial"/>
              </a:rPr>
              <a:t>Steps 6–7: from a one-time split to cross-fit (CV+)</a:t>
            </a:r>
          </a:p>
        </p:txBody>
      </p:sp>
      <p:sp>
        <p:nvSpPr>
          <p:cNvPr id="4" name="Rectangle 3"/>
          <p:cNvSpPr/>
          <p:nvPr/>
        </p:nvSpPr>
        <p:spPr>
          <a:xfrm>
            <a:off x="521207" y="1225296"/>
            <a:ext cx="2103120" cy="41148"/>
          </a:xfrm>
          <a:prstGeom prst="rect">
            <a:avLst/>
          </a:prstGeom>
          <a:solidFill>
            <a:srgbClr val="2F7D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17320"/>
            <a:ext cx="5943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F7DC8"/>
                </a:solidFill>
                <a:latin typeface="Arial"/>
              </a:rPr>
              <a:t>▪  </a:t>
            </a:r>
            <a:r>
              <a:rPr sz="1500" b="0" i="0">
                <a:solidFill>
                  <a:srgbClr val="333740"/>
                </a:solidFill>
                <a:latin typeface="Arial"/>
              </a:rPr>
              <a:t>A single train/calibrate split wastes half of the already-scarce randomized controls.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F7DC8"/>
                </a:solidFill>
                <a:latin typeface="Arial"/>
              </a:rPr>
              <a:t>▪  </a:t>
            </a:r>
            <a:r>
              <a:rPr sz="1500" b="0" i="0">
                <a:solidFill>
                  <a:srgbClr val="333740"/>
                </a:solidFill>
                <a:latin typeface="Arial"/>
              </a:rPr>
              <a:t>CV+ scores each fold from a model fit on the other folds:</a:t>
            </a:r>
          </a:p>
        </p:txBody>
      </p:sp>
      <p:sp>
        <p:nvSpPr>
          <p:cNvPr id="6" name="Rectangle 5"/>
          <p:cNvSpPr/>
          <p:nvPr/>
        </p:nvSpPr>
        <p:spPr>
          <a:xfrm>
            <a:off x="484632" y="2881240"/>
            <a:ext cx="6071616" cy="656606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eq_c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2972680"/>
            <a:ext cx="5852160" cy="47372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3749039"/>
            <a:ext cx="603504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740"/>
                </a:solidFill>
                <a:latin typeface="Arial"/>
              </a:rPr>
              <a:t>Every randomized control eventually contributes a calibration rank  →  the WHOLE control sample is used.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1F2A44"/>
                </a:solidFill>
                <a:latin typeface="Arial"/>
              </a:rPr>
              <a:t>This is the main efficiency lever of the method — we quantify the gain in the simulation (≈ +0.06 power at controlled type-I).</a:t>
            </a:r>
          </a:p>
        </p:txBody>
      </p:sp>
      <p:pic>
        <p:nvPicPr>
          <p:cNvPr id="9" name="Picture 8" descr="fig_cv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6520" y="2110897"/>
            <a:ext cx="5349240" cy="355060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1094415" y="6455664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6B7280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F7D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9326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200"/>
              </a:spcAft>
            </a:pPr>
            <a:r>
              <a:rPr sz="1250" b="1" i="0">
                <a:solidFill>
                  <a:srgbClr val="2F7DC8"/>
                </a:solidFill>
                <a:latin typeface="Arial"/>
              </a:rPr>
              <a:t>PROPOSED FULL METHOD</a:t>
            </a:r>
          </a:p>
          <a:p>
            <a:r>
              <a:rPr sz="2700" b="1" i="0">
                <a:solidFill>
                  <a:srgbClr val="1F2A44"/>
                </a:solidFill>
                <a:latin typeface="Arial"/>
              </a:rPr>
              <a:t>Step 8: conservative screening — symmetric + adaptive γ</a:t>
            </a:r>
          </a:p>
        </p:txBody>
      </p:sp>
      <p:sp>
        <p:nvSpPr>
          <p:cNvPr id="4" name="Rectangle 3"/>
          <p:cNvSpPr/>
          <p:nvPr/>
        </p:nvSpPr>
        <p:spPr>
          <a:xfrm>
            <a:off x="521207" y="1225296"/>
            <a:ext cx="2103120" cy="41148"/>
          </a:xfrm>
          <a:prstGeom prst="rect">
            <a:avLst/>
          </a:prstGeom>
          <a:solidFill>
            <a:srgbClr val="2F7D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371600"/>
            <a:ext cx="603504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Bef>
                <a:spcPts val="400"/>
              </a:spcBef>
              <a:spcAft>
                <a:spcPts val="900"/>
              </a:spcAft>
            </a:pPr>
            <a:r>
              <a:rPr sz="1600" b="1" i="0">
                <a:solidFill>
                  <a:srgbClr val="2F7DC8"/>
                </a:solidFill>
                <a:latin typeface="Arial"/>
              </a:rPr>
              <a:t>Symmetric trimming (keeps the borrowed mean unbiased)</a:t>
            </a:r>
          </a:p>
          <a:p>
            <a:pPr>
              <a:spcAft>
                <a:spcPts val="800"/>
              </a:spcAft>
            </a:pPr>
            <a:r>
              <a:rPr sz="1450" b="1" i="0">
                <a:solidFill>
                  <a:srgbClr val="2F7DC8"/>
                </a:solidFill>
                <a:latin typeface="Arial"/>
              </a:rPr>
              <a:t>▪  </a:t>
            </a:r>
            <a:r>
              <a:rPr sz="1450" b="0" i="0">
                <a:solidFill>
                  <a:srgbClr val="333740"/>
                </a:solidFill>
                <a:latin typeface="Arial"/>
              </a:rPr>
              <a:t>Screen on |V| with a SINGLE threshold, trimming both tails equally:</a:t>
            </a:r>
          </a:p>
        </p:txBody>
      </p:sp>
      <p:sp>
        <p:nvSpPr>
          <p:cNvPr id="6" name="Rectangle 5"/>
          <p:cNvSpPr/>
          <p:nvPr/>
        </p:nvSpPr>
        <p:spPr>
          <a:xfrm>
            <a:off x="484632" y="2697791"/>
            <a:ext cx="6163056" cy="657745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eq_symsc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2789231"/>
            <a:ext cx="5943600" cy="47486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3566160"/>
            <a:ext cx="603504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400" b="0" i="0">
                <a:solidFill>
                  <a:srgbClr val="333740"/>
                </a:solidFill>
                <a:latin typeface="Arial"/>
              </a:rPr>
              <a:t>Trimming both tails equally leaves the retained control mean unmoved → the borrowed mean stays UNBIASED (right).</a:t>
            </a:r>
          </a:p>
          <a:p>
            <a:pPr>
              <a:spcBef>
                <a:spcPts val="400"/>
              </a:spcBef>
              <a:spcAft>
                <a:spcPts val="900"/>
              </a:spcAft>
            </a:pPr>
            <a:r>
              <a:rPr sz="1550" b="1" i="0">
                <a:solidFill>
                  <a:srgbClr val="2F7DC8"/>
                </a:solidFill>
                <a:latin typeface="Arial"/>
              </a:rPr>
              <a:t>Adaptive threshold (no labels needed)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2F7DC8"/>
                </a:solidFill>
                <a:latin typeface="Arial"/>
              </a:rPr>
              <a:t>▪  </a:t>
            </a:r>
            <a:r>
              <a:rPr sz="1400" b="0" i="0">
                <a:solidFill>
                  <a:srgbClr val="333740"/>
                </a:solidFill>
                <a:latin typeface="Arial"/>
              </a:rPr>
              <a:t>Choose γ per dataset to minimize an estimated MSE of the borrowing estimate (a de-biased CSB objective):</a:t>
            </a:r>
          </a:p>
        </p:txBody>
      </p:sp>
      <p:sp>
        <p:nvSpPr>
          <p:cNvPr id="9" name="Rectangle 8"/>
          <p:cNvSpPr/>
          <p:nvPr/>
        </p:nvSpPr>
        <p:spPr>
          <a:xfrm>
            <a:off x="484632" y="5394960"/>
            <a:ext cx="5991824" cy="96012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eq_adapti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5486400"/>
            <a:ext cx="5772368" cy="777240"/>
          </a:xfrm>
          <a:prstGeom prst="rect">
            <a:avLst/>
          </a:prstGeom>
        </p:spPr>
      </p:pic>
      <p:pic>
        <p:nvPicPr>
          <p:cNvPr id="11" name="Picture 10" descr="fig_trimmi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7960" y="2655985"/>
            <a:ext cx="5212080" cy="154602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537960" y="5029200"/>
            <a:ext cx="52120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350" b="1" i="0">
                <a:solidFill>
                  <a:srgbClr val="1F2A44"/>
                </a:solidFill>
                <a:latin typeface="Arial"/>
              </a:rPr>
              <a:t>Small γ borrows more but risks leaking contamination; large γ is safer with less gain. Adaptive γ balances the two automatically.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94415" y="6455664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6B7280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F7D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9326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200"/>
              </a:spcAft>
            </a:pPr>
            <a:r>
              <a:rPr sz="1250" b="1" i="0">
                <a:solidFill>
                  <a:srgbClr val="2F7DC8"/>
                </a:solidFill>
                <a:latin typeface="Arial"/>
              </a:rPr>
              <a:t>PROPOSED FULL METHOD</a:t>
            </a:r>
          </a:p>
          <a:p>
            <a:r>
              <a:rPr sz="2700" b="1" i="0">
                <a:solidFill>
                  <a:srgbClr val="1F2A44"/>
                </a:solidFill>
                <a:latin typeface="Arial"/>
              </a:rPr>
              <a:t>Step 9: refit the borrowing estimator (transported AIPW)</a:t>
            </a:r>
          </a:p>
        </p:txBody>
      </p:sp>
      <p:sp>
        <p:nvSpPr>
          <p:cNvPr id="4" name="Rectangle 3"/>
          <p:cNvSpPr/>
          <p:nvPr/>
        </p:nvSpPr>
        <p:spPr>
          <a:xfrm>
            <a:off x="521207" y="1225296"/>
            <a:ext cx="2103120" cy="41148"/>
          </a:xfrm>
          <a:prstGeom prst="rect">
            <a:avLst/>
          </a:prstGeom>
          <a:solidFill>
            <a:srgbClr val="2F7D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17320"/>
            <a:ext cx="111556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F7DC8"/>
                </a:solidFill>
                <a:latin typeface="Arial"/>
              </a:rPr>
              <a:t>▪  </a:t>
            </a:r>
            <a:r>
              <a:rPr sz="1500" b="0" i="0">
                <a:solidFill>
                  <a:srgbClr val="333740"/>
                </a:solidFill>
                <a:latin typeface="Arial"/>
              </a:rPr>
              <a:t>On the RETAINED external controls, refit the source density, the outcome model, and the inverse-variance borrowing weight; form the transported AIPW control mean and combine it with the randomized-control mean: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2926079"/>
            <a:ext cx="5525974" cy="109728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eq_estima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017520"/>
            <a:ext cx="5306518" cy="9144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4251960"/>
            <a:ext cx="11247120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740"/>
                </a:solidFill>
                <a:latin typeface="Arial"/>
              </a:rPr>
              <a:t>λ = efficient inverse-variance weight: borrow LESS from noisier external controls → lower RMSE.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740"/>
                </a:solidFill>
                <a:latin typeface="Arial"/>
              </a:rPr>
              <a:t>Doubly robust: consistent if either the outcome model or the source/weight model is correct.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1F2A44"/>
                </a:solidFill>
                <a:latin typeface="Arial"/>
              </a:rPr>
              <a:t>Output: τ̂ with a full-pipeline bootstrap confidence interval that re-runs the entire screen on each resample (so selection uncertainty is propagated).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455664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6B7280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61488"/>
            <a:ext cx="12191695" cy="45720"/>
          </a:xfrm>
          <a:prstGeom prst="rect">
            <a:avLst/>
          </a:prstGeom>
          <a:solidFill>
            <a:srgbClr val="2F7D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148840"/>
            <a:ext cx="10180015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1700" b="1" i="0">
                <a:solidFill>
                  <a:srgbClr val="2F7DC8"/>
                </a:solidFill>
                <a:latin typeface="Arial"/>
              </a:rPr>
              <a:t>PART III</a:t>
            </a:r>
          </a:p>
          <a:p>
            <a:r>
              <a:rPr sz="4000" b="1" i="0">
                <a:solidFill>
                  <a:srgbClr val="FFFFFF"/>
                </a:solidFill>
                <a:latin typeface="Arial"/>
              </a:rPr>
              <a:t>Simulation</a:t>
            </a:r>
          </a:p>
          <a:p>
            <a:pPr>
              <a:spcBef>
                <a:spcPts val="800"/>
              </a:spcBef>
            </a:pPr>
            <a:r>
              <a:rPr sz="1600" b="0" i="1">
                <a:solidFill>
                  <a:srgbClr val="C9D4E4"/>
                </a:solidFill>
                <a:latin typeface="Arial"/>
              </a:rPr>
              <a:t>A transparent longitudinal data-generating process, and the results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F7D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9326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200"/>
              </a:spcAft>
            </a:pPr>
            <a:r>
              <a:rPr sz="1250" b="1" i="0">
                <a:solidFill>
                  <a:srgbClr val="2F7DC8"/>
                </a:solidFill>
                <a:latin typeface="Arial"/>
              </a:rPr>
              <a:t>SIMULATION SETUP</a:t>
            </a:r>
          </a:p>
          <a:p>
            <a:r>
              <a:rPr sz="2700" b="1" i="0">
                <a:solidFill>
                  <a:srgbClr val="1F2A44"/>
                </a:solidFill>
                <a:latin typeface="Arial"/>
              </a:rPr>
              <a:t>Simulation: the data-generating process</a:t>
            </a:r>
          </a:p>
        </p:txBody>
      </p:sp>
      <p:sp>
        <p:nvSpPr>
          <p:cNvPr id="4" name="Rectangle 3"/>
          <p:cNvSpPr/>
          <p:nvPr/>
        </p:nvSpPr>
        <p:spPr>
          <a:xfrm>
            <a:off x="521207" y="1225296"/>
            <a:ext cx="2103120" cy="41148"/>
          </a:xfrm>
          <a:prstGeom prst="rect">
            <a:avLst/>
          </a:prstGeom>
          <a:solidFill>
            <a:srgbClr val="2F7D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371600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450" b="0" i="0">
                <a:solidFill>
                  <a:srgbClr val="333740"/>
                </a:solidFill>
                <a:latin typeface="Arial"/>
              </a:rPr>
              <a:t>Four visits, one binary severity covariate X. Randomized and external covariate mixes differ (shift, overlap preserved):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1985783"/>
            <a:ext cx="8997696" cy="71016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eq_dgp_shif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077223"/>
            <a:ext cx="8778240" cy="5272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274320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450" b="0" i="0">
                <a:solidFill>
                  <a:srgbClr val="333740"/>
                </a:solidFill>
                <a:latin typeface="Arial"/>
              </a:rPr>
              <a:t>Untreated control trajectory (random intercept + AR(1) errors), heteroscedastic scale, and the treatment effect:</a:t>
            </a:r>
          </a:p>
        </p:txBody>
      </p:sp>
      <p:sp>
        <p:nvSpPr>
          <p:cNvPr id="9" name="Rectangle 8"/>
          <p:cNvSpPr/>
          <p:nvPr/>
        </p:nvSpPr>
        <p:spPr>
          <a:xfrm>
            <a:off x="530352" y="3246120"/>
            <a:ext cx="8808509" cy="73152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eq_dgp_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337560"/>
            <a:ext cx="8589053" cy="54864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30352" y="3886200"/>
            <a:ext cx="6333904" cy="6858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eq_dgp_si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3977639"/>
            <a:ext cx="6114448" cy="5029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02920" y="461772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450" b="0" i="0">
                <a:solidFill>
                  <a:srgbClr val="333740"/>
                </a:solidFill>
                <a:latin typeface="Arial"/>
              </a:rPr>
              <a:t>A fraction π_B of external controls are incompatible, with drift magnitude Δ (the signal-to-noise knob):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30352" y="5120640"/>
            <a:ext cx="9505696" cy="73152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eq_dgp_contam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5212080"/>
            <a:ext cx="9286240" cy="54864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02920" y="5806440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350" b="1" i="0">
                <a:solidFill>
                  <a:srgbClr val="1F2A44"/>
                </a:solidFill>
                <a:latin typeface="Arial"/>
              </a:rPr>
              <a:t>Reference cell (everything is one axis away from it):  n₁=120 treated, n₀=60 RCT controls, 200 ECs, π_B=0.3, pattern A (global shift), Δ=8, estimand c₂, weighted CV+, correct model.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94415" y="6455664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6B7280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F7D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9326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200"/>
              </a:spcAft>
            </a:pPr>
            <a:r>
              <a:rPr sz="1250" b="1" i="0">
                <a:solidFill>
                  <a:srgbClr val="2F7DC8"/>
                </a:solidFill>
                <a:latin typeface="Arial"/>
              </a:rPr>
              <a:t>SIMULATION SETUP</a:t>
            </a:r>
          </a:p>
          <a:p>
            <a:r>
              <a:rPr sz="2700" b="1" i="0">
                <a:solidFill>
                  <a:srgbClr val="1F2A44"/>
                </a:solidFill>
                <a:latin typeface="Arial"/>
              </a:rPr>
              <a:t>The screen in action (one draw at the reference cell)</a:t>
            </a:r>
          </a:p>
        </p:txBody>
      </p:sp>
      <p:sp>
        <p:nvSpPr>
          <p:cNvPr id="4" name="Rectangle 3"/>
          <p:cNvSpPr/>
          <p:nvPr/>
        </p:nvSpPr>
        <p:spPr>
          <a:xfrm>
            <a:off x="521207" y="1225296"/>
            <a:ext cx="2103120" cy="41148"/>
          </a:xfrm>
          <a:prstGeom prst="rect">
            <a:avLst/>
          </a:prstGeom>
          <a:solidFill>
            <a:srgbClr val="2F7D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ig_outc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1612" y="1417320"/>
            <a:ext cx="5279014" cy="2331720"/>
          </a:xfrm>
          <a:prstGeom prst="rect">
            <a:avLst/>
          </a:prstGeom>
        </p:spPr>
      </p:pic>
      <p:pic>
        <p:nvPicPr>
          <p:cNvPr id="6" name="Picture 5" descr="fig_pv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1612" y="3886200"/>
            <a:ext cx="5279014" cy="23317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1371600"/>
            <a:ext cx="548640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Bef>
                <a:spcPts val="400"/>
              </a:spcBef>
              <a:spcAft>
                <a:spcPts val="900"/>
              </a:spcAft>
            </a:pPr>
            <a:r>
              <a:rPr sz="1500" b="1" i="0">
                <a:solidFill>
                  <a:srgbClr val="2F7DC8"/>
                </a:solidFill>
                <a:latin typeface="Arial"/>
              </a:rPr>
              <a:t>Top — raw outcome</a:t>
            </a:r>
          </a:p>
          <a:p>
            <a:pPr>
              <a:spcAft>
                <a:spcPts val="800"/>
              </a:spcAft>
            </a:pPr>
            <a:r>
              <a:rPr sz="1350" b="1" i="0">
                <a:solidFill>
                  <a:srgbClr val="2F7DC8"/>
                </a:solidFill>
                <a:latin typeface="Arial"/>
              </a:rPr>
              <a:t>▪  </a:t>
            </a:r>
            <a:r>
              <a:rPr sz="1350" b="0" i="0">
                <a:solidFill>
                  <a:srgbClr val="333740"/>
                </a:solidFill>
                <a:latin typeface="Arial"/>
              </a:rPr>
              <a:t>Compatible ECs (blue) overlap the RCT controls (gray) but sit slightly higher, purely because the external mix carries more severe subjects (covariate shift, NOT incompatibility).</a:t>
            </a:r>
          </a:p>
          <a:p>
            <a:pPr>
              <a:spcAft>
                <a:spcPts val="800"/>
              </a:spcAft>
            </a:pPr>
            <a:r>
              <a:rPr sz="1350" b="1" i="0">
                <a:solidFill>
                  <a:srgbClr val="2F7DC8"/>
                </a:solidFill>
                <a:latin typeface="Arial"/>
              </a:rPr>
              <a:t>▪  </a:t>
            </a:r>
            <a:r>
              <a:rPr sz="1350" b="0" i="0">
                <a:solidFill>
                  <a:srgbClr val="333740"/>
                </a:solidFill>
                <a:latin typeface="Arial"/>
              </a:rPr>
              <a:t>Contaminated ECs (amber) sit far to the right. A raw-outcome threshold would confound shift with contamination.</a:t>
            </a:r>
          </a:p>
          <a:p>
            <a:pPr>
              <a:spcBef>
                <a:spcPts val="400"/>
              </a:spcBef>
              <a:spcAft>
                <a:spcPts val="900"/>
              </a:spcAft>
            </a:pPr>
            <a:r>
              <a:rPr sz="1500" b="1" i="0">
                <a:solidFill>
                  <a:srgbClr val="2F7DC8"/>
                </a:solidFill>
                <a:latin typeface="Arial"/>
              </a:rPr>
              <a:t>Bottom — weighted residual-rank p-values</a:t>
            </a:r>
          </a:p>
          <a:p>
            <a:pPr>
              <a:spcAft>
                <a:spcPts val="800"/>
              </a:spcAft>
            </a:pPr>
            <a:r>
              <a:rPr sz="1350" b="1" i="0">
                <a:solidFill>
                  <a:srgbClr val="2F7DC8"/>
                </a:solidFill>
                <a:latin typeface="Arial"/>
              </a:rPr>
              <a:t>▪  </a:t>
            </a:r>
            <a:r>
              <a:rPr sz="1350" b="0" i="0">
                <a:solidFill>
                  <a:srgbClr val="333740"/>
                </a:solidFill>
                <a:latin typeface="Arial"/>
              </a:rPr>
              <a:t>Contaminated ECs pile up near p = 0 and fall below γ — all screened out.</a:t>
            </a:r>
          </a:p>
          <a:p>
            <a:pPr>
              <a:spcAft>
                <a:spcPts val="800"/>
              </a:spcAft>
            </a:pPr>
            <a:r>
              <a:rPr sz="1350" b="1" i="0">
                <a:solidFill>
                  <a:srgbClr val="2F7DC8"/>
                </a:solidFill>
                <a:latin typeface="Arial"/>
              </a:rPr>
              <a:t>▪  </a:t>
            </a:r>
            <a:r>
              <a:rPr sz="1350" b="0" i="0">
                <a:solidFill>
                  <a:srgbClr val="333740"/>
                </a:solidFill>
                <a:latin typeface="Arial"/>
              </a:rPr>
              <a:t>Compatible ECs are roughly uniform on (0,1] and are kept; only about 6% fall below γ.</a:t>
            </a:r>
          </a:p>
          <a:p>
            <a:pPr>
              <a:spcAft>
                <a:spcPts val="800"/>
              </a:spcAft>
            </a:pPr>
            <a:r>
              <a:rPr sz="1350" b="1" i="0">
                <a:solidFill>
                  <a:srgbClr val="1F2A44"/>
                </a:solidFill>
                <a:latin typeface="Arial"/>
              </a:rPr>
              <a:t>The screen truncates the calibrated p-value scale at γ, not the raw outcome.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55664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6B7280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F7D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9326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200"/>
              </a:spcAft>
            </a:pPr>
            <a:r>
              <a:rPr sz="1250" b="1" i="0">
                <a:solidFill>
                  <a:srgbClr val="2F7DC8"/>
                </a:solidFill>
                <a:latin typeface="Arial"/>
              </a:rPr>
              <a:t>SIMULATION SETUP</a:t>
            </a:r>
          </a:p>
          <a:p>
            <a:r>
              <a:rPr sz="2700" b="1" i="0">
                <a:solidFill>
                  <a:srgbClr val="1F2A44"/>
                </a:solidFill>
                <a:latin typeface="Arial"/>
              </a:rPr>
              <a:t>When can the screen detect contamination?</a:t>
            </a:r>
          </a:p>
        </p:txBody>
      </p:sp>
      <p:sp>
        <p:nvSpPr>
          <p:cNvPr id="4" name="Rectangle 3"/>
          <p:cNvSpPr/>
          <p:nvPr/>
        </p:nvSpPr>
        <p:spPr>
          <a:xfrm>
            <a:off x="521207" y="1225296"/>
            <a:ext cx="2103120" cy="41148"/>
          </a:xfrm>
          <a:prstGeom prst="rect">
            <a:avLst/>
          </a:prstGeom>
          <a:solidFill>
            <a:srgbClr val="2F7D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17320"/>
            <a:ext cx="11155680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F7DC8"/>
                </a:solidFill>
                <a:latin typeface="Arial"/>
              </a:rPr>
              <a:t>▪  </a:t>
            </a:r>
            <a:r>
              <a:rPr sz="1500" b="0" i="0">
                <a:solidFill>
                  <a:srgbClr val="333740"/>
                </a:solidFill>
                <a:latin typeface="Arial"/>
              </a:rPr>
              <a:t>Detection is limited by the drift's signal-to-noise ratio Δ / σ: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6B7280"/>
                </a:solidFill>
                <a:latin typeface="Arial"/>
              </a:rPr>
              <a:t>–  </a:t>
            </a:r>
            <a:r>
              <a:rPr sz="1400" b="0" i="0">
                <a:solidFill>
                  <a:srgbClr val="333740"/>
                </a:solidFill>
                <a:latin typeface="Arial"/>
              </a:rPr>
              <a:t>Low Δ/σ — contamination is buried in the noise and leaks through ANY screen.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6B7280"/>
                </a:solidFill>
                <a:latin typeface="Arial"/>
              </a:rPr>
              <a:t>–  </a:t>
            </a:r>
            <a:r>
              <a:rPr sz="1400" b="0" i="0">
                <a:solidFill>
                  <a:srgbClr val="333740"/>
                </a:solidFill>
                <a:latin typeface="Arial"/>
              </a:rPr>
              <a:t>High Δ/σ — cleanly separable and reliably removed.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1F2A44"/>
                </a:solidFill>
                <a:latin typeface="Arial"/>
              </a:rPr>
              <a:t>So borrowing is safest precisely when incompatibility is either absent, or large enough to catch.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740"/>
                </a:solidFill>
                <a:latin typeface="Arial"/>
              </a:rPr>
              <a:t>This also bounds the gain: the screen can only remove what it can see.</a:t>
            </a:r>
          </a:p>
        </p:txBody>
      </p:sp>
      <p:pic>
        <p:nvPicPr>
          <p:cNvPr id="6" name="Picture 5" descr="fig_sn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50564" y="3566160"/>
            <a:ext cx="4660392" cy="2834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094415" y="6455664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6B7280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F7D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9326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200"/>
              </a:spcAft>
            </a:pPr>
            <a:r>
              <a:rPr sz="1250" b="1" i="0">
                <a:solidFill>
                  <a:srgbClr val="2F7DC8"/>
                </a:solidFill>
                <a:latin typeface="Arial"/>
              </a:rPr>
              <a:t>SIMULATION RESULTS</a:t>
            </a:r>
          </a:p>
          <a:p>
            <a:r>
              <a:rPr sz="2700" b="1" i="0">
                <a:solidFill>
                  <a:srgbClr val="1F2A44"/>
                </a:solidFill>
                <a:latin typeface="Arial"/>
              </a:rPr>
              <a:t>Result: beats RCT-only on all four criteria at once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521207" y="1225296"/>
            <a:ext cx="2103120" cy="41148"/>
          </a:xfrm>
          <a:prstGeom prst="rect">
            <a:avLst/>
          </a:prstGeom>
          <a:solidFill>
            <a:srgbClr val="2F7D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940674" y="1371600"/>
            <a:ext cx="8371610" cy="25146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ab_re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0402" y="1463040"/>
            <a:ext cx="8152154" cy="23317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023360"/>
            <a:ext cx="1124712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450" b="1" i="0">
                <a:solidFill>
                  <a:srgbClr val="1F2A44"/>
                </a:solidFill>
                <a:latin typeface="Arial"/>
              </a:rPr>
              <a:t>sym-ada (our default screen) is the only ATTAINABLE method that beats RCT-only on all four criteria simultaneously: unbiased (0.00), lower RMSE (0.18 vs 0.20), type-I no worse than RCT-only (0.06), higher power (0.73 vs 0.64).</a:t>
            </a:r>
          </a:p>
          <a:p>
            <a:pPr>
              <a:spcAft>
                <a:spcPts val="800"/>
              </a:spcAft>
            </a:pPr>
            <a:r>
              <a:rPr sz="1450" b="0" i="0">
                <a:solidFill>
                  <a:srgbClr val="333740"/>
                </a:solidFill>
                <a:latin typeface="Arial"/>
              </a:rPr>
              <a:t>It reaches most of the way to the UNATTAINABLE oracle (0.78 power, 0.17 RMSE) — which knows the true labels.</a:t>
            </a:r>
          </a:p>
          <a:p>
            <a:pPr>
              <a:spcAft>
                <a:spcPts val="800"/>
              </a:spcAft>
            </a:pPr>
            <a:r>
              <a:rPr sz="1450" b="0" i="0">
                <a:solidFill>
                  <a:srgbClr val="B02E2E"/>
                </a:solidFill>
                <a:latin typeface="Arial"/>
              </a:rPr>
              <a:t>Full borrowing is catastrophic: bias −0.42, type-I 0.42, coverage collapses.</a:t>
            </a:r>
          </a:p>
          <a:p>
            <a:pPr lvl="1">
              <a:spcAft>
                <a:spcPts val="600"/>
              </a:spcAft>
            </a:pPr>
            <a:r>
              <a:rPr sz="1350" b="0" i="0">
                <a:solidFill>
                  <a:srgbClr val="6B7280"/>
                </a:solidFill>
                <a:latin typeface="Arial"/>
              </a:rPr>
              <a:t>–  </a:t>
            </a:r>
            <a:r>
              <a:rPr sz="1350" b="0" i="0">
                <a:solidFill>
                  <a:srgbClr val="333740"/>
                </a:solidFill>
                <a:latin typeface="Arial"/>
              </a:rPr>
              <a:t>300 replicates, B = 500 full-pipeline bootstraps; read type-I relative to the RCT-only column (a shared bootstrap-CI floor).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55664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6B7280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F7D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9326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200"/>
              </a:spcAft>
            </a:pPr>
            <a:r>
              <a:rPr sz="1250" b="1" i="0">
                <a:solidFill>
                  <a:srgbClr val="2F7DC8"/>
                </a:solidFill>
                <a:latin typeface="Arial"/>
              </a:rPr>
              <a:t>SIMULATION RESULTS</a:t>
            </a:r>
          </a:p>
          <a:p>
            <a:r>
              <a:rPr sz="2700" b="1" i="0">
                <a:solidFill>
                  <a:srgbClr val="1F2A44"/>
                </a:solidFill>
                <a:latin typeface="Arial"/>
              </a:rPr>
              <a:t>Result: robust — and CV+ is the efficiency lever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21207" y="1225296"/>
            <a:ext cx="2103120" cy="41148"/>
          </a:xfrm>
          <a:prstGeom prst="rect">
            <a:avLst/>
          </a:prstGeom>
          <a:solidFill>
            <a:srgbClr val="2F7D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755240" y="1371600"/>
            <a:ext cx="8742478" cy="233172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ab_robu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4968" y="1463040"/>
            <a:ext cx="8523022" cy="21488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3840480"/>
            <a:ext cx="11247120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450" b="0" i="0">
                <a:solidFill>
                  <a:srgbClr val="333740"/>
                </a:solidFill>
                <a:latin typeface="Arial"/>
              </a:rPr>
              <a:t>Robust to model misspecification: even dropping the covariate from the working mean model barely moves bias or power — the shared model error is absorbed by the RCT-control calibration.</a:t>
            </a:r>
          </a:p>
          <a:p>
            <a:pPr>
              <a:spcAft>
                <a:spcPts val="800"/>
              </a:spcAft>
            </a:pPr>
            <a:r>
              <a:rPr sz="1450" b="0" i="0">
                <a:solidFill>
                  <a:srgbClr val="333740"/>
                </a:solidFill>
                <a:latin typeface="Arial"/>
              </a:rPr>
              <a:t>Weighting is a low-cost safeguard: a near no-op under the correct model; it earns its keep under misspecification and at low signal-to-noise.</a:t>
            </a:r>
          </a:p>
          <a:p>
            <a:pPr>
              <a:spcAft>
                <a:spcPts val="800"/>
              </a:spcAft>
            </a:pPr>
            <a:r>
              <a:rPr sz="1450" b="1" i="0">
                <a:solidFill>
                  <a:srgbClr val="1F2A44"/>
                </a:solidFill>
                <a:latin typeface="Arial"/>
              </a:rPr>
              <a:t>CV+ vs one-time split: +0.06 power (0.71 vs 0.65) at controlled type-I — simply by not wasting the scarce randomized controls.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55664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6B7280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61488"/>
            <a:ext cx="12191695" cy="45720"/>
          </a:xfrm>
          <a:prstGeom prst="rect">
            <a:avLst/>
          </a:prstGeom>
          <a:solidFill>
            <a:srgbClr val="2F7D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148840"/>
            <a:ext cx="10180015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1700" b="1" i="0">
                <a:solidFill>
                  <a:srgbClr val="2F7DC8"/>
                </a:solidFill>
                <a:latin typeface="Arial"/>
              </a:rPr>
              <a:t>PART IV</a:t>
            </a:r>
          </a:p>
          <a:p>
            <a:r>
              <a:rPr sz="4000" b="1" i="0">
                <a:solidFill>
                  <a:srgbClr val="FFFFFF"/>
                </a:solidFill>
                <a:latin typeface="Arial"/>
              </a:rPr>
              <a:t>Discussion</a:t>
            </a:r>
          </a:p>
          <a:p>
            <a:pPr>
              <a:spcBef>
                <a:spcPts val="800"/>
              </a:spcBef>
            </a:pPr>
            <a:r>
              <a:rPr sz="1600" b="0" i="1">
                <a:solidFill>
                  <a:srgbClr val="C9D4E4"/>
                </a:solidFill>
                <a:latin typeface="Arial"/>
              </a:rPr>
              <a:t>Scope, limits, and open problems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F7D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9326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200"/>
              </a:spcAft>
            </a:pPr>
            <a:r>
              <a:rPr sz="1250" b="1" i="0">
                <a:solidFill>
                  <a:srgbClr val="2F7DC8"/>
                </a:solidFill>
                <a:latin typeface="Arial"/>
              </a:rPr>
              <a:t>DISCUSSION</a:t>
            </a:r>
          </a:p>
          <a:p>
            <a:r>
              <a:rPr sz="2700" b="1" i="0">
                <a:solidFill>
                  <a:srgbClr val="1F2A44"/>
                </a:solidFill>
                <a:latin typeface="Arial"/>
              </a:rPr>
              <a:t>Scope, limits, and positioning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21207" y="1225296"/>
            <a:ext cx="2103120" cy="41148"/>
          </a:xfrm>
          <a:prstGeom prst="rect">
            <a:avLst/>
          </a:prstGeom>
          <a:solidFill>
            <a:srgbClr val="2F7D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17320"/>
            <a:ext cx="11247120" cy="4937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450" b="1" i="0">
                <a:solidFill>
                  <a:srgbClr val="1F2A44"/>
                </a:solidFill>
                <a:latin typeface="Arial"/>
              </a:rPr>
              <a:t>Insurance, not a free lunch: residual-rank screening turns naive full-borrow's catastrophic bias into VALID, ROBUST inference, with a modest but real efficiency gain when the randomized arm is underpowered.</a:t>
            </a:r>
          </a:p>
          <a:p>
            <a:pPr>
              <a:spcBef>
                <a:spcPts val="400"/>
              </a:spcBef>
              <a:spcAft>
                <a:spcPts val="900"/>
              </a:spcAft>
            </a:pPr>
            <a:r>
              <a:rPr sz="1600" b="1" i="0">
                <a:solidFill>
                  <a:srgbClr val="2F7DC8"/>
                </a:solidFill>
                <a:latin typeface="Arial"/>
              </a:rPr>
              <a:t>The upside is bounded</a:t>
            </a:r>
          </a:p>
          <a:p>
            <a:pPr>
              <a:spcAft>
                <a:spcPts val="800"/>
              </a:spcAft>
            </a:pPr>
            <a:r>
              <a:rPr sz="1450" b="1" i="0">
                <a:solidFill>
                  <a:srgbClr val="2F7DC8"/>
                </a:solidFill>
                <a:latin typeface="Arial"/>
              </a:rPr>
              <a:t>▪  </a:t>
            </a:r>
            <a:r>
              <a:rPr sz="1450" b="0" i="0">
                <a:solidFill>
                  <a:srgbClr val="333740"/>
                </a:solidFill>
                <a:latin typeface="Arial"/>
              </a:rPr>
              <a:t>An oracle-ceiling limits the gain to ≈ 15–25% RMSE: the treated arm is not borrowable, so the borrowable share of variance is  n(R,1) / (n(R,0)+n(R,1)).</a:t>
            </a:r>
          </a:p>
          <a:p>
            <a:pPr>
              <a:spcAft>
                <a:spcPts val="800"/>
              </a:spcAft>
            </a:pPr>
            <a:r>
              <a:rPr sz="1450" b="1" i="0">
                <a:solidFill>
                  <a:srgbClr val="2F7DC8"/>
                </a:solidFill>
                <a:latin typeface="Arial"/>
              </a:rPr>
              <a:t>▪  </a:t>
            </a:r>
            <a:r>
              <a:rPr sz="1450" b="0" i="0">
                <a:solidFill>
                  <a:srgbClr val="333740"/>
                </a:solidFill>
                <a:latin typeface="Arial"/>
              </a:rPr>
              <a:t>Borrowing helps most when randomized controls are scarce — but the screen also needs enough controls to calibrate; CV+ widens this window.</a:t>
            </a:r>
          </a:p>
          <a:p>
            <a:pPr>
              <a:spcBef>
                <a:spcPts val="400"/>
              </a:spcBef>
              <a:spcAft>
                <a:spcPts val="900"/>
              </a:spcAft>
            </a:pPr>
            <a:r>
              <a:rPr sz="1600" b="1" i="0">
                <a:solidFill>
                  <a:srgbClr val="2F7DC8"/>
                </a:solidFill>
                <a:latin typeface="Arial"/>
              </a:rPr>
              <a:t>Two things you must choose well</a:t>
            </a:r>
          </a:p>
          <a:p>
            <a:pPr>
              <a:spcAft>
                <a:spcPts val="800"/>
              </a:spcAft>
            </a:pPr>
            <a:r>
              <a:rPr sz="1450" b="1" i="0">
                <a:solidFill>
                  <a:srgbClr val="2F7DC8"/>
                </a:solidFill>
                <a:latin typeface="Arial"/>
              </a:rPr>
              <a:t>▪  </a:t>
            </a:r>
            <a:r>
              <a:rPr sz="1450" b="0" i="0">
                <a:solidFill>
                  <a:srgbClr val="333740"/>
                </a:solidFill>
                <a:latin typeface="Arial"/>
              </a:rPr>
              <a:t>The score must match the anticipated drift shape (a mismatched contrast is blind to the drift).</a:t>
            </a:r>
          </a:p>
          <a:p>
            <a:pPr>
              <a:spcAft>
                <a:spcPts val="800"/>
              </a:spcAft>
            </a:pPr>
            <a:r>
              <a:rPr sz="1450" b="1" i="0">
                <a:solidFill>
                  <a:srgbClr val="2F7DC8"/>
                </a:solidFill>
                <a:latin typeface="Arial"/>
              </a:rPr>
              <a:t>▪  </a:t>
            </a:r>
            <a:r>
              <a:rPr sz="1450" b="0" i="0">
                <a:solidFill>
                  <a:srgbClr val="333740"/>
                </a:solidFill>
                <a:latin typeface="Arial"/>
              </a:rPr>
              <a:t>Detection is signal-to-noise-limited; residual undetected low-SNR drift is the main risk.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55664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6B7280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F7D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9326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200"/>
              </a:spcAft>
            </a:pPr>
            <a:r>
              <a:rPr sz="1250" b="1" i="0">
                <a:solidFill>
                  <a:srgbClr val="2F7DC8"/>
                </a:solidFill>
                <a:latin typeface="Arial"/>
              </a:rPr>
              <a:t>DISCUSSION</a:t>
            </a:r>
          </a:p>
          <a:p>
            <a:r>
              <a:rPr sz="2700" b="1" i="0">
                <a:solidFill>
                  <a:srgbClr val="1F2A44"/>
                </a:solidFill>
                <a:latin typeface="Arial"/>
              </a:rPr>
              <a:t>Two design questions the theory raises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21207" y="1225296"/>
            <a:ext cx="2103120" cy="41148"/>
          </a:xfrm>
          <a:prstGeom prst="rect">
            <a:avLst/>
          </a:prstGeom>
          <a:solidFill>
            <a:srgbClr val="2F7D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17320"/>
            <a:ext cx="11247120" cy="2651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Bef>
                <a:spcPts val="400"/>
              </a:spcBef>
              <a:spcAft>
                <a:spcPts val="900"/>
              </a:spcAft>
            </a:pPr>
            <a:r>
              <a:rPr sz="1600" b="1" i="0">
                <a:solidFill>
                  <a:srgbClr val="2F7DC8"/>
                </a:solidFill>
                <a:latin typeface="Arial"/>
              </a:rPr>
              <a:t>1) Which nonconformity score?</a:t>
            </a:r>
          </a:p>
          <a:p>
            <a:pPr>
              <a:spcAft>
                <a:spcPts val="800"/>
              </a:spcAft>
            </a:pPr>
            <a:r>
              <a:rPr sz="1450" b="1" i="0">
                <a:solidFill>
                  <a:srgbClr val="2F7DC8"/>
                </a:solidFill>
                <a:latin typeface="Arial"/>
              </a:rPr>
              <a:t>▪  </a:t>
            </a:r>
            <a:r>
              <a:rPr sz="1450" b="0" i="0">
                <a:solidFill>
                  <a:srgbClr val="333740"/>
                </a:solidFill>
                <a:latin typeface="Arial"/>
              </a:rPr>
              <a:t>Align the score to the anticipated drift: the estimand-contrast score for global / level shifts; the Mahalanobis (trajectory-shape) score for ramps, curvature, or transient dips; the max score for a single-visit spike.</a:t>
            </a:r>
          </a:p>
          <a:p>
            <a:pPr>
              <a:spcAft>
                <a:spcPts val="800"/>
              </a:spcAft>
            </a:pPr>
            <a:r>
              <a:rPr sz="1450" b="1" i="0">
                <a:solidFill>
                  <a:srgbClr val="2F7DC8"/>
                </a:solidFill>
                <a:latin typeface="Arial"/>
              </a:rPr>
              <a:t>▪  </a:t>
            </a:r>
            <a:r>
              <a:rPr sz="1450" b="0" i="0">
                <a:solidFill>
                  <a:srgbClr val="333740"/>
                </a:solidFill>
                <a:latin typeface="Arial"/>
              </a:rPr>
              <a:t>A score blind to the drift has no power — e.g. a visit-average contrast cannot see a shape change that averages out. Pick by the expected departure, and pre-specify it.</a:t>
            </a:r>
          </a:p>
          <a:p>
            <a:pPr>
              <a:spcAft>
                <a:spcPts val="800"/>
              </a:spcAft>
            </a:pPr>
            <a:r>
              <a:rPr sz="1450" b="1" i="0">
                <a:solidFill>
                  <a:srgbClr val="2F7DC8"/>
                </a:solidFill>
                <a:latin typeface="Arial"/>
              </a:rPr>
              <a:t>▪  </a:t>
            </a:r>
            <a:r>
              <a:rPr sz="1450" b="0" i="0">
                <a:solidFill>
                  <a:srgbClr val="333740"/>
                </a:solidFill>
                <a:latin typeface="Arial"/>
              </a:rPr>
              <a:t>Detection is not identification: a richer (VME-level) score catches more kinds of drift but can over-exclude compatible ECs; the estimand itself needs only ME-c.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114800"/>
            <a:ext cx="11247120" cy="2331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Bef>
                <a:spcPts val="400"/>
              </a:spcBef>
              <a:spcAft>
                <a:spcPts val="900"/>
              </a:spcAft>
            </a:pPr>
            <a:r>
              <a:rPr sz="1500" b="1" i="0">
                <a:solidFill>
                  <a:srgbClr val="2F7DC8"/>
                </a:solidFill>
                <a:latin typeface="Arial"/>
              </a:rPr>
              <a:t>2) The assumption hierarchy — what is actually sufficient</a:t>
            </a:r>
          </a:p>
          <a:p>
            <a:pPr>
              <a:spcAft>
                <a:spcPts val="800"/>
              </a:spcAft>
            </a:pPr>
            <a:r>
              <a:rPr sz="1350" b="1" i="0">
                <a:solidFill>
                  <a:srgbClr val="2F7DC8"/>
                </a:solidFill>
                <a:latin typeface="Arial"/>
              </a:rPr>
              <a:t>▪  </a:t>
            </a:r>
            <a:r>
              <a:rPr sz="1350" b="0" i="0">
                <a:solidFill>
                  <a:srgbClr val="333740"/>
                </a:solidFill>
                <a:latin typeface="Arial"/>
              </a:rPr>
              <a:t>Identifying the effect needs only ME-c (the one-contrast conditional mean); VME and DE are strictly stronger and are NOT required.</a:t>
            </a:r>
          </a:p>
          <a:p>
            <a:pPr>
              <a:spcAft>
                <a:spcPts val="800"/>
              </a:spcAft>
            </a:pPr>
            <a:r>
              <a:rPr sz="1350" b="1" i="0">
                <a:solidFill>
                  <a:srgbClr val="2F7DC8"/>
                </a:solidFill>
                <a:latin typeface="Arial"/>
              </a:rPr>
              <a:t>▪  </a:t>
            </a:r>
            <a:r>
              <a:rPr sz="1350" b="0" i="0">
                <a:solidFill>
                  <a:srgbClr val="333740"/>
                </a:solidFill>
                <a:latin typeface="Arial"/>
              </a:rPr>
              <a:t>Ordinary conformal validity nominally needs the full law DE; our screen relaxes this — it checks only the SCORE distribution (between ME-c and VME), a SUFFICIENT screen without assuming DE.</a:t>
            </a:r>
          </a:p>
          <a:p>
            <a:pPr>
              <a:spcAft>
                <a:spcPts val="800"/>
              </a:spcAft>
            </a:pPr>
            <a:r>
              <a:rPr sz="1350" b="1" i="0">
                <a:solidFill>
                  <a:srgbClr val="1F2A44"/>
                </a:solidFill>
                <a:latin typeface="Arial"/>
              </a:rPr>
              <a:t>The crux is the gap between what identification NEEDS (ME-c), what the screen CHECKS (the score law), and what the chosen score is SENSITIVE to — pick the score so “score-compatible” implies “ME-c-compatible.”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55664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6B7280"/>
                </a:solidFill>
                <a:latin typeface="Arial"/>
              </a:rPr>
              <a:t>25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F7D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9326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200"/>
              </a:spcAft>
            </a:pPr>
            <a:r>
              <a:rPr sz="1250" b="1" i="0">
                <a:solidFill>
                  <a:srgbClr val="2F7DC8"/>
                </a:solidFill>
                <a:latin typeface="Arial"/>
              </a:rPr>
              <a:t>DISCUSSION &amp; PROBLEMS</a:t>
            </a:r>
          </a:p>
          <a:p>
            <a:r>
              <a:rPr sz="2700" b="1" i="0">
                <a:solidFill>
                  <a:srgbClr val="1F2A44"/>
                </a:solidFill>
                <a:latin typeface="Arial"/>
              </a:rPr>
              <a:t>Open problems</a:t>
            </a:r>
          </a:p>
        </p:txBody>
      </p:sp>
      <p:sp>
        <p:nvSpPr>
          <p:cNvPr id="4" name="Rectangle 3"/>
          <p:cNvSpPr/>
          <p:nvPr/>
        </p:nvSpPr>
        <p:spPr>
          <a:xfrm>
            <a:off x="521207" y="1225296"/>
            <a:ext cx="2103120" cy="41148"/>
          </a:xfrm>
          <a:prstGeom prst="rect">
            <a:avLst/>
          </a:prstGeom>
          <a:solidFill>
            <a:srgbClr val="2F7D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17320"/>
            <a:ext cx="11247120" cy="4937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F7DC8"/>
                </a:solidFill>
                <a:latin typeface="Arial"/>
              </a:rPr>
              <a:t>▪  </a:t>
            </a:r>
            <a:r>
              <a:rPr sz="1500" b="0" i="0">
                <a:solidFill>
                  <a:srgbClr val="333740"/>
                </a:solidFill>
                <a:latin typeface="Arial"/>
              </a:rPr>
              <a:t>Soft / continuous borrowing: down-weight rather than hard keep/drop, to remove the selection bias scalably (the current screen trades a little bias for robustness).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F7DC8"/>
                </a:solidFill>
                <a:latin typeface="Arial"/>
              </a:rPr>
              <a:t>▪  </a:t>
            </a:r>
            <a:r>
              <a:rPr sz="1500" b="0" i="0">
                <a:solidFill>
                  <a:srgbClr val="333740"/>
                </a:solidFill>
                <a:latin typeface="Arial"/>
              </a:rPr>
              <a:t>Nested bootstrap for the adaptive-γ confidence interval: the current re-use of the point-selected γ inside the bootstrap is mildly anti-conservative.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F7DC8"/>
                </a:solidFill>
                <a:latin typeface="Arial"/>
              </a:rPr>
              <a:t>▪  </a:t>
            </a:r>
            <a:r>
              <a:rPr sz="1500" b="0" i="0">
                <a:solidFill>
                  <a:srgbClr val="333740"/>
                </a:solidFill>
                <a:latin typeface="Arial"/>
              </a:rPr>
              <a:t>Type-I is reported RELATIVE to RCT-only — both share a percentile-bootstrap floor set by the number of resamples B; larger B pulls the absolute value to nominal.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F7DC8"/>
                </a:solidFill>
                <a:latin typeface="Arial"/>
              </a:rPr>
              <a:t>▪  </a:t>
            </a:r>
            <a:r>
              <a:rPr sz="1500" b="0" i="0">
                <a:solidFill>
                  <a:srgbClr val="333740"/>
                </a:solidFill>
                <a:latin typeface="Arial"/>
              </a:rPr>
              <a:t>Multiplicity / FDR across many external controls (family-wise exclusion of at least one compatible EC is common).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F7DC8"/>
                </a:solidFill>
                <a:latin typeface="Arial"/>
              </a:rPr>
              <a:t>▪  </a:t>
            </a:r>
            <a:r>
              <a:rPr sz="1500" b="0" i="0">
                <a:solidFill>
                  <a:srgbClr val="333740"/>
                </a:solidFill>
                <a:latin typeface="Arial"/>
              </a:rPr>
              <a:t>Validation on a covariate-driven (plasmode) design, beyond the analytic binary toy, to show the conclusions are not an artifact of the toy.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55664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6B7280"/>
                </a:solidFill>
                <a:latin typeface="Arial"/>
              </a:rPr>
              <a:t>26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F7D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9326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200"/>
              </a:spcAft>
            </a:pPr>
            <a:r>
              <a:rPr sz="1250" b="1" i="0">
                <a:solidFill>
                  <a:srgbClr val="2F7DC8"/>
                </a:solidFill>
                <a:latin typeface="Arial"/>
              </a:rPr>
              <a:t>TAKEAWAYS</a:t>
            </a:r>
          </a:p>
          <a:p>
            <a:r>
              <a:rPr sz="2700" b="1" i="0">
                <a:solidFill>
                  <a:srgbClr val="1F2A44"/>
                </a:solidFill>
                <a:latin typeface="Arial"/>
              </a:rPr>
              <a:t>Summary</a:t>
            </a:r>
          </a:p>
        </p:txBody>
      </p:sp>
      <p:sp>
        <p:nvSpPr>
          <p:cNvPr id="4" name="Rectangle 3"/>
          <p:cNvSpPr/>
          <p:nvPr/>
        </p:nvSpPr>
        <p:spPr>
          <a:xfrm>
            <a:off x="521207" y="1225296"/>
            <a:ext cx="2103120" cy="41148"/>
          </a:xfrm>
          <a:prstGeom prst="rect">
            <a:avLst/>
          </a:prstGeom>
          <a:solidFill>
            <a:srgbClr val="2F7D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371600"/>
            <a:ext cx="1124712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Bef>
                <a:spcPts val="400"/>
              </a:spcBef>
              <a:spcAft>
                <a:spcPts val="900"/>
              </a:spcAft>
            </a:pPr>
            <a:r>
              <a:rPr sz="1600" b="1" i="0">
                <a:solidFill>
                  <a:srgbClr val="2F7DC8"/>
                </a:solidFill>
                <a:latin typeface="Arial"/>
              </a:rPr>
              <a:t>Problem</a:t>
            </a:r>
          </a:p>
          <a:p>
            <a:pPr>
              <a:spcAft>
                <a:spcPts val="800"/>
              </a:spcAft>
            </a:pPr>
            <a:r>
              <a:rPr sz="1450" b="1" i="0">
                <a:solidFill>
                  <a:srgbClr val="2F7DC8"/>
                </a:solidFill>
                <a:latin typeface="Arial"/>
              </a:rPr>
              <a:t>▪  </a:t>
            </a:r>
            <a:r>
              <a:rPr sz="1450" b="0" i="0">
                <a:solidFill>
                  <a:srgbClr val="333740"/>
                </a:solidFill>
                <a:latin typeface="Arial"/>
              </a:rPr>
              <a:t>Borrow external controls to sharpen a hybrid trial — without importing bias from incompatible ones.</a:t>
            </a:r>
          </a:p>
          <a:p>
            <a:pPr>
              <a:spcBef>
                <a:spcPts val="400"/>
              </a:spcBef>
              <a:spcAft>
                <a:spcPts val="900"/>
              </a:spcAft>
            </a:pPr>
            <a:r>
              <a:rPr sz="1600" b="1" i="0">
                <a:solidFill>
                  <a:srgbClr val="2F7DC8"/>
                </a:solidFill>
                <a:latin typeface="Arial"/>
              </a:rPr>
              <a:t>Idea</a:t>
            </a:r>
          </a:p>
          <a:p>
            <a:pPr>
              <a:spcAft>
                <a:spcPts val="800"/>
              </a:spcAft>
            </a:pPr>
            <a:r>
              <a:rPr sz="1450" b="1" i="0">
                <a:solidFill>
                  <a:srgbClr val="2F7DC8"/>
                </a:solidFill>
                <a:latin typeface="Arial"/>
              </a:rPr>
              <a:t>▪  </a:t>
            </a:r>
            <a:r>
              <a:rPr sz="1450" b="0" i="0">
                <a:solidFill>
                  <a:srgbClr val="333740"/>
                </a:solidFill>
                <a:latin typeface="Arial"/>
              </a:rPr>
              <a:t>Rank each EC's longitudinal residual score among the randomized controls — weighted to absorb covariate shift — and borrow only the conforming ones through a transported AIPW.</a:t>
            </a:r>
          </a:p>
          <a:p>
            <a:pPr>
              <a:spcBef>
                <a:spcPts val="400"/>
              </a:spcBef>
              <a:spcAft>
                <a:spcPts val="900"/>
              </a:spcAft>
            </a:pPr>
            <a:r>
              <a:rPr sz="1600" b="1" i="0">
                <a:solidFill>
                  <a:srgbClr val="2F7DC8"/>
                </a:solidFill>
                <a:latin typeface="Arial"/>
              </a:rPr>
              <a:t>Three design choices that make it work</a:t>
            </a:r>
          </a:p>
          <a:p>
            <a:pPr lvl="1">
              <a:spcAft>
                <a:spcPts val="600"/>
              </a:spcAft>
            </a:pPr>
            <a:r>
              <a:rPr sz="1350" b="0" i="0">
                <a:solidFill>
                  <a:srgbClr val="6B7280"/>
                </a:solidFill>
                <a:latin typeface="Arial"/>
              </a:rPr>
              <a:t>–  </a:t>
            </a:r>
            <a:r>
              <a:rPr sz="1350" b="0" i="0">
                <a:solidFill>
                  <a:srgbClr val="333740"/>
                </a:solidFill>
                <a:latin typeface="Arial"/>
              </a:rPr>
              <a:t>Symmetric trimming → the borrowed control mean stays unbiased.</a:t>
            </a:r>
          </a:p>
          <a:p>
            <a:pPr lvl="1">
              <a:spcAft>
                <a:spcPts val="600"/>
              </a:spcAft>
            </a:pPr>
            <a:r>
              <a:rPr sz="1350" b="0" i="0">
                <a:solidFill>
                  <a:srgbClr val="6B7280"/>
                </a:solidFill>
                <a:latin typeface="Arial"/>
              </a:rPr>
              <a:t>–  </a:t>
            </a:r>
            <a:r>
              <a:rPr sz="1350" b="0" i="0">
                <a:solidFill>
                  <a:srgbClr val="333740"/>
                </a:solidFill>
                <a:latin typeface="Arial"/>
              </a:rPr>
              <a:t>CV+ rank calibration → does not waste the scarce randomized controls (the efficiency lever).</a:t>
            </a:r>
          </a:p>
          <a:p>
            <a:pPr lvl="1">
              <a:spcAft>
                <a:spcPts val="600"/>
              </a:spcAft>
            </a:pPr>
            <a:r>
              <a:rPr sz="1350" b="0" i="0">
                <a:solidFill>
                  <a:srgbClr val="6B7280"/>
                </a:solidFill>
                <a:latin typeface="Arial"/>
              </a:rPr>
              <a:t>–  </a:t>
            </a:r>
            <a:r>
              <a:rPr sz="1350" b="0" i="0">
                <a:solidFill>
                  <a:srgbClr val="333740"/>
                </a:solidFill>
                <a:latin typeface="Arial"/>
              </a:rPr>
              <a:t>Estimand-matched score → detects the drift that actually matters.</a:t>
            </a:r>
          </a:p>
          <a:p>
            <a:pPr>
              <a:spcBef>
                <a:spcPts val="400"/>
              </a:spcBef>
              <a:spcAft>
                <a:spcPts val="900"/>
              </a:spcAft>
            </a:pPr>
            <a:r>
              <a:rPr sz="1600" b="1" i="0">
                <a:solidFill>
                  <a:srgbClr val="2F7DC8"/>
                </a:solidFill>
                <a:latin typeface="Arial"/>
              </a:rPr>
              <a:t>Why rank, not a raw residual</a:t>
            </a:r>
          </a:p>
          <a:p>
            <a:pPr>
              <a:spcAft>
                <a:spcPts val="800"/>
              </a:spcAft>
            </a:pPr>
            <a:r>
              <a:rPr sz="1450" b="1" i="0">
                <a:solidFill>
                  <a:srgbClr val="1F2A44"/>
                </a:solidFill>
                <a:latin typeface="Arial"/>
              </a:rPr>
              <a:t>Rank calibration is distribution-free and robust to model misspecification — the core reason. Result: safe, valid, robust borrowing that beats RCT-only and approaches the oracle.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55664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6B7280"/>
                </a:solidFill>
                <a:latin typeface="Arial"/>
              </a:rPr>
              <a:t>27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